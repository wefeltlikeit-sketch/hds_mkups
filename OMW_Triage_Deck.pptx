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FCS</c:v>
                </c:pt>
              </c:strCache>
            </c:strRef>
          </c:tx>
          <c:spPr>
            <a:solidFill>
              <a:srgbClr val="4DD2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Margaret</c:v>
                  </c:pt>
                  <c:pt idx="1">
                    <c:v>Dorothy</c:v>
                  </c:pt>
                  <c:pt idx="2">
                    <c:v>Helen</c:v>
                  </c:pt>
                  <c:pt idx="3">
                    <c:v>Ruth</c:v>
                  </c:pt>
                </c:lvl>
              </c:multiLvlStrCache>
            </c:multiLvlStrRef>
          </c:cat>
          <c:val>
            <c:numRef>
              <c:f>Sheet1!$B$2:$B$5</c:f>
              <c:numCache>
                <c:formatCode>General</c:formatCode>
                <c:ptCount val="4"/>
                <c:pt idx="0">
                  <c:v>92</c:v>
                </c:pt>
                <c:pt idx="1">
                  <c:v>68</c:v>
                </c:pt>
                <c:pt idx="2">
                  <c:v>74</c:v>
                </c:pt>
                <c:pt idx="3">
                  <c:v>88</c:v>
                </c:pt>
              </c:numCache>
            </c:numRef>
          </c:val>
        </c:ser>
        <c:ser>
          <c:idx val="1"/>
          <c:order val="1"/>
          <c:tx>
            <c:strRef>
              <c:f>Sheet1!$C$1</c:f>
              <c:strCache>
                <c:ptCount val="1"/>
                <c:pt idx="0">
                  <c:v>EDRS</c:v>
                </c:pt>
              </c:strCache>
            </c:strRef>
          </c:tx>
          <c:spPr>
            <a:solidFill>
              <a:srgbClr val="FF8A6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Margaret</c:v>
                  </c:pt>
                  <c:pt idx="1">
                    <c:v>Dorothy</c:v>
                  </c:pt>
                  <c:pt idx="2">
                    <c:v>Helen</c:v>
                  </c:pt>
                  <c:pt idx="3">
                    <c:v>Ruth</c:v>
                  </c:pt>
                </c:lvl>
              </c:multiLvlStrCache>
            </c:multiLvlStrRef>
          </c:cat>
          <c:val>
            <c:numRef>
              <c:f>Sheet1!$C$2:$C$5</c:f>
              <c:numCache>
                <c:formatCode>General</c:formatCode>
                <c:ptCount val="4"/>
                <c:pt idx="0">
                  <c:v>18</c:v>
                </c:pt>
                <c:pt idx="1">
                  <c:v>24</c:v>
                </c:pt>
                <c:pt idx="2">
                  <c:v>62</c:v>
                </c:pt>
                <c:pt idx="3">
                  <c:v>91</c:v>
                </c:pt>
              </c:numCache>
            </c:numRef>
          </c:val>
        </c:ser>
        <c:ser>
          <c:idx val="2"/>
          <c:order val="2"/>
          <c:tx>
            <c:strRef>
              <c:f>Sheet1!$D$1</c:f>
              <c:strCache>
                <c:ptCount val="1"/>
                <c:pt idx="0">
                  <c:v>NCRS</c:v>
                </c:pt>
              </c:strCache>
            </c:strRef>
          </c:tx>
          <c:spPr>
            <a:solidFill>
              <a:srgbClr val="C4B5F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Margaret</c:v>
                  </c:pt>
                  <c:pt idx="1">
                    <c:v>Dorothy</c:v>
                  </c:pt>
                  <c:pt idx="2">
                    <c:v>Helen</c:v>
                  </c:pt>
                  <c:pt idx="3">
                    <c:v>Ruth</c:v>
                  </c:pt>
                </c:lvl>
              </c:multiLvlStrCache>
            </c:multiLvlStrRef>
          </c:cat>
          <c:val>
            <c:numRef>
              <c:f>Sheet1!$D$2:$D$5</c:f>
              <c:numCache>
                <c:formatCode>General</c:formatCode>
                <c:ptCount val="4"/>
                <c:pt idx="0">
                  <c:v>24</c:v>
                </c:pt>
                <c:pt idx="1">
                  <c:v>72</c:v>
                </c:pt>
                <c:pt idx="2">
                  <c:v>48</c:v>
                </c:pt>
                <c:pt idx="3">
                  <c:v>82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8B9AB3"/>
                </a:solidFill>
                <a:latin typeface="Calibri"/>
              </a:defRPr>
            </a:pPr>
            <a:endParaRPr lang="en-US"/>
          </a:p>
        </c:txPr>
        <c:crossAx val="2094734552"/>
        <c:crosses val="autoZero"/>
        <c:auto val="1"/>
        <c:lblAlgn val="ctr"/>
        <c:noMultiLvlLbl val="1"/>
      </c:catAx>
      <c:valAx>
        <c:axId val="2094734552"/>
        <c:scaling>
          <c:orientation val="minMax"/>
          <c:max val="100"/>
        </c:scaling>
        <c:delete val="0"/>
        <c:axPos val="l"/>
        <c:majorGridlines>
          <c:spPr>
            <a:ln w="6350" cap="flat">
              <a:solidFill>
                <a:srgbClr val="2D3A54"/>
              </a:solidFill>
              <a:prstDash val="dash"/>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AE5"/>
                </a:solidFill>
                <a:latin typeface="Consolas"/>
              </a:defRPr>
            </a:pPr>
            <a:endParaRPr lang="en-US"/>
          </a:p>
        </c:txPr>
        <c:crossAx val="2094734554"/>
        <c:crosses val="autoZero"/>
        <c:crossBetween val="between"/>
      </c:valAx>
      <c:spPr>
        <a:solidFill>
          <a:srgbClr val="0A0E1A"/>
        </a:solidFill>
        <a:ln>
          <a:noFill/>
        </a:ln>
        <a:effectLst/>
      </c:spPr>
    </c:plotArea>
    <c:legend>
      <c:legendPos val="t"/>
      <c:overlay val="0"/>
      <c:txPr>
        <a:bodyPr/>
        <a:lstStyle/>
        <a:p>
          <a:pPr>
            <a:defRPr sz="1000">
              <a:solidFill>
                <a:srgbClr val="E8ECF5"/>
              </a:solidFill>
              <a:latin typeface="Consolas"/>
              <a:cs typeface="Consolas"/>
            </a:defRPr>
          </a:pPr>
          <a:endParaRPr lang="en-US"/>
        </a:p>
      </c:txPr>
    </c:legend>
    <c:plotVisOnly val="1"/>
    <c:dispBlanksAs val="span"/>
  </c:chart>
  <c:spPr>
    <a:solidFill>
      <a:srgbClr val="0A0E1A"/>
    </a:solidFill>
    <a:ln w="12700" cap="flat">
      <a:solidFill>
        <a:srgbClr val="0A0E1A"/>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22D3A5">
              <a:alpha val="6000"/>
            </a:srgbClr>
          </a:solidFill>
          <a:ln/>
        </p:spPr>
      </p:sp>
      <p:sp>
        <p:nvSpPr>
          <p:cNvPr id="3" name="Shape 1"/>
          <p:cNvSpPr/>
          <p:nvPr/>
        </p:nvSpPr>
        <p:spPr>
          <a:xfrm>
            <a:off x="7315200" y="2743200"/>
            <a:ext cx="7315200" cy="7315200"/>
          </a:xfrm>
          <a:prstGeom prst="ellipse">
            <a:avLst/>
          </a:prstGeom>
          <a:solidFill>
            <a:srgbClr val="A58EF7">
              <a:alpha val="5000"/>
            </a:srgbClr>
          </a:solidFill>
          <a:ln/>
        </p:spPr>
      </p:sp>
      <p:sp>
        <p:nvSpPr>
          <p:cNvPr id="4" name="Text 2"/>
          <p:cNvSpPr/>
          <p:nvPr/>
        </p:nvSpPr>
        <p:spPr>
          <a:xfrm>
            <a:off x="640080" y="914400"/>
            <a:ext cx="9144000" cy="274320"/>
          </a:xfrm>
          <a:prstGeom prst="rect">
            <a:avLst/>
          </a:prstGeom>
          <a:noFill/>
          <a:ln/>
        </p:spPr>
        <p:txBody>
          <a:bodyPr wrap="square" lIns="0" tIns="0" rIns="0" bIns="0" rtlCol="0" anchor="ctr"/>
          <a:lstStyle/>
          <a:p>
            <a:pPr indent="0" marL="0">
              <a:buNone/>
            </a:pPr>
            <a:r>
              <a:rPr lang="en-US" sz="1100" b="1" spc="600" kern="0" dirty="0">
                <a:solidFill>
                  <a:srgbClr val="22D3A5"/>
                </a:solidFill>
                <a:latin typeface="Consolas" pitchFamily="34" charset="0"/>
                <a:ea typeface="Consolas" pitchFamily="34" charset="-122"/>
                <a:cs typeface="Consolas" pitchFamily="34" charset="-120"/>
              </a:rPr>
              <a:t>PREDICTIVE TRIAGE FRAMEWORK  ·  HEDIS MY2026</a:t>
            </a:r>
            <a:endParaRPr lang="en-US" sz="1100" dirty="0"/>
          </a:p>
        </p:txBody>
      </p:sp>
      <p:sp>
        <p:nvSpPr>
          <p:cNvPr id="5" name="Shape 3"/>
          <p:cNvSpPr/>
          <p:nvPr/>
        </p:nvSpPr>
        <p:spPr>
          <a:xfrm>
            <a:off x="640080" y="1261872"/>
            <a:ext cx="457200" cy="0"/>
          </a:xfrm>
          <a:prstGeom prst="line">
            <a:avLst/>
          </a:prstGeom>
          <a:noFill/>
          <a:ln w="19050">
            <a:solidFill>
              <a:srgbClr val="22D3A5"/>
            </a:solidFill>
            <a:prstDash val="solid"/>
          </a:ln>
        </p:spPr>
      </p:sp>
      <p:sp>
        <p:nvSpPr>
          <p:cNvPr id="6" name="Text 4"/>
          <p:cNvSpPr/>
          <p:nvPr/>
        </p:nvSpPr>
        <p:spPr>
          <a:xfrm>
            <a:off x="640080" y="1645920"/>
            <a:ext cx="10972800" cy="2743200"/>
          </a:xfrm>
          <a:prstGeom prst="rect">
            <a:avLst/>
          </a:prstGeom>
          <a:noFill/>
          <a:ln/>
        </p:spPr>
        <p:txBody>
          <a:bodyPr wrap="square" lIns="0" tIns="0" rIns="0" bIns="0" rtlCol="0" anchor="t"/>
          <a:lstStyle/>
          <a:p>
            <a:pPr indent="0" marL="0">
              <a:buNone/>
            </a:pPr>
            <a:r>
              <a:rPr lang="en-US" sz="7200" dirty="0">
                <a:solidFill>
                  <a:srgbClr val="E8ECF5"/>
                </a:solidFill>
                <a:latin typeface="Georgia" pitchFamily="34" charset="0"/>
                <a:ea typeface="Georgia" pitchFamily="34" charset="-122"/>
                <a:cs typeface="Georgia" pitchFamily="34" charset="-120"/>
              </a:rPr>
              <a:t>Catch the fracture.</a:t>
            </a:r>
            <a:endParaRPr lang="en-US" sz="7200" dirty="0"/>
          </a:p>
          <a:p>
            <a:pPr indent="0" marL="0">
              <a:buNone/>
            </a:pPr>
            <a:r>
              <a:rPr lang="en-US" sz="7200" dirty="0">
                <a:solidFill>
                  <a:srgbClr val="E8ECF5"/>
                </a:solidFill>
                <a:latin typeface="Georgia" pitchFamily="34" charset="0"/>
                <a:ea typeface="Georgia" pitchFamily="34" charset="-122"/>
                <a:cs typeface="Georgia" pitchFamily="34" charset="-120"/>
              </a:rPr>
              <a:t>Predict the </a:t>
            </a:r>
            <a:pPr indent="0" marL="0">
              <a:buNone/>
            </a:pPr>
            <a:r>
              <a:rPr lang="en-US" sz="7200" i="1" dirty="0">
                <a:solidFill>
                  <a:srgbClr val="22D3A5"/>
                </a:solidFill>
                <a:latin typeface="Georgia" pitchFamily="34" charset="0"/>
                <a:ea typeface="Georgia" pitchFamily="34" charset="-122"/>
                <a:cs typeface="Georgia" pitchFamily="34" charset="-120"/>
              </a:rPr>
              <a:t>wash-out.</a:t>
            </a:r>
            <a:endParaRPr lang="en-US" sz="7200" dirty="0"/>
          </a:p>
        </p:txBody>
      </p:sp>
      <p:sp>
        <p:nvSpPr>
          <p:cNvPr id="7" name="Text 5"/>
          <p:cNvSpPr/>
          <p:nvPr/>
        </p:nvSpPr>
        <p:spPr>
          <a:xfrm>
            <a:off x="640080" y="4663440"/>
            <a:ext cx="7772400" cy="1371600"/>
          </a:xfrm>
          <a:prstGeom prst="rect">
            <a:avLst/>
          </a:prstGeom>
          <a:noFill/>
          <a:ln/>
        </p:spPr>
        <p:txBody>
          <a:bodyPr wrap="square" lIns="0" tIns="0" rIns="0" bIns="0" rtlCol="0" anchor="t"/>
          <a:lstStyle/>
          <a:p>
            <a:pPr indent="0" marL="0">
              <a:buNone/>
            </a:pPr>
            <a:r>
              <a:rPr lang="en-US" sz="1600" dirty="0">
                <a:solidFill>
                  <a:srgbClr val="8B9AB3"/>
                </a:solidFill>
                <a:latin typeface="Calibri" pitchFamily="34" charset="0"/>
                <a:ea typeface="Calibri" pitchFamily="34" charset="-122"/>
                <a:cs typeface="Calibri" pitchFamily="34" charset="-120"/>
              </a:rPr>
              <a:t>A three-front scoring model for operationalizing the HEDIS Osteoporosis Management in Women measure in real time — without drowning providers in alerts for members who will never count.</a:t>
            </a:r>
            <a:endParaRPr lang="en-US" sz="1600" dirty="0"/>
          </a:p>
        </p:txBody>
      </p:sp>
      <p:sp>
        <p:nvSpPr>
          <p:cNvPr id="8" name="Text 6"/>
          <p:cNvSpPr/>
          <p:nvPr/>
        </p:nvSpPr>
        <p:spPr>
          <a:xfrm>
            <a:off x="640080" y="6035040"/>
            <a:ext cx="2286000" cy="365760"/>
          </a:xfrm>
          <a:prstGeom prst="rect">
            <a:avLst/>
          </a:prstGeom>
          <a:noFill/>
          <a:ln/>
        </p:spPr>
        <p:txBody>
          <a:bodyPr wrap="square" lIns="0" tIns="0" rIns="0" bIns="0" rtlCol="0" anchor="ctr"/>
          <a:lstStyle/>
          <a:p>
            <a:pPr indent="0" marL="0">
              <a:buNone/>
            </a:pPr>
            <a:r>
              <a:rPr lang="en-US" sz="2000" dirty="0">
                <a:solidFill>
                  <a:srgbClr val="E8ECF5"/>
                </a:solidFill>
                <a:latin typeface="Georgia" pitchFamily="34" charset="0"/>
                <a:ea typeface="Georgia" pitchFamily="34" charset="-122"/>
                <a:cs typeface="Georgia" pitchFamily="34" charset="-120"/>
              </a:rPr>
              <a:t>03</a:t>
            </a:r>
            <a:endParaRPr lang="en-US" sz="2000" dirty="0"/>
          </a:p>
        </p:txBody>
      </p:sp>
      <p:sp>
        <p:nvSpPr>
          <p:cNvPr id="9" name="Text 7"/>
          <p:cNvSpPr/>
          <p:nvPr/>
        </p:nvSpPr>
        <p:spPr>
          <a:xfrm>
            <a:off x="640080" y="6419088"/>
            <a:ext cx="228600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INDEPENDENT SCORES</a:t>
            </a:r>
            <a:endParaRPr lang="en-US" sz="900" dirty="0"/>
          </a:p>
        </p:txBody>
      </p:sp>
      <p:sp>
        <p:nvSpPr>
          <p:cNvPr id="10" name="Text 8"/>
          <p:cNvSpPr/>
          <p:nvPr/>
        </p:nvSpPr>
        <p:spPr>
          <a:xfrm>
            <a:off x="3474720" y="6035040"/>
            <a:ext cx="2286000" cy="365760"/>
          </a:xfrm>
          <a:prstGeom prst="rect">
            <a:avLst/>
          </a:prstGeom>
          <a:noFill/>
          <a:ln/>
        </p:spPr>
        <p:txBody>
          <a:bodyPr wrap="square" lIns="0" tIns="0" rIns="0" bIns="0" rtlCol="0" anchor="ctr"/>
          <a:lstStyle/>
          <a:p>
            <a:pPr indent="0" marL="0">
              <a:buNone/>
            </a:pPr>
            <a:r>
              <a:rPr lang="en-US" sz="2000" dirty="0">
                <a:solidFill>
                  <a:srgbClr val="E8ECF5"/>
                </a:solidFill>
                <a:latin typeface="Georgia" pitchFamily="34" charset="0"/>
                <a:ea typeface="Georgia" pitchFamily="34" charset="-122"/>
                <a:cs typeface="Georgia" pitchFamily="34" charset="-120"/>
              </a:rPr>
              <a:t>04</a:t>
            </a:r>
            <a:endParaRPr lang="en-US" sz="2000" dirty="0"/>
          </a:p>
        </p:txBody>
      </p:sp>
      <p:sp>
        <p:nvSpPr>
          <p:cNvPr id="11" name="Text 9"/>
          <p:cNvSpPr/>
          <p:nvPr/>
        </p:nvSpPr>
        <p:spPr>
          <a:xfrm>
            <a:off x="3474720" y="6419088"/>
            <a:ext cx="228600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OUTREACH TIERS</a:t>
            </a:r>
            <a:endParaRPr lang="en-US" sz="900" dirty="0"/>
          </a:p>
        </p:txBody>
      </p:sp>
      <p:sp>
        <p:nvSpPr>
          <p:cNvPr id="12" name="Text 10"/>
          <p:cNvSpPr/>
          <p:nvPr/>
        </p:nvSpPr>
        <p:spPr>
          <a:xfrm>
            <a:off x="6309360" y="6035040"/>
            <a:ext cx="2286000" cy="365760"/>
          </a:xfrm>
          <a:prstGeom prst="rect">
            <a:avLst/>
          </a:prstGeom>
          <a:noFill/>
          <a:ln/>
        </p:spPr>
        <p:txBody>
          <a:bodyPr wrap="square" lIns="0" tIns="0" rIns="0" bIns="0" rtlCol="0" anchor="ctr"/>
          <a:lstStyle/>
          <a:p>
            <a:pPr indent="0" marL="0">
              <a:buNone/>
            </a:pPr>
            <a:r>
              <a:rPr lang="en-US" sz="2000" dirty="0">
                <a:solidFill>
                  <a:srgbClr val="E8ECF5"/>
                </a:solidFill>
                <a:latin typeface="Georgia" pitchFamily="34" charset="0"/>
                <a:ea typeface="Georgia" pitchFamily="34" charset="-122"/>
                <a:cs typeface="Georgia" pitchFamily="34" charset="-120"/>
              </a:rPr>
              <a:t>30–50%</a:t>
            </a:r>
            <a:endParaRPr lang="en-US" sz="2000" dirty="0"/>
          </a:p>
        </p:txBody>
      </p:sp>
      <p:sp>
        <p:nvSpPr>
          <p:cNvPr id="13" name="Text 11"/>
          <p:cNvSpPr/>
          <p:nvPr/>
        </p:nvSpPr>
        <p:spPr>
          <a:xfrm>
            <a:off x="6309360" y="6419088"/>
            <a:ext cx="228600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MESSAGE REDUCTION</a:t>
            </a:r>
            <a:endParaRPr lang="en-US" sz="900" dirty="0"/>
          </a:p>
        </p:txBody>
      </p:sp>
      <p:sp>
        <p:nvSpPr>
          <p:cNvPr id="14" name="Text 12"/>
          <p:cNvSpPr/>
          <p:nvPr/>
        </p:nvSpPr>
        <p:spPr>
          <a:xfrm>
            <a:off x="9144000" y="6035040"/>
            <a:ext cx="2286000" cy="365760"/>
          </a:xfrm>
          <a:prstGeom prst="rect">
            <a:avLst/>
          </a:prstGeom>
          <a:noFill/>
          <a:ln/>
        </p:spPr>
        <p:txBody>
          <a:bodyPr wrap="square" lIns="0" tIns="0" rIns="0" bIns="0" rtlCol="0" anchor="ctr"/>
          <a:lstStyle/>
          <a:p>
            <a:pPr indent="0" marL="0">
              <a:buNone/>
            </a:pPr>
            <a:r>
              <a:rPr lang="en-US" sz="2000" dirty="0">
                <a:solidFill>
                  <a:srgbClr val="E8ECF5"/>
                </a:solidFill>
                <a:latin typeface="Georgia" pitchFamily="34" charset="0"/>
                <a:ea typeface="Georgia" pitchFamily="34" charset="-122"/>
                <a:cs typeface="Georgia" pitchFamily="34" charset="-120"/>
              </a:rPr>
              <a:t>≤5%</a:t>
            </a:r>
            <a:endParaRPr lang="en-US" sz="2000" dirty="0"/>
          </a:p>
        </p:txBody>
      </p:sp>
      <p:sp>
        <p:nvSpPr>
          <p:cNvPr id="15" name="Text 13"/>
          <p:cNvSpPr/>
          <p:nvPr/>
        </p:nvSpPr>
        <p:spPr>
          <a:xfrm>
            <a:off x="9144000" y="6419088"/>
            <a:ext cx="228600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NUMERATOR LOSS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000" b="1" spc="400" kern="0" dirty="0">
                <a:solidFill>
                  <a:srgbClr val="22D3A5"/>
                </a:solidFill>
                <a:latin typeface="Consolas" pitchFamily="34" charset="0"/>
                <a:ea typeface="Consolas" pitchFamily="34" charset="-122"/>
                <a:cs typeface="Consolas" pitchFamily="34" charset="-120"/>
              </a:rPr>
              <a:t>01  ·  THE PROBLEM</a:t>
            </a:r>
            <a:endParaRPr lang="en-US" sz="1000" dirty="0"/>
          </a:p>
        </p:txBody>
      </p:sp>
      <p:sp>
        <p:nvSpPr>
          <p:cNvPr id="3" name="Shape 1"/>
          <p:cNvSpPr/>
          <p:nvPr/>
        </p:nvSpPr>
        <p:spPr>
          <a:xfrm>
            <a:off x="640080" y="822960"/>
            <a:ext cx="1828800" cy="0"/>
          </a:xfrm>
          <a:prstGeom prst="line">
            <a:avLst/>
          </a:prstGeom>
          <a:noFill/>
          <a:ln w="6350">
            <a:solidFill>
              <a:srgbClr val="2D3A54"/>
            </a:solidFill>
            <a:prstDash val="solid"/>
          </a:ln>
        </p:spPr>
      </p:sp>
      <p:sp>
        <p:nvSpPr>
          <p:cNvPr id="4" name="Text 2"/>
          <p:cNvSpPr/>
          <p:nvPr/>
        </p:nvSpPr>
        <p:spPr>
          <a:xfrm>
            <a:off x="640080" y="1097280"/>
            <a:ext cx="10972800" cy="2628900"/>
          </a:xfrm>
          <a:prstGeom prst="rect">
            <a:avLst/>
          </a:prstGeom>
          <a:noFill/>
          <a:ln/>
        </p:spPr>
        <p:txBody>
          <a:bodyPr wrap="square" lIns="0" tIns="0" rIns="0" bIns="0" rtlCol="0" anchor="t"/>
          <a:lstStyle/>
          <a:p>
            <a:pPr indent="0" marL="0">
              <a:buNone/>
            </a:pPr>
            <a:r>
              <a:rPr lang="en-US" sz="4600" dirty="0">
                <a:solidFill>
                  <a:srgbClr val="E8ECF5"/>
                </a:solidFill>
                <a:latin typeface="Georgia" pitchFamily="34" charset="0"/>
                <a:ea typeface="Georgia" pitchFamily="34" charset="-122"/>
                <a:cs typeface="Georgia" pitchFamily="34" charset="-120"/>
              </a:rPr>
              <a:t>HEDIS is retrospective.</a:t>
            </a:r>
            <a:endParaRPr lang="en-US" sz="4600" dirty="0"/>
          </a:p>
          <a:p>
            <a:pPr indent="0" marL="0">
              <a:buNone/>
            </a:pPr>
            <a:r>
              <a:rPr lang="en-US" sz="4600" dirty="0">
                <a:solidFill>
                  <a:srgbClr val="E8ECF5"/>
                </a:solidFill>
                <a:latin typeface="Georgia" pitchFamily="34" charset="0"/>
                <a:ea typeface="Georgia" pitchFamily="34" charset="-122"/>
                <a:cs typeface="Georgia" pitchFamily="34" charset="-120"/>
              </a:rPr>
              <a:t>Your job is </a:t>
            </a:r>
            <a:pPr indent="0" marL="0">
              <a:buNone/>
            </a:pPr>
            <a:r>
              <a:rPr lang="en-US" sz="4600" i="1" dirty="0">
                <a:solidFill>
                  <a:srgbClr val="22D3A5"/>
                </a:solidFill>
                <a:latin typeface="Georgia" pitchFamily="34" charset="0"/>
                <a:ea typeface="Georgia" pitchFamily="34" charset="-122"/>
                <a:cs typeface="Georgia" pitchFamily="34" charset="-120"/>
              </a:rPr>
              <a:t>real-time.</a:t>
            </a:r>
            <a:endParaRPr lang="en-US" sz="4600" dirty="0"/>
          </a:p>
        </p:txBody>
      </p:sp>
      <p:sp>
        <p:nvSpPr>
          <p:cNvPr id="5" name="Text 3"/>
          <p:cNvSpPr/>
          <p:nvPr/>
        </p:nvSpPr>
        <p:spPr>
          <a:xfrm>
            <a:off x="640080" y="3200400"/>
            <a:ext cx="5120640" cy="274320"/>
          </a:xfrm>
          <a:prstGeom prst="rect">
            <a:avLst/>
          </a:prstGeom>
          <a:noFill/>
          <a:ln/>
        </p:spPr>
        <p:txBody>
          <a:bodyPr wrap="square" lIns="0" tIns="0" rIns="0" bIns="0" rtlCol="0" anchor="ctr"/>
          <a:lstStyle/>
          <a:p>
            <a:pPr indent="0" marL="0">
              <a:buNone/>
            </a:pPr>
            <a:r>
              <a:rPr lang="en-US" sz="1000" b="1" spc="400" kern="0" dirty="0">
                <a:solidFill>
                  <a:srgbClr val="4DD2FF"/>
                </a:solidFill>
                <a:latin typeface="Consolas" pitchFamily="34" charset="0"/>
                <a:ea typeface="Consolas" pitchFamily="34" charset="-122"/>
                <a:cs typeface="Consolas" pitchFamily="34" charset="-120"/>
              </a:rPr>
              <a:t>WHAT HEDIS SEES</a:t>
            </a:r>
            <a:endParaRPr lang="en-US" sz="1000" dirty="0"/>
          </a:p>
        </p:txBody>
      </p:sp>
      <p:sp>
        <p:nvSpPr>
          <p:cNvPr id="6" name="Shape 4"/>
          <p:cNvSpPr/>
          <p:nvPr/>
        </p:nvSpPr>
        <p:spPr>
          <a:xfrm>
            <a:off x="640080" y="3520440"/>
            <a:ext cx="365760" cy="0"/>
          </a:xfrm>
          <a:prstGeom prst="line">
            <a:avLst/>
          </a:prstGeom>
          <a:noFill/>
          <a:ln w="19050">
            <a:solidFill>
              <a:srgbClr val="4DD2FF"/>
            </a:solidFill>
            <a:prstDash val="solid"/>
          </a:ln>
        </p:spPr>
      </p:sp>
      <p:sp>
        <p:nvSpPr>
          <p:cNvPr id="7" name="Text 5"/>
          <p:cNvSpPr/>
          <p:nvPr/>
        </p:nvSpPr>
        <p:spPr>
          <a:xfrm>
            <a:off x="640080" y="3703320"/>
            <a:ext cx="5120640" cy="2743200"/>
          </a:xfrm>
          <a:prstGeom prst="rect">
            <a:avLst/>
          </a:prstGeom>
          <a:noFill/>
          <a:ln/>
        </p:spPr>
        <p:txBody>
          <a:bodyPr wrap="square" lIns="0" tIns="0" rIns="0" bIns="0" rtlCol="0" anchor="t"/>
          <a:lstStyle/>
          <a:p>
            <a:pPr indent="0" marL="0">
              <a:buNone/>
            </a:pPr>
            <a:r>
              <a:rPr lang="en-US" sz="1400" dirty="0">
                <a:solidFill>
                  <a:srgbClr val="8B9AB3"/>
                </a:solidFill>
                <a:latin typeface="Calibri" pitchFamily="34" charset="0"/>
                <a:ea typeface="Calibri" pitchFamily="34" charset="-122"/>
                <a:cs typeface="Calibri" pitchFamily="34" charset="-120"/>
              </a:rPr>
              <a:t>Women 67–85 with a qualifying fracture during 7/1 prior year to 6/30 measurement year.</a:t>
            </a:r>
            <a:endParaRPr lang="en-US" sz="1400" dirty="0"/>
          </a:p>
          <a:p>
            <a:pPr indent="0" marL="0">
              <a:buNone/>
            </a:pPr>
            <a:r>
              <a:rPr lang="en-US" sz="600" dirty="0">
                <a:solidFill>
                  <a:srgbClr val="8B9AB3"/>
                </a:solidFill>
                <a:latin typeface="Calibri" pitchFamily="34" charset="0"/>
                <a:ea typeface="Calibri" pitchFamily="34" charset="-122"/>
                <a:cs typeface="Calibri" pitchFamily="34" charset="-120"/>
              </a:rPr>
              <a:t> </a:t>
            </a:r>
            <a:endParaRPr lang="en-US" sz="1400" dirty="0"/>
          </a:p>
          <a:p>
            <a:pPr indent="0" marL="0">
              <a:buNone/>
            </a:pPr>
            <a:r>
              <a:rPr lang="en-US" sz="1400" dirty="0">
                <a:solidFill>
                  <a:srgbClr val="8B9AB3"/>
                </a:solidFill>
                <a:latin typeface="Calibri" pitchFamily="34" charset="0"/>
                <a:ea typeface="Calibri" pitchFamily="34" charset="-122"/>
                <a:cs typeface="Calibri" pitchFamily="34" charset="-120"/>
              </a:rPr>
              <a:t>Six months continuous enrollment post-fracture. Exclusions evaluated across the full measurement year.</a:t>
            </a:r>
            <a:endParaRPr lang="en-US" sz="1400" dirty="0"/>
          </a:p>
          <a:p>
            <a:pPr indent="0" marL="0">
              <a:buNone/>
            </a:pPr>
            <a:r>
              <a:rPr lang="en-US" sz="600" dirty="0">
                <a:solidFill>
                  <a:srgbClr val="8B9AB3"/>
                </a:solidFill>
                <a:latin typeface="Calibri" pitchFamily="34" charset="0"/>
                <a:ea typeface="Calibri" pitchFamily="34" charset="-122"/>
                <a:cs typeface="Calibri" pitchFamily="34" charset="-120"/>
              </a:rPr>
              <a:t> </a:t>
            </a:r>
            <a:endParaRPr lang="en-US" sz="1400" dirty="0"/>
          </a:p>
          <a:p>
            <a:pPr indent="0" marL="0">
              <a:buNone/>
            </a:pPr>
            <a:r>
              <a:rPr lang="en-US" sz="1400" dirty="0">
                <a:solidFill>
                  <a:srgbClr val="8B9AB3"/>
                </a:solidFill>
                <a:latin typeface="Calibri" pitchFamily="34" charset="0"/>
                <a:ea typeface="Calibri" pitchFamily="34" charset="-122"/>
                <a:cs typeface="Calibri" pitchFamily="34" charset="-120"/>
              </a:rPr>
              <a:t>Numerator: BMD test or osteoporosis therapy within 180 days.</a:t>
            </a:r>
            <a:endParaRPr lang="en-US" sz="1400" dirty="0"/>
          </a:p>
        </p:txBody>
      </p:sp>
      <p:sp>
        <p:nvSpPr>
          <p:cNvPr id="8" name="Text 6"/>
          <p:cNvSpPr/>
          <p:nvPr/>
        </p:nvSpPr>
        <p:spPr>
          <a:xfrm>
            <a:off x="6400800" y="3200400"/>
            <a:ext cx="5120640" cy="274320"/>
          </a:xfrm>
          <a:prstGeom prst="rect">
            <a:avLst/>
          </a:prstGeom>
          <a:noFill/>
          <a:ln/>
        </p:spPr>
        <p:txBody>
          <a:bodyPr wrap="square" lIns="0" tIns="0" rIns="0" bIns="0" rtlCol="0" anchor="ctr"/>
          <a:lstStyle/>
          <a:p>
            <a:pPr indent="0" marL="0">
              <a:buNone/>
            </a:pPr>
            <a:r>
              <a:rPr lang="en-US" sz="1000" b="1" spc="400" kern="0" dirty="0">
                <a:solidFill>
                  <a:srgbClr val="FF8A65"/>
                </a:solidFill>
                <a:latin typeface="Consolas" pitchFamily="34" charset="0"/>
                <a:ea typeface="Consolas" pitchFamily="34" charset="-122"/>
                <a:cs typeface="Consolas" pitchFamily="34" charset="-120"/>
              </a:rPr>
              <a:t>WHAT YOU NEED TO DO</a:t>
            </a:r>
            <a:endParaRPr lang="en-US" sz="1000" dirty="0"/>
          </a:p>
        </p:txBody>
      </p:sp>
      <p:sp>
        <p:nvSpPr>
          <p:cNvPr id="9" name="Shape 7"/>
          <p:cNvSpPr/>
          <p:nvPr/>
        </p:nvSpPr>
        <p:spPr>
          <a:xfrm>
            <a:off x="6400800" y="3520440"/>
            <a:ext cx="365760" cy="0"/>
          </a:xfrm>
          <a:prstGeom prst="line">
            <a:avLst/>
          </a:prstGeom>
          <a:noFill/>
          <a:ln w="19050">
            <a:solidFill>
              <a:srgbClr val="FF8A65"/>
            </a:solidFill>
            <a:prstDash val="solid"/>
          </a:ln>
        </p:spPr>
      </p:sp>
      <p:sp>
        <p:nvSpPr>
          <p:cNvPr id="10" name="Text 8"/>
          <p:cNvSpPr/>
          <p:nvPr/>
        </p:nvSpPr>
        <p:spPr>
          <a:xfrm>
            <a:off x="6400800" y="3703320"/>
            <a:ext cx="5120640" cy="2743200"/>
          </a:xfrm>
          <a:prstGeom prst="rect">
            <a:avLst/>
          </a:prstGeom>
          <a:noFill/>
          <a:ln/>
        </p:spPr>
        <p:txBody>
          <a:bodyPr wrap="square" lIns="0" tIns="0" rIns="0" bIns="0" rtlCol="0" anchor="t"/>
          <a:lstStyle/>
          <a:p>
            <a:pPr indent="0" marL="0">
              <a:buNone/>
            </a:pPr>
            <a:r>
              <a:rPr lang="en-US" sz="1400" dirty="0">
                <a:solidFill>
                  <a:srgbClr val="8B9AB3"/>
                </a:solidFill>
                <a:latin typeface="Calibri" pitchFamily="34" charset="0"/>
                <a:ea typeface="Calibri" pitchFamily="34" charset="-122"/>
                <a:cs typeface="Calibri" pitchFamily="34" charset="-120"/>
              </a:rPr>
              <a:t>Catch the fracture the day it appears in ADT or authorization data.</a:t>
            </a:r>
            <a:endParaRPr lang="en-US" sz="1400" dirty="0"/>
          </a:p>
          <a:p>
            <a:pPr indent="0" marL="0">
              <a:buNone/>
            </a:pPr>
            <a:r>
              <a:rPr lang="en-US" sz="600" dirty="0">
                <a:solidFill>
                  <a:srgbClr val="8B9AB3"/>
                </a:solidFill>
                <a:latin typeface="Calibri" pitchFamily="34" charset="0"/>
                <a:ea typeface="Calibri" pitchFamily="34" charset="-122"/>
                <a:cs typeface="Calibri" pitchFamily="34" charset="-120"/>
              </a:rPr>
              <a:t> </a:t>
            </a:r>
            <a:endParaRPr lang="en-US" sz="1400" dirty="0"/>
          </a:p>
          <a:p>
            <a:pPr indent="0" marL="0">
              <a:buNone/>
            </a:pPr>
            <a:r>
              <a:rPr lang="en-US" sz="1400" dirty="0">
                <a:solidFill>
                  <a:srgbClr val="8B9AB3"/>
                </a:solidFill>
                <a:latin typeface="Calibri" pitchFamily="34" charset="0"/>
                <a:ea typeface="Calibri" pitchFamily="34" charset="-122"/>
                <a:cs typeface="Calibri" pitchFamily="34" charset="-120"/>
              </a:rPr>
              <a:t>Predict which members will exit the denominator — before you spend provider attention on them.</a:t>
            </a:r>
            <a:endParaRPr lang="en-US" sz="1400" dirty="0"/>
          </a:p>
          <a:p>
            <a:pPr indent="0" marL="0">
              <a:buNone/>
            </a:pPr>
            <a:r>
              <a:rPr lang="en-US" sz="600" dirty="0">
                <a:solidFill>
                  <a:srgbClr val="8B9AB3"/>
                </a:solidFill>
                <a:latin typeface="Calibri" pitchFamily="34" charset="0"/>
                <a:ea typeface="Calibri" pitchFamily="34" charset="-122"/>
                <a:cs typeface="Calibri" pitchFamily="34" charset="-120"/>
              </a:rPr>
              <a:t> </a:t>
            </a:r>
            <a:endParaRPr lang="en-US" sz="1400" dirty="0"/>
          </a:p>
          <a:p>
            <a:pPr indent="0" marL="0">
              <a:buNone/>
            </a:pPr>
            <a:r>
              <a:rPr lang="en-US" sz="1400" dirty="0">
                <a:solidFill>
                  <a:srgbClr val="8B9AB3"/>
                </a:solidFill>
                <a:latin typeface="Calibri" pitchFamily="34" charset="0"/>
                <a:ea typeface="Calibri" pitchFamily="34" charset="-122"/>
                <a:cs typeface="Calibri" pitchFamily="34" charset="-120"/>
              </a:rPr>
              <a:t>Concentrate outreach on members who will both stay eligible and respond.</a:t>
            </a:r>
            <a:endParaRPr lang="en-US" sz="1400" dirty="0"/>
          </a:p>
        </p:txBody>
      </p:sp>
      <p:sp>
        <p:nvSpPr>
          <p:cNvPr id="11" name="Shape 9"/>
          <p:cNvSpPr/>
          <p:nvPr/>
        </p:nvSpPr>
        <p:spPr>
          <a:xfrm>
            <a:off x="640080" y="5623560"/>
            <a:ext cx="73152" cy="640080"/>
          </a:xfrm>
          <a:prstGeom prst="rect">
            <a:avLst/>
          </a:prstGeom>
          <a:solidFill>
            <a:srgbClr val="22D3A5"/>
          </a:solidFill>
          <a:ln/>
        </p:spPr>
      </p:sp>
      <p:sp>
        <p:nvSpPr>
          <p:cNvPr id="12" name="Text 10"/>
          <p:cNvSpPr/>
          <p:nvPr/>
        </p:nvSpPr>
        <p:spPr>
          <a:xfrm>
            <a:off x="868680" y="5623560"/>
            <a:ext cx="10515600" cy="640080"/>
          </a:xfrm>
          <a:prstGeom prst="rect">
            <a:avLst/>
          </a:prstGeom>
          <a:noFill/>
          <a:ln/>
        </p:spPr>
        <p:txBody>
          <a:bodyPr wrap="square" lIns="0" tIns="0" rIns="0" bIns="0" rtlCol="0" anchor="ctr"/>
          <a:lstStyle/>
          <a:p>
            <a:pPr indent="0" marL="0">
              <a:buNone/>
            </a:pPr>
            <a:r>
              <a:rPr lang="en-US" sz="1500" i="1" dirty="0">
                <a:solidFill>
                  <a:srgbClr val="E8ECF5"/>
                </a:solidFill>
                <a:latin typeface="Georgia" pitchFamily="34" charset="0"/>
                <a:ea typeface="Georgia" pitchFamily="34" charset="-122"/>
                <a:cs typeface="Georgia" pitchFamily="34" charset="-120"/>
              </a:rPr>
              <a:t>The tradeoff: </a:t>
            </a:r>
            <a:pPr indent="0" marL="0">
              <a:buNone/>
            </a:pPr>
            <a:r>
              <a:rPr lang="en-US" sz="1500" dirty="0">
                <a:solidFill>
                  <a:srgbClr val="8B9AB3"/>
                </a:solidFill>
                <a:latin typeface="Georgia" pitchFamily="34" charset="0"/>
                <a:ea typeface="Georgia" pitchFamily="34" charset="-122"/>
                <a:cs typeface="Georgia" pitchFamily="34" charset="-120"/>
              </a:rPr>
              <a:t>fire too early on every trigger and flood providers with members who wash out. Fire too late and miss the 180-day intervention window entirely.</a:t>
            </a:r>
            <a:endParaRPr lang="en-US" sz="1500" dirty="0"/>
          </a:p>
        </p:txBody>
      </p:sp>
      <p:sp>
        <p:nvSpPr>
          <p:cNvPr id="13" name="Text 11"/>
          <p:cNvSpPr/>
          <p:nvPr/>
        </p:nvSpPr>
        <p:spPr>
          <a:xfrm>
            <a:off x="457200" y="6492240"/>
            <a:ext cx="3657600" cy="274320"/>
          </a:xfrm>
          <a:prstGeom prst="rect">
            <a:avLst/>
          </a:prstGeom>
          <a:noFill/>
          <a:ln/>
        </p:spPr>
        <p:txBody>
          <a:bodyPr wrap="square" lIns="0" tIns="0" rIns="0" bIns="0" rtlCol="0" anchor="ctr"/>
          <a:lstStyle/>
          <a:p>
            <a:pPr indent="0" marL="0">
              <a:buNone/>
            </a:pPr>
            <a:r>
              <a:rPr lang="en-US" sz="800" spc="300" kern="0" dirty="0">
                <a:solidFill>
                  <a:srgbClr val="5B6AE5"/>
                </a:solidFill>
                <a:latin typeface="Consolas" pitchFamily="34" charset="0"/>
                <a:ea typeface="Consolas" pitchFamily="34" charset="-122"/>
                <a:cs typeface="Consolas" pitchFamily="34" charset="-120"/>
              </a:rPr>
              <a:t>OMW PREDICTIVE TRIAGE</a:t>
            </a:r>
            <a:endParaRPr lang="en-US" sz="800" dirty="0"/>
          </a:p>
        </p:txBody>
      </p:sp>
      <p:sp>
        <p:nvSpPr>
          <p:cNvPr id="14" name="Text 12"/>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800" spc="200" kern="0" dirty="0">
                <a:solidFill>
                  <a:srgbClr val="5B6AE5"/>
                </a:solidFill>
                <a:latin typeface="Consolas" pitchFamily="34" charset="0"/>
                <a:ea typeface="Consolas" pitchFamily="34" charset="-122"/>
                <a:cs typeface="Consolas"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000" b="1" spc="400" kern="0" dirty="0">
                <a:solidFill>
                  <a:srgbClr val="22D3A5"/>
                </a:solidFill>
                <a:latin typeface="Consolas" pitchFamily="34" charset="0"/>
                <a:ea typeface="Consolas" pitchFamily="34" charset="-122"/>
                <a:cs typeface="Consolas" pitchFamily="34" charset="-120"/>
              </a:rPr>
              <a:t>02  ·  THE FRAMEWORK</a:t>
            </a:r>
            <a:endParaRPr lang="en-US" sz="1000" dirty="0"/>
          </a:p>
        </p:txBody>
      </p:sp>
      <p:sp>
        <p:nvSpPr>
          <p:cNvPr id="3" name="Shape 1"/>
          <p:cNvSpPr/>
          <p:nvPr/>
        </p:nvSpPr>
        <p:spPr>
          <a:xfrm>
            <a:off x="640080" y="822960"/>
            <a:ext cx="1828800" cy="0"/>
          </a:xfrm>
          <a:prstGeom prst="line">
            <a:avLst/>
          </a:prstGeom>
          <a:noFill/>
          <a:ln w="6350">
            <a:solidFill>
              <a:srgbClr val="2D3A54"/>
            </a:solidFill>
            <a:prstDash val="solid"/>
          </a:ln>
        </p:spPr>
      </p:sp>
      <p:sp>
        <p:nvSpPr>
          <p:cNvPr id="4" name="Text 2"/>
          <p:cNvSpPr/>
          <p:nvPr/>
        </p:nvSpPr>
        <p:spPr>
          <a:xfrm>
            <a:off x="640080" y="1097280"/>
            <a:ext cx="10972800" cy="2628900"/>
          </a:xfrm>
          <a:prstGeom prst="rect">
            <a:avLst/>
          </a:prstGeom>
          <a:noFill/>
          <a:ln/>
        </p:spPr>
        <p:txBody>
          <a:bodyPr wrap="square" lIns="0" tIns="0" rIns="0" bIns="0" rtlCol="0" anchor="t"/>
          <a:lstStyle/>
          <a:p>
            <a:pPr indent="0" marL="0">
              <a:buNone/>
            </a:pPr>
            <a:r>
              <a:rPr lang="en-US" sz="4600" dirty="0">
                <a:solidFill>
                  <a:srgbClr val="E8ECF5"/>
                </a:solidFill>
                <a:latin typeface="Georgia" pitchFamily="34" charset="0"/>
                <a:ea typeface="Georgia" pitchFamily="34" charset="-122"/>
                <a:cs typeface="Georgia" pitchFamily="34" charset="-120"/>
              </a:rPr>
              <a:t>Three questions,</a:t>
            </a:r>
            <a:endParaRPr lang="en-US" sz="4600" dirty="0"/>
          </a:p>
          <a:p>
            <a:pPr indent="0" marL="0">
              <a:buNone/>
            </a:pPr>
            <a:r>
              <a:rPr lang="en-US" sz="4600" dirty="0">
                <a:solidFill>
                  <a:srgbClr val="E8ECF5"/>
                </a:solidFill>
                <a:latin typeface="Georgia" pitchFamily="34" charset="0"/>
                <a:ea typeface="Georgia" pitchFamily="34" charset="-122"/>
                <a:cs typeface="Georgia" pitchFamily="34" charset="-120"/>
              </a:rPr>
              <a:t>asked </a:t>
            </a:r>
            <a:pPr indent="0" marL="0">
              <a:buNone/>
            </a:pPr>
            <a:r>
              <a:rPr lang="en-US" sz="4600" i="1" dirty="0">
                <a:solidFill>
                  <a:srgbClr val="22D3A5"/>
                </a:solidFill>
                <a:latin typeface="Georgia" pitchFamily="34" charset="0"/>
                <a:ea typeface="Georgia" pitchFamily="34" charset="-122"/>
                <a:cs typeface="Georgia" pitchFamily="34" charset="-120"/>
              </a:rPr>
              <a:t>together.</a:t>
            </a:r>
            <a:endParaRPr lang="en-US" sz="4600" dirty="0"/>
          </a:p>
        </p:txBody>
      </p:sp>
      <p:sp>
        <p:nvSpPr>
          <p:cNvPr id="5" name="Shape 3"/>
          <p:cNvSpPr/>
          <p:nvPr/>
        </p:nvSpPr>
        <p:spPr>
          <a:xfrm>
            <a:off x="594360" y="3017520"/>
            <a:ext cx="3566160" cy="3657600"/>
          </a:xfrm>
          <a:prstGeom prst="rect">
            <a:avLst/>
          </a:prstGeom>
          <a:solidFill>
            <a:srgbClr val="151B2C"/>
          </a:solidFill>
          <a:ln w="9525">
            <a:solidFill>
              <a:srgbClr val="2D3A54"/>
            </a:solidFill>
            <a:prstDash val="solid"/>
          </a:ln>
        </p:spPr>
      </p:sp>
      <p:sp>
        <p:nvSpPr>
          <p:cNvPr id="6" name="Shape 4"/>
          <p:cNvSpPr/>
          <p:nvPr/>
        </p:nvSpPr>
        <p:spPr>
          <a:xfrm>
            <a:off x="594360" y="3017520"/>
            <a:ext cx="457200" cy="36576"/>
          </a:xfrm>
          <a:prstGeom prst="rect">
            <a:avLst/>
          </a:prstGeom>
          <a:solidFill>
            <a:srgbClr val="4DD2FF"/>
          </a:solidFill>
          <a:ln/>
        </p:spPr>
      </p:sp>
      <p:sp>
        <p:nvSpPr>
          <p:cNvPr id="7" name="Text 5"/>
          <p:cNvSpPr/>
          <p:nvPr/>
        </p:nvSpPr>
        <p:spPr>
          <a:xfrm>
            <a:off x="960120" y="3337560"/>
            <a:ext cx="2834640" cy="228600"/>
          </a:xfrm>
          <a:prstGeom prst="rect">
            <a:avLst/>
          </a:prstGeom>
          <a:noFill/>
          <a:ln/>
        </p:spPr>
        <p:txBody>
          <a:bodyPr wrap="square" lIns="0" tIns="0" rIns="0" bIns="0" rtlCol="0" anchor="ctr"/>
          <a:lstStyle/>
          <a:p>
            <a:pPr indent="0" marL="0">
              <a:buNone/>
            </a:pPr>
            <a:r>
              <a:rPr lang="en-US" sz="900" spc="400" kern="0" dirty="0">
                <a:solidFill>
                  <a:srgbClr val="5B6AE5"/>
                </a:solidFill>
                <a:latin typeface="Consolas" pitchFamily="34" charset="0"/>
                <a:ea typeface="Consolas" pitchFamily="34" charset="-122"/>
                <a:cs typeface="Consolas" pitchFamily="34" charset="-120"/>
              </a:rPr>
              <a:t>FRONT 01</a:t>
            </a:r>
            <a:endParaRPr lang="en-US" sz="900" dirty="0"/>
          </a:p>
        </p:txBody>
      </p:sp>
      <p:sp>
        <p:nvSpPr>
          <p:cNvPr id="8" name="Text 6"/>
          <p:cNvSpPr/>
          <p:nvPr/>
        </p:nvSpPr>
        <p:spPr>
          <a:xfrm>
            <a:off x="960120" y="3611880"/>
            <a:ext cx="2834640" cy="457200"/>
          </a:xfrm>
          <a:prstGeom prst="rect">
            <a:avLst/>
          </a:prstGeom>
          <a:noFill/>
          <a:ln/>
        </p:spPr>
        <p:txBody>
          <a:bodyPr wrap="square" lIns="0" tIns="0" rIns="0" bIns="0" rtlCol="0" anchor="ctr"/>
          <a:lstStyle/>
          <a:p>
            <a:pPr indent="0" marL="0">
              <a:buNone/>
            </a:pPr>
            <a:r>
              <a:rPr lang="en-US" sz="2200" b="1" spc="300" kern="0" dirty="0">
                <a:solidFill>
                  <a:srgbClr val="4DD2FF"/>
                </a:solidFill>
                <a:latin typeface="Consolas" pitchFamily="34" charset="0"/>
                <a:ea typeface="Consolas" pitchFamily="34" charset="-122"/>
                <a:cs typeface="Consolas" pitchFamily="34" charset="-120"/>
              </a:rPr>
              <a:t>FCS</a:t>
            </a:r>
            <a:endParaRPr lang="en-US" sz="2200" dirty="0"/>
          </a:p>
        </p:txBody>
      </p:sp>
      <p:pic>
        <p:nvPicPr>
          <p:cNvPr id="9" name="Image 0" descr="preencoded.png">    </p:cNvPr>
          <p:cNvPicPr>
            <a:picLocks noChangeAspect="1"/>
          </p:cNvPicPr>
          <p:nvPr/>
        </p:nvPicPr>
        <p:blipFill>
          <a:blip r:embed="rId1"/>
          <a:stretch>
            <a:fillRect/>
          </a:stretch>
        </p:blipFill>
        <p:spPr>
          <a:xfrm>
            <a:off x="3246120" y="3474720"/>
            <a:ext cx="548640" cy="548640"/>
          </a:xfrm>
          <a:prstGeom prst="rect">
            <a:avLst/>
          </a:prstGeom>
        </p:spPr>
      </p:pic>
      <p:sp>
        <p:nvSpPr>
          <p:cNvPr id="10" name="Text 7"/>
          <p:cNvSpPr/>
          <p:nvPr/>
        </p:nvSpPr>
        <p:spPr>
          <a:xfrm>
            <a:off x="960120" y="4297680"/>
            <a:ext cx="2834640" cy="731520"/>
          </a:xfrm>
          <a:prstGeom prst="rect">
            <a:avLst/>
          </a:prstGeom>
          <a:noFill/>
          <a:ln/>
        </p:spPr>
        <p:txBody>
          <a:bodyPr wrap="square" lIns="0" tIns="0" rIns="0" bIns="0" rtlCol="0" anchor="t"/>
          <a:lstStyle/>
          <a:p>
            <a:pPr indent="0" marL="0">
              <a:buNone/>
            </a:pPr>
            <a:r>
              <a:rPr lang="en-US" sz="2200" dirty="0">
                <a:solidFill>
                  <a:srgbClr val="E8ECF5"/>
                </a:solidFill>
                <a:latin typeface="Georgia" pitchFamily="34" charset="0"/>
                <a:ea typeface="Georgia" pitchFamily="34" charset="-122"/>
                <a:cs typeface="Georgia" pitchFamily="34" charset="-120"/>
              </a:rPr>
              <a:t>Fracture Confirmation</a:t>
            </a:r>
            <a:endParaRPr lang="en-US" sz="2200" dirty="0"/>
          </a:p>
        </p:txBody>
      </p:sp>
      <p:sp>
        <p:nvSpPr>
          <p:cNvPr id="11" name="Shape 8"/>
          <p:cNvSpPr/>
          <p:nvPr/>
        </p:nvSpPr>
        <p:spPr>
          <a:xfrm>
            <a:off x="960120" y="5074920"/>
            <a:ext cx="27432" cy="777240"/>
          </a:xfrm>
          <a:prstGeom prst="rect">
            <a:avLst/>
          </a:prstGeom>
          <a:solidFill>
            <a:srgbClr val="4DD2FF"/>
          </a:solidFill>
          <a:ln/>
        </p:spPr>
      </p:sp>
      <p:sp>
        <p:nvSpPr>
          <p:cNvPr id="12" name="Text 9"/>
          <p:cNvSpPr/>
          <p:nvPr/>
        </p:nvSpPr>
        <p:spPr>
          <a:xfrm>
            <a:off x="1097280" y="5074920"/>
            <a:ext cx="2697480" cy="777240"/>
          </a:xfrm>
          <a:prstGeom prst="rect">
            <a:avLst/>
          </a:prstGeom>
          <a:noFill/>
          <a:ln/>
        </p:spPr>
        <p:txBody>
          <a:bodyPr wrap="square" lIns="0" tIns="0" rIns="0" bIns="0" rtlCol="0" anchor="t"/>
          <a:lstStyle/>
          <a:p>
            <a:pPr indent="0" marL="0">
              <a:buNone/>
            </a:pPr>
            <a:r>
              <a:rPr lang="en-US" sz="1200" i="1" dirty="0">
                <a:solidFill>
                  <a:srgbClr val="8B9AB3"/>
                </a:solidFill>
                <a:latin typeface="Georgia" pitchFamily="34" charset="0"/>
                <a:ea typeface="Georgia" pitchFamily="34" charset="-122"/>
                <a:cs typeface="Georgia" pitchFamily="34" charset="-120"/>
              </a:rPr>
              <a:t>Given this signal, is this actually a HEDIS-qualifying fragility fracture?</a:t>
            </a:r>
            <a:endParaRPr lang="en-US" sz="1200" dirty="0"/>
          </a:p>
        </p:txBody>
      </p:sp>
      <p:sp>
        <p:nvSpPr>
          <p:cNvPr id="13" name="Text 10"/>
          <p:cNvSpPr/>
          <p:nvPr/>
        </p:nvSpPr>
        <p:spPr>
          <a:xfrm>
            <a:off x="960120" y="5943600"/>
            <a:ext cx="2834640" cy="685800"/>
          </a:xfrm>
          <a:prstGeom prst="rect">
            <a:avLst/>
          </a:prstGeom>
          <a:noFill/>
          <a:ln/>
        </p:spPr>
        <p:txBody>
          <a:bodyPr wrap="square" lIns="0" tIns="0" rIns="0" bIns="0" rtlCol="0" anchor="t"/>
          <a:lstStyle/>
          <a:p>
            <a:pPr indent="0" marL="0">
              <a:buNone/>
            </a:pPr>
            <a:r>
              <a:rPr lang="en-US" sz="1100" dirty="0">
                <a:solidFill>
                  <a:srgbClr val="8B9AB3"/>
                </a:solidFill>
                <a:latin typeface="Calibri" pitchFamily="34" charset="0"/>
                <a:ea typeface="Calibri" pitchFamily="34" charset="-122"/>
                <a:cs typeface="Calibri" pitchFamily="34" charset="-120"/>
              </a:rPr>
              <a:t>Filters ED recoding, non-qualifying sites (toe, finger, face, skull), and high-trauma events before the outreach pipeline fires.</a:t>
            </a:r>
            <a:endParaRPr lang="en-US" sz="1100" dirty="0"/>
          </a:p>
        </p:txBody>
      </p:sp>
      <p:sp>
        <p:nvSpPr>
          <p:cNvPr id="14" name="Shape 11"/>
          <p:cNvSpPr/>
          <p:nvPr/>
        </p:nvSpPr>
        <p:spPr>
          <a:xfrm>
            <a:off x="4297680" y="3017520"/>
            <a:ext cx="3566160" cy="3657600"/>
          </a:xfrm>
          <a:prstGeom prst="rect">
            <a:avLst/>
          </a:prstGeom>
          <a:solidFill>
            <a:srgbClr val="151B2C"/>
          </a:solidFill>
          <a:ln w="9525">
            <a:solidFill>
              <a:srgbClr val="2D3A54"/>
            </a:solidFill>
            <a:prstDash val="solid"/>
          </a:ln>
        </p:spPr>
      </p:sp>
      <p:sp>
        <p:nvSpPr>
          <p:cNvPr id="15" name="Shape 12"/>
          <p:cNvSpPr/>
          <p:nvPr/>
        </p:nvSpPr>
        <p:spPr>
          <a:xfrm>
            <a:off x="4297680" y="3017520"/>
            <a:ext cx="457200" cy="36576"/>
          </a:xfrm>
          <a:prstGeom prst="rect">
            <a:avLst/>
          </a:prstGeom>
          <a:solidFill>
            <a:srgbClr val="FF8A65"/>
          </a:solidFill>
          <a:ln/>
        </p:spPr>
      </p:sp>
      <p:sp>
        <p:nvSpPr>
          <p:cNvPr id="16" name="Text 13"/>
          <p:cNvSpPr/>
          <p:nvPr/>
        </p:nvSpPr>
        <p:spPr>
          <a:xfrm>
            <a:off x="4663440" y="3337560"/>
            <a:ext cx="2834640" cy="228600"/>
          </a:xfrm>
          <a:prstGeom prst="rect">
            <a:avLst/>
          </a:prstGeom>
          <a:noFill/>
          <a:ln/>
        </p:spPr>
        <p:txBody>
          <a:bodyPr wrap="square" lIns="0" tIns="0" rIns="0" bIns="0" rtlCol="0" anchor="ctr"/>
          <a:lstStyle/>
          <a:p>
            <a:pPr indent="0" marL="0">
              <a:buNone/>
            </a:pPr>
            <a:r>
              <a:rPr lang="en-US" sz="900" spc="400" kern="0" dirty="0">
                <a:solidFill>
                  <a:srgbClr val="5B6AE5"/>
                </a:solidFill>
                <a:latin typeface="Consolas" pitchFamily="34" charset="0"/>
                <a:ea typeface="Consolas" pitchFamily="34" charset="-122"/>
                <a:cs typeface="Consolas" pitchFamily="34" charset="-120"/>
              </a:rPr>
              <a:t>FRONT 02</a:t>
            </a:r>
            <a:endParaRPr lang="en-US" sz="900" dirty="0"/>
          </a:p>
        </p:txBody>
      </p:sp>
      <p:sp>
        <p:nvSpPr>
          <p:cNvPr id="17" name="Text 14"/>
          <p:cNvSpPr/>
          <p:nvPr/>
        </p:nvSpPr>
        <p:spPr>
          <a:xfrm>
            <a:off x="4663440" y="3611880"/>
            <a:ext cx="2834640" cy="457200"/>
          </a:xfrm>
          <a:prstGeom prst="rect">
            <a:avLst/>
          </a:prstGeom>
          <a:noFill/>
          <a:ln/>
        </p:spPr>
        <p:txBody>
          <a:bodyPr wrap="square" lIns="0" tIns="0" rIns="0" bIns="0" rtlCol="0" anchor="ctr"/>
          <a:lstStyle/>
          <a:p>
            <a:pPr indent="0" marL="0">
              <a:buNone/>
            </a:pPr>
            <a:r>
              <a:rPr lang="en-US" sz="2200" b="1" spc="300" kern="0" dirty="0">
                <a:solidFill>
                  <a:srgbClr val="FF8A65"/>
                </a:solidFill>
                <a:latin typeface="Consolas" pitchFamily="34" charset="0"/>
                <a:ea typeface="Consolas" pitchFamily="34" charset="-122"/>
                <a:cs typeface="Consolas" pitchFamily="34" charset="-120"/>
              </a:rPr>
              <a:t>EDRS</a:t>
            </a:r>
            <a:endParaRPr lang="en-US" sz="2200" dirty="0"/>
          </a:p>
        </p:txBody>
      </p:sp>
      <p:pic>
        <p:nvPicPr>
          <p:cNvPr id="18" name="Image 1" descr="preencoded.png">    </p:cNvPr>
          <p:cNvPicPr>
            <a:picLocks noChangeAspect="1"/>
          </p:cNvPicPr>
          <p:nvPr/>
        </p:nvPicPr>
        <p:blipFill>
          <a:blip r:embed="rId2"/>
          <a:stretch>
            <a:fillRect/>
          </a:stretch>
        </p:blipFill>
        <p:spPr>
          <a:xfrm>
            <a:off x="6949440" y="3474720"/>
            <a:ext cx="548640" cy="548640"/>
          </a:xfrm>
          <a:prstGeom prst="rect">
            <a:avLst/>
          </a:prstGeom>
        </p:spPr>
      </p:pic>
      <p:sp>
        <p:nvSpPr>
          <p:cNvPr id="19" name="Text 15"/>
          <p:cNvSpPr/>
          <p:nvPr/>
        </p:nvSpPr>
        <p:spPr>
          <a:xfrm>
            <a:off x="4663440" y="4297680"/>
            <a:ext cx="2834640" cy="731520"/>
          </a:xfrm>
          <a:prstGeom prst="rect">
            <a:avLst/>
          </a:prstGeom>
          <a:noFill/>
          <a:ln/>
        </p:spPr>
        <p:txBody>
          <a:bodyPr wrap="square" lIns="0" tIns="0" rIns="0" bIns="0" rtlCol="0" anchor="t"/>
          <a:lstStyle/>
          <a:p>
            <a:pPr indent="0" marL="0">
              <a:buNone/>
            </a:pPr>
            <a:r>
              <a:rPr lang="en-US" sz="2200" dirty="0">
                <a:solidFill>
                  <a:srgbClr val="E8ECF5"/>
                </a:solidFill>
                <a:latin typeface="Georgia" pitchFamily="34" charset="0"/>
                <a:ea typeface="Georgia" pitchFamily="34" charset="-122"/>
                <a:cs typeface="Georgia" pitchFamily="34" charset="-120"/>
              </a:rPr>
              <a:t>Exclusion Development Risk</a:t>
            </a:r>
            <a:endParaRPr lang="en-US" sz="2200" dirty="0"/>
          </a:p>
        </p:txBody>
      </p:sp>
      <p:sp>
        <p:nvSpPr>
          <p:cNvPr id="20" name="Shape 16"/>
          <p:cNvSpPr/>
          <p:nvPr/>
        </p:nvSpPr>
        <p:spPr>
          <a:xfrm>
            <a:off x="4663440" y="5074920"/>
            <a:ext cx="27432" cy="777240"/>
          </a:xfrm>
          <a:prstGeom prst="rect">
            <a:avLst/>
          </a:prstGeom>
          <a:solidFill>
            <a:srgbClr val="FF8A65"/>
          </a:solidFill>
          <a:ln/>
        </p:spPr>
      </p:sp>
      <p:sp>
        <p:nvSpPr>
          <p:cNvPr id="21" name="Text 17"/>
          <p:cNvSpPr/>
          <p:nvPr/>
        </p:nvSpPr>
        <p:spPr>
          <a:xfrm>
            <a:off x="4800600" y="5074920"/>
            <a:ext cx="2697480" cy="777240"/>
          </a:xfrm>
          <a:prstGeom prst="rect">
            <a:avLst/>
          </a:prstGeom>
          <a:noFill/>
          <a:ln/>
        </p:spPr>
        <p:txBody>
          <a:bodyPr wrap="square" lIns="0" tIns="0" rIns="0" bIns="0" rtlCol="0" anchor="t"/>
          <a:lstStyle/>
          <a:p>
            <a:pPr indent="0" marL="0">
              <a:buNone/>
            </a:pPr>
            <a:r>
              <a:rPr lang="en-US" sz="1200" i="1" dirty="0">
                <a:solidFill>
                  <a:srgbClr val="8B9AB3"/>
                </a:solidFill>
                <a:latin typeface="Georgia" pitchFamily="34" charset="0"/>
                <a:ea typeface="Georgia" pitchFamily="34" charset="-122"/>
                <a:cs typeface="Georgia" pitchFamily="34" charset="-120"/>
              </a:rPr>
              <a:t>Will this member acquire HEDIS exclusions before December 31?</a:t>
            </a:r>
            <a:endParaRPr lang="en-US" sz="1200" dirty="0"/>
          </a:p>
        </p:txBody>
      </p:sp>
      <p:sp>
        <p:nvSpPr>
          <p:cNvPr id="22" name="Text 18"/>
          <p:cNvSpPr/>
          <p:nvPr/>
        </p:nvSpPr>
        <p:spPr>
          <a:xfrm>
            <a:off x="4663440" y="5943600"/>
            <a:ext cx="2834640" cy="685800"/>
          </a:xfrm>
          <a:prstGeom prst="rect">
            <a:avLst/>
          </a:prstGeom>
          <a:noFill/>
          <a:ln/>
        </p:spPr>
        <p:txBody>
          <a:bodyPr wrap="square" lIns="0" tIns="0" rIns="0" bIns="0" rtlCol="0" anchor="t"/>
          <a:lstStyle/>
          <a:p>
            <a:pPr indent="0" marL="0">
              <a:buNone/>
            </a:pPr>
            <a:r>
              <a:rPr lang="en-US" sz="1100" dirty="0">
                <a:solidFill>
                  <a:srgbClr val="8B9AB3"/>
                </a:solidFill>
                <a:latin typeface="Calibri" pitchFamily="34" charset="0"/>
                <a:ea typeface="Calibri" pitchFamily="34" charset="-122"/>
                <a:cs typeface="Calibri" pitchFamily="34" charset="-120"/>
              </a:rPr>
              <a:t>Anchored on a claims-based frailty instrument (HFRS or Kim CFI). Dementia meds, hospice signals, and utilization trajectory layer on top.</a:t>
            </a:r>
            <a:endParaRPr lang="en-US" sz="1100" dirty="0"/>
          </a:p>
        </p:txBody>
      </p:sp>
      <p:sp>
        <p:nvSpPr>
          <p:cNvPr id="23" name="Shape 19"/>
          <p:cNvSpPr/>
          <p:nvPr/>
        </p:nvSpPr>
        <p:spPr>
          <a:xfrm>
            <a:off x="8001000" y="3017520"/>
            <a:ext cx="3566160" cy="3657600"/>
          </a:xfrm>
          <a:prstGeom prst="rect">
            <a:avLst/>
          </a:prstGeom>
          <a:solidFill>
            <a:srgbClr val="151B2C"/>
          </a:solidFill>
          <a:ln w="9525">
            <a:solidFill>
              <a:srgbClr val="2D3A54"/>
            </a:solidFill>
            <a:prstDash val="solid"/>
          </a:ln>
        </p:spPr>
      </p:sp>
      <p:sp>
        <p:nvSpPr>
          <p:cNvPr id="24" name="Shape 20"/>
          <p:cNvSpPr/>
          <p:nvPr/>
        </p:nvSpPr>
        <p:spPr>
          <a:xfrm>
            <a:off x="8001000" y="3017520"/>
            <a:ext cx="457200" cy="36576"/>
          </a:xfrm>
          <a:prstGeom prst="rect">
            <a:avLst/>
          </a:prstGeom>
          <a:solidFill>
            <a:srgbClr val="C4B5FD"/>
          </a:solidFill>
          <a:ln/>
        </p:spPr>
      </p:sp>
      <p:sp>
        <p:nvSpPr>
          <p:cNvPr id="25" name="Text 21"/>
          <p:cNvSpPr/>
          <p:nvPr/>
        </p:nvSpPr>
        <p:spPr>
          <a:xfrm>
            <a:off x="8366760" y="3337560"/>
            <a:ext cx="2834640" cy="228600"/>
          </a:xfrm>
          <a:prstGeom prst="rect">
            <a:avLst/>
          </a:prstGeom>
          <a:noFill/>
          <a:ln/>
        </p:spPr>
        <p:txBody>
          <a:bodyPr wrap="square" lIns="0" tIns="0" rIns="0" bIns="0" rtlCol="0" anchor="ctr"/>
          <a:lstStyle/>
          <a:p>
            <a:pPr indent="0" marL="0">
              <a:buNone/>
            </a:pPr>
            <a:r>
              <a:rPr lang="en-US" sz="900" spc="400" kern="0" dirty="0">
                <a:solidFill>
                  <a:srgbClr val="5B6AE5"/>
                </a:solidFill>
                <a:latin typeface="Consolas" pitchFamily="34" charset="0"/>
                <a:ea typeface="Consolas" pitchFamily="34" charset="-122"/>
                <a:cs typeface="Consolas" pitchFamily="34" charset="-120"/>
              </a:rPr>
              <a:t>FRONT 03</a:t>
            </a:r>
            <a:endParaRPr lang="en-US" sz="900" dirty="0"/>
          </a:p>
        </p:txBody>
      </p:sp>
      <p:sp>
        <p:nvSpPr>
          <p:cNvPr id="26" name="Text 22"/>
          <p:cNvSpPr/>
          <p:nvPr/>
        </p:nvSpPr>
        <p:spPr>
          <a:xfrm>
            <a:off x="8366760" y="3611880"/>
            <a:ext cx="2834640" cy="457200"/>
          </a:xfrm>
          <a:prstGeom prst="rect">
            <a:avLst/>
          </a:prstGeom>
          <a:noFill/>
          <a:ln/>
        </p:spPr>
        <p:txBody>
          <a:bodyPr wrap="square" lIns="0" tIns="0" rIns="0" bIns="0" rtlCol="0" anchor="ctr"/>
          <a:lstStyle/>
          <a:p>
            <a:pPr indent="0" marL="0">
              <a:buNone/>
            </a:pPr>
            <a:r>
              <a:rPr lang="en-US" sz="2200" b="1" spc="300" kern="0" dirty="0">
                <a:solidFill>
                  <a:srgbClr val="C4B5FD"/>
                </a:solidFill>
                <a:latin typeface="Consolas" pitchFamily="34" charset="0"/>
                <a:ea typeface="Consolas" pitchFamily="34" charset="-122"/>
                <a:cs typeface="Consolas" pitchFamily="34" charset="-120"/>
              </a:rPr>
              <a:t>NCRS</a:t>
            </a:r>
            <a:endParaRPr lang="en-US" sz="2200" dirty="0"/>
          </a:p>
        </p:txBody>
      </p:sp>
      <p:pic>
        <p:nvPicPr>
          <p:cNvPr id="27" name="Image 2" descr="preencoded.png">    </p:cNvPr>
          <p:cNvPicPr>
            <a:picLocks noChangeAspect="1"/>
          </p:cNvPicPr>
          <p:nvPr/>
        </p:nvPicPr>
        <p:blipFill>
          <a:blip r:embed="rId3"/>
          <a:stretch>
            <a:fillRect/>
          </a:stretch>
        </p:blipFill>
        <p:spPr>
          <a:xfrm>
            <a:off x="10652760" y="3474720"/>
            <a:ext cx="548640" cy="548640"/>
          </a:xfrm>
          <a:prstGeom prst="rect">
            <a:avLst/>
          </a:prstGeom>
        </p:spPr>
      </p:pic>
      <p:sp>
        <p:nvSpPr>
          <p:cNvPr id="28" name="Text 23"/>
          <p:cNvSpPr/>
          <p:nvPr/>
        </p:nvSpPr>
        <p:spPr>
          <a:xfrm>
            <a:off x="8366760" y="4297680"/>
            <a:ext cx="2834640" cy="731520"/>
          </a:xfrm>
          <a:prstGeom prst="rect">
            <a:avLst/>
          </a:prstGeom>
          <a:noFill/>
          <a:ln/>
        </p:spPr>
        <p:txBody>
          <a:bodyPr wrap="square" lIns="0" tIns="0" rIns="0" bIns="0" rtlCol="0" anchor="t"/>
          <a:lstStyle/>
          <a:p>
            <a:pPr indent="0" marL="0">
              <a:buNone/>
            </a:pPr>
            <a:r>
              <a:rPr lang="en-US" sz="2200" dirty="0">
                <a:solidFill>
                  <a:srgbClr val="E8ECF5"/>
                </a:solidFill>
                <a:latin typeface="Georgia" pitchFamily="34" charset="0"/>
                <a:ea typeface="Georgia" pitchFamily="34" charset="-122"/>
                <a:cs typeface="Georgia" pitchFamily="34" charset="-120"/>
              </a:rPr>
              <a:t>Non-Compliance Risk</a:t>
            </a:r>
            <a:endParaRPr lang="en-US" sz="2200" dirty="0"/>
          </a:p>
        </p:txBody>
      </p:sp>
      <p:sp>
        <p:nvSpPr>
          <p:cNvPr id="29" name="Shape 24"/>
          <p:cNvSpPr/>
          <p:nvPr/>
        </p:nvSpPr>
        <p:spPr>
          <a:xfrm>
            <a:off x="8366760" y="5074920"/>
            <a:ext cx="27432" cy="777240"/>
          </a:xfrm>
          <a:prstGeom prst="rect">
            <a:avLst/>
          </a:prstGeom>
          <a:solidFill>
            <a:srgbClr val="C4B5FD"/>
          </a:solidFill>
          <a:ln/>
        </p:spPr>
      </p:sp>
      <p:sp>
        <p:nvSpPr>
          <p:cNvPr id="30" name="Text 25"/>
          <p:cNvSpPr/>
          <p:nvPr/>
        </p:nvSpPr>
        <p:spPr>
          <a:xfrm>
            <a:off x="8503920" y="5074920"/>
            <a:ext cx="2697480" cy="777240"/>
          </a:xfrm>
          <a:prstGeom prst="rect">
            <a:avLst/>
          </a:prstGeom>
          <a:noFill/>
          <a:ln/>
        </p:spPr>
        <p:txBody>
          <a:bodyPr wrap="square" lIns="0" tIns="0" rIns="0" bIns="0" rtlCol="0" anchor="t"/>
          <a:lstStyle/>
          <a:p>
            <a:pPr indent="0" marL="0">
              <a:buNone/>
            </a:pPr>
            <a:r>
              <a:rPr lang="en-US" sz="1200" i="1" dirty="0">
                <a:solidFill>
                  <a:srgbClr val="8B9AB3"/>
                </a:solidFill>
                <a:latin typeface="Georgia" pitchFamily="34" charset="0"/>
                <a:ea typeface="Georgia" pitchFamily="34" charset="-122"/>
                <a:cs typeface="Georgia" pitchFamily="34" charset="-120"/>
              </a:rPr>
              <a:t>If denominator-eligible, will they miss the BMD or therapy?</a:t>
            </a:r>
            <a:endParaRPr lang="en-US" sz="1200" dirty="0"/>
          </a:p>
        </p:txBody>
      </p:sp>
      <p:sp>
        <p:nvSpPr>
          <p:cNvPr id="31" name="Text 26"/>
          <p:cNvSpPr/>
          <p:nvPr/>
        </p:nvSpPr>
        <p:spPr>
          <a:xfrm>
            <a:off x="8366760" y="5943600"/>
            <a:ext cx="2834640" cy="685800"/>
          </a:xfrm>
          <a:prstGeom prst="rect">
            <a:avLst/>
          </a:prstGeom>
          <a:noFill/>
          <a:ln/>
        </p:spPr>
        <p:txBody>
          <a:bodyPr wrap="square" lIns="0" tIns="0" rIns="0" bIns="0" rtlCol="0" anchor="t"/>
          <a:lstStyle/>
          <a:p>
            <a:pPr indent="0" marL="0">
              <a:buNone/>
            </a:pPr>
            <a:r>
              <a:rPr lang="en-US" sz="1100" dirty="0">
                <a:solidFill>
                  <a:srgbClr val="8B9AB3"/>
                </a:solidFill>
                <a:latin typeface="Calibri" pitchFamily="34" charset="0"/>
                <a:ea typeface="Calibri" pitchFamily="34" charset="-122"/>
                <a:cs typeface="Calibri" pitchFamily="34" charset="-120"/>
              </a:rPr>
              <a:t>Cross-medication PDC is the strongest single predictor. Members adherent to a statin are adherent to a bisphosphonate.</a:t>
            </a:r>
            <a:endParaRPr lang="en-US" sz="1100" dirty="0"/>
          </a:p>
        </p:txBody>
      </p:sp>
      <p:sp>
        <p:nvSpPr>
          <p:cNvPr id="32" name="Text 27"/>
          <p:cNvSpPr/>
          <p:nvPr/>
        </p:nvSpPr>
        <p:spPr>
          <a:xfrm>
            <a:off x="457200" y="6492240"/>
            <a:ext cx="3657600" cy="274320"/>
          </a:xfrm>
          <a:prstGeom prst="rect">
            <a:avLst/>
          </a:prstGeom>
          <a:noFill/>
          <a:ln/>
        </p:spPr>
        <p:txBody>
          <a:bodyPr wrap="square" lIns="0" tIns="0" rIns="0" bIns="0" rtlCol="0" anchor="ctr"/>
          <a:lstStyle/>
          <a:p>
            <a:pPr indent="0" marL="0">
              <a:buNone/>
            </a:pPr>
            <a:r>
              <a:rPr lang="en-US" sz="800" spc="300" kern="0" dirty="0">
                <a:solidFill>
                  <a:srgbClr val="5B6AE5"/>
                </a:solidFill>
                <a:latin typeface="Consolas" pitchFamily="34" charset="0"/>
                <a:ea typeface="Consolas" pitchFamily="34" charset="-122"/>
                <a:cs typeface="Consolas" pitchFamily="34" charset="-120"/>
              </a:rPr>
              <a:t>OMW PREDICTIVE TRIAGE</a:t>
            </a:r>
            <a:endParaRPr lang="en-US" sz="800" dirty="0"/>
          </a:p>
        </p:txBody>
      </p:sp>
      <p:sp>
        <p:nvSpPr>
          <p:cNvPr id="33" name="Text 28"/>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800" spc="200" kern="0" dirty="0">
                <a:solidFill>
                  <a:srgbClr val="5B6AE5"/>
                </a:solidFill>
                <a:latin typeface="Consolas" pitchFamily="34" charset="0"/>
                <a:ea typeface="Consolas" pitchFamily="34" charset="-122"/>
                <a:cs typeface="Consolas"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000" b="1" spc="400" kern="0" dirty="0">
                <a:solidFill>
                  <a:srgbClr val="22D3A5"/>
                </a:solidFill>
                <a:latin typeface="Consolas" pitchFamily="34" charset="0"/>
                <a:ea typeface="Consolas" pitchFamily="34" charset="-122"/>
                <a:cs typeface="Consolas" pitchFamily="34" charset="-120"/>
              </a:rPr>
              <a:t>03  ·  THE DECISION LAYER</a:t>
            </a:r>
            <a:endParaRPr lang="en-US" sz="1000" dirty="0"/>
          </a:p>
        </p:txBody>
      </p:sp>
      <p:sp>
        <p:nvSpPr>
          <p:cNvPr id="3" name="Shape 1"/>
          <p:cNvSpPr/>
          <p:nvPr/>
        </p:nvSpPr>
        <p:spPr>
          <a:xfrm>
            <a:off x="640080" y="822960"/>
            <a:ext cx="1828800" cy="0"/>
          </a:xfrm>
          <a:prstGeom prst="line">
            <a:avLst/>
          </a:prstGeom>
          <a:noFill/>
          <a:ln w="6350">
            <a:solidFill>
              <a:srgbClr val="2D3A54"/>
            </a:solidFill>
            <a:prstDash val="solid"/>
          </a:ln>
        </p:spPr>
      </p:sp>
      <p:sp>
        <p:nvSpPr>
          <p:cNvPr id="4" name="Text 2"/>
          <p:cNvSpPr/>
          <p:nvPr/>
        </p:nvSpPr>
        <p:spPr>
          <a:xfrm>
            <a:off x="640080" y="1097280"/>
            <a:ext cx="10972800" cy="2400300"/>
          </a:xfrm>
          <a:prstGeom prst="rect">
            <a:avLst/>
          </a:prstGeom>
          <a:noFill/>
          <a:ln/>
        </p:spPr>
        <p:txBody>
          <a:bodyPr wrap="square" lIns="0" tIns="0" rIns="0" bIns="0" rtlCol="0" anchor="t"/>
          <a:lstStyle/>
          <a:p>
            <a:pPr indent="0" marL="0">
              <a:buNone/>
            </a:pPr>
            <a:r>
              <a:rPr lang="en-US" sz="4200" dirty="0">
                <a:solidFill>
                  <a:srgbClr val="E8ECF5"/>
                </a:solidFill>
                <a:latin typeface="Georgia" pitchFamily="34" charset="0"/>
                <a:ea typeface="Georgia" pitchFamily="34" charset="-122"/>
                <a:cs typeface="Georgia" pitchFamily="34" charset="-120"/>
              </a:rPr>
              <a:t>One formula,</a:t>
            </a:r>
            <a:endParaRPr lang="en-US" sz="4200" dirty="0"/>
          </a:p>
          <a:p>
            <a:pPr indent="0" marL="0">
              <a:buNone/>
            </a:pPr>
            <a:r>
              <a:rPr lang="en-US" sz="4200" dirty="0">
                <a:solidFill>
                  <a:srgbClr val="E8ECF5"/>
                </a:solidFill>
                <a:latin typeface="Georgia" pitchFamily="34" charset="0"/>
                <a:ea typeface="Georgia" pitchFamily="34" charset="-122"/>
                <a:cs typeface="Georgia" pitchFamily="34" charset="-120"/>
              </a:rPr>
              <a:t>four </a:t>
            </a:r>
            <a:pPr indent="0" marL="0">
              <a:buNone/>
            </a:pPr>
            <a:r>
              <a:rPr lang="en-US" sz="4200" i="1" dirty="0">
                <a:solidFill>
                  <a:srgbClr val="22D3A5"/>
                </a:solidFill>
                <a:latin typeface="Georgia" pitchFamily="34" charset="0"/>
                <a:ea typeface="Georgia" pitchFamily="34" charset="-122"/>
                <a:cs typeface="Georgia" pitchFamily="34" charset="-120"/>
              </a:rPr>
              <a:t>operational answers.</a:t>
            </a:r>
            <a:endParaRPr lang="en-US" sz="4200" dirty="0"/>
          </a:p>
        </p:txBody>
      </p:sp>
      <p:sp>
        <p:nvSpPr>
          <p:cNvPr id="5" name="Shape 3"/>
          <p:cNvSpPr/>
          <p:nvPr/>
        </p:nvSpPr>
        <p:spPr>
          <a:xfrm>
            <a:off x="640080" y="2834640"/>
            <a:ext cx="10881360" cy="914400"/>
          </a:xfrm>
          <a:prstGeom prst="rect">
            <a:avLst/>
          </a:prstGeom>
          <a:solidFill>
            <a:srgbClr val="111827"/>
          </a:solidFill>
          <a:ln w="9525">
            <a:solidFill>
              <a:srgbClr val="2D3A54"/>
            </a:solidFill>
            <a:prstDash val="solid"/>
          </a:ln>
        </p:spPr>
      </p:sp>
      <p:sp>
        <p:nvSpPr>
          <p:cNvPr id="6" name="Text 4"/>
          <p:cNvSpPr/>
          <p:nvPr/>
        </p:nvSpPr>
        <p:spPr>
          <a:xfrm>
            <a:off x="640080" y="2834640"/>
            <a:ext cx="10881360" cy="914400"/>
          </a:xfrm>
          <a:prstGeom prst="rect">
            <a:avLst/>
          </a:prstGeom>
          <a:noFill/>
          <a:ln/>
        </p:spPr>
        <p:txBody>
          <a:bodyPr wrap="square" lIns="0" tIns="0" rIns="0" bIns="0" rtlCol="0" anchor="ctr"/>
          <a:lstStyle/>
          <a:p>
            <a:pPr algn="ctr" indent="0" marL="0">
              <a:buNone/>
            </a:pPr>
            <a:r>
              <a:rPr lang="en-US" sz="2400" dirty="0">
                <a:solidFill>
                  <a:srgbClr val="E8ECF5"/>
                </a:solidFill>
                <a:latin typeface="Consolas" pitchFamily="34" charset="0"/>
                <a:ea typeface="Consolas" pitchFamily="34" charset="-122"/>
                <a:cs typeface="Consolas" pitchFamily="34" charset="-120"/>
              </a:rPr>
              <a:t>Opportunity</a:t>
            </a:r>
            <a:pPr algn="ctr" indent="0" marL="0">
              <a:buNone/>
            </a:pPr>
            <a:r>
              <a:rPr lang="en-US" sz="2400" dirty="0">
                <a:solidFill>
                  <a:srgbClr val="5B6AE5"/>
                </a:solidFill>
                <a:latin typeface="Consolas" pitchFamily="34" charset="0"/>
                <a:ea typeface="Consolas" pitchFamily="34" charset="-122"/>
                <a:cs typeface="Consolas" pitchFamily="34" charset="-120"/>
              </a:rPr>
              <a:t>  =  </a:t>
            </a:r>
            <a:pPr algn="ctr" indent="0" marL="0">
              <a:buNone/>
            </a:pPr>
            <a:r>
              <a:rPr lang="en-US" sz="2400" b="1" dirty="0">
                <a:solidFill>
                  <a:srgbClr val="4DD2FF"/>
                </a:solidFill>
                <a:latin typeface="Consolas" pitchFamily="34" charset="0"/>
                <a:ea typeface="Consolas" pitchFamily="34" charset="-122"/>
                <a:cs typeface="Consolas" pitchFamily="34" charset="-120"/>
              </a:rPr>
              <a:t>FCS</a:t>
            </a:r>
            <a:pPr algn="ctr" indent="0" marL="0">
              <a:buNone/>
            </a:pPr>
            <a:r>
              <a:rPr lang="en-US" sz="2400" dirty="0">
                <a:solidFill>
                  <a:srgbClr val="5B6AE5"/>
                </a:solidFill>
                <a:latin typeface="Consolas" pitchFamily="34" charset="0"/>
                <a:ea typeface="Consolas" pitchFamily="34" charset="-122"/>
                <a:cs typeface="Consolas" pitchFamily="34" charset="-120"/>
              </a:rPr>
              <a:t>  ×  </a:t>
            </a:r>
            <a:pPr algn="ctr" indent="0" marL="0">
              <a:buNone/>
            </a:pPr>
            <a:r>
              <a:rPr lang="en-US" sz="2400" b="1" dirty="0">
                <a:solidFill>
                  <a:srgbClr val="FF8A65"/>
                </a:solidFill>
                <a:latin typeface="Consolas" pitchFamily="34" charset="0"/>
                <a:ea typeface="Consolas" pitchFamily="34" charset="-122"/>
                <a:cs typeface="Consolas" pitchFamily="34" charset="-120"/>
              </a:rPr>
              <a:t>(1 − EDRS)</a:t>
            </a:r>
            <a:pPr algn="ctr" indent="0" marL="0">
              <a:buNone/>
            </a:pPr>
            <a:r>
              <a:rPr lang="en-US" sz="2400" dirty="0">
                <a:solidFill>
                  <a:srgbClr val="5B6AE5"/>
                </a:solidFill>
                <a:latin typeface="Consolas" pitchFamily="34" charset="0"/>
                <a:ea typeface="Consolas" pitchFamily="34" charset="-122"/>
                <a:cs typeface="Consolas" pitchFamily="34" charset="-120"/>
              </a:rPr>
              <a:t>  ×  </a:t>
            </a:r>
            <a:pPr algn="ctr" indent="0" marL="0">
              <a:buNone/>
            </a:pPr>
            <a:r>
              <a:rPr lang="en-US" sz="2400" b="1" dirty="0">
                <a:solidFill>
                  <a:srgbClr val="C4B5FD"/>
                </a:solidFill>
                <a:latin typeface="Consolas" pitchFamily="34" charset="0"/>
                <a:ea typeface="Consolas" pitchFamily="34" charset="-122"/>
                <a:cs typeface="Consolas" pitchFamily="34" charset="-120"/>
              </a:rPr>
              <a:t>(1 − NCRS)</a:t>
            </a:r>
            <a:endParaRPr lang="en-US" sz="2400" dirty="0"/>
          </a:p>
        </p:txBody>
      </p:sp>
      <p:sp>
        <p:nvSpPr>
          <p:cNvPr id="7" name="Shape 5"/>
          <p:cNvSpPr/>
          <p:nvPr/>
        </p:nvSpPr>
        <p:spPr>
          <a:xfrm>
            <a:off x="731520" y="4023360"/>
            <a:ext cx="2606040" cy="2286000"/>
          </a:xfrm>
          <a:prstGeom prst="rect">
            <a:avLst/>
          </a:prstGeom>
          <a:solidFill>
            <a:srgbClr val="151B2C"/>
          </a:solidFill>
          <a:ln w="9525">
            <a:solidFill>
              <a:srgbClr val="2D3A54"/>
            </a:solidFill>
            <a:prstDash val="solid"/>
          </a:ln>
        </p:spPr>
      </p:sp>
      <p:sp>
        <p:nvSpPr>
          <p:cNvPr id="8" name="Shape 6"/>
          <p:cNvSpPr/>
          <p:nvPr/>
        </p:nvSpPr>
        <p:spPr>
          <a:xfrm>
            <a:off x="731520" y="4023360"/>
            <a:ext cx="54864" cy="2286000"/>
          </a:xfrm>
          <a:prstGeom prst="rect">
            <a:avLst/>
          </a:prstGeom>
          <a:solidFill>
            <a:srgbClr val="22D3A5"/>
          </a:solidFill>
          <a:ln/>
        </p:spPr>
      </p:sp>
      <p:sp>
        <p:nvSpPr>
          <p:cNvPr id="9" name="Text 7"/>
          <p:cNvSpPr/>
          <p:nvPr/>
        </p:nvSpPr>
        <p:spPr>
          <a:xfrm>
            <a:off x="960120" y="4206240"/>
            <a:ext cx="224028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TIER 01</a:t>
            </a:r>
            <a:endParaRPr lang="en-US" sz="900" dirty="0"/>
          </a:p>
        </p:txBody>
      </p:sp>
      <p:sp>
        <p:nvSpPr>
          <p:cNvPr id="10" name="Text 8"/>
          <p:cNvSpPr/>
          <p:nvPr/>
        </p:nvSpPr>
        <p:spPr>
          <a:xfrm>
            <a:off x="960120" y="4462272"/>
            <a:ext cx="2240280" cy="365760"/>
          </a:xfrm>
          <a:prstGeom prst="rect">
            <a:avLst/>
          </a:prstGeom>
          <a:noFill/>
          <a:ln/>
        </p:spPr>
        <p:txBody>
          <a:bodyPr wrap="square" lIns="0" tIns="0" rIns="0" bIns="0" rtlCol="0" anchor="ctr"/>
          <a:lstStyle/>
          <a:p>
            <a:pPr indent="0" marL="0">
              <a:buNone/>
            </a:pPr>
            <a:r>
              <a:rPr lang="en-US" sz="1500" b="1" spc="200" kern="0" dirty="0">
                <a:solidFill>
                  <a:srgbClr val="22D3A5"/>
                </a:solidFill>
                <a:latin typeface="Consolas" pitchFamily="34" charset="0"/>
                <a:ea typeface="Consolas" pitchFamily="34" charset="-122"/>
                <a:cs typeface="Consolas" pitchFamily="34" charset="-120"/>
              </a:rPr>
              <a:t>ACT NOW</a:t>
            </a:r>
            <a:endParaRPr lang="en-US" sz="1500" dirty="0"/>
          </a:p>
        </p:txBody>
      </p:sp>
      <p:sp>
        <p:nvSpPr>
          <p:cNvPr id="11" name="Shape 9"/>
          <p:cNvSpPr/>
          <p:nvPr/>
        </p:nvSpPr>
        <p:spPr>
          <a:xfrm>
            <a:off x="960120" y="4919472"/>
            <a:ext cx="365760" cy="0"/>
          </a:xfrm>
          <a:prstGeom prst="line">
            <a:avLst/>
          </a:prstGeom>
          <a:noFill/>
          <a:ln w="12700">
            <a:solidFill>
              <a:srgbClr val="22D3A5"/>
            </a:solidFill>
            <a:prstDash val="solid"/>
          </a:ln>
        </p:spPr>
      </p:sp>
      <p:sp>
        <p:nvSpPr>
          <p:cNvPr id="12" name="Text 10"/>
          <p:cNvSpPr/>
          <p:nvPr/>
        </p:nvSpPr>
        <p:spPr>
          <a:xfrm>
            <a:off x="960120" y="5029200"/>
            <a:ext cx="2240280" cy="640080"/>
          </a:xfrm>
          <a:prstGeom prst="rect">
            <a:avLst/>
          </a:prstGeom>
          <a:noFill/>
          <a:ln/>
        </p:spPr>
        <p:txBody>
          <a:bodyPr wrap="square" lIns="0" tIns="0" rIns="0" bIns="0" rtlCol="0" anchor="t"/>
          <a:lstStyle/>
          <a:p>
            <a:pPr indent="0" marL="0">
              <a:buNone/>
            </a:pPr>
            <a:r>
              <a:rPr lang="en-US" sz="1000" b="1" dirty="0">
                <a:solidFill>
                  <a:srgbClr val="E8ECF5"/>
                </a:solidFill>
                <a:latin typeface="Calibri" pitchFamily="34" charset="0"/>
                <a:ea typeface="Calibri" pitchFamily="34" charset="-122"/>
                <a:cs typeface="Calibri" pitchFamily="34" charset="-120"/>
              </a:rPr>
              <a:t>High FCS</a:t>
            </a:r>
            <a:endParaRPr lang="en-US" sz="1000" dirty="0"/>
          </a:p>
          <a:p>
            <a:pPr indent="0" marL="0">
              <a:buNone/>
            </a:pPr>
            <a:r>
              <a:rPr lang="en-US" sz="1000" b="1" dirty="0">
                <a:solidFill>
                  <a:srgbClr val="E8ECF5"/>
                </a:solidFill>
                <a:latin typeface="Calibri" pitchFamily="34" charset="0"/>
                <a:ea typeface="Calibri" pitchFamily="34" charset="-122"/>
                <a:cs typeface="Calibri" pitchFamily="34" charset="-120"/>
              </a:rPr>
              <a:t>Low EDRS</a:t>
            </a:r>
            <a:endParaRPr lang="en-US" sz="1000" dirty="0"/>
          </a:p>
          <a:p>
            <a:pPr indent="0" marL="0">
              <a:buNone/>
            </a:pPr>
            <a:r>
              <a:rPr lang="en-US" sz="1000" b="1" dirty="0">
                <a:solidFill>
                  <a:srgbClr val="E8ECF5"/>
                </a:solidFill>
                <a:latin typeface="Calibri" pitchFamily="34" charset="0"/>
                <a:ea typeface="Calibri" pitchFamily="34" charset="-122"/>
                <a:cs typeface="Calibri" pitchFamily="34" charset="-120"/>
              </a:rPr>
              <a:t>Low-moderate NCRS</a:t>
            </a:r>
            <a:endParaRPr lang="en-US" sz="1000" dirty="0"/>
          </a:p>
        </p:txBody>
      </p:sp>
      <p:sp>
        <p:nvSpPr>
          <p:cNvPr id="13" name="Text 11"/>
          <p:cNvSpPr/>
          <p:nvPr/>
        </p:nvSpPr>
        <p:spPr>
          <a:xfrm>
            <a:off x="960120" y="5715000"/>
            <a:ext cx="2240280" cy="502920"/>
          </a:xfrm>
          <a:prstGeom prst="rect">
            <a:avLst/>
          </a:prstGeom>
          <a:noFill/>
          <a:ln/>
        </p:spPr>
        <p:txBody>
          <a:bodyPr wrap="square" lIns="0" tIns="0" rIns="0" bIns="0" rtlCol="0" anchor="t"/>
          <a:lstStyle/>
          <a:p>
            <a:pPr indent="0" marL="0">
              <a:buNone/>
            </a:pPr>
            <a:r>
              <a:rPr lang="en-US" sz="950" i="1" dirty="0">
                <a:solidFill>
                  <a:srgbClr val="8B9AB3"/>
                </a:solidFill>
                <a:latin typeface="Calibri" pitchFamily="34" charset="0"/>
                <a:ea typeface="Calibri" pitchFamily="34" charset="-122"/>
                <a:cs typeface="Calibri" pitchFamily="34" charset="-120"/>
              </a:rPr>
              <a:t>Immediate PCP alert within 48h. Full care coordination. Highest-ROI outreach.</a:t>
            </a:r>
            <a:endParaRPr lang="en-US" sz="950" dirty="0"/>
          </a:p>
        </p:txBody>
      </p:sp>
      <p:sp>
        <p:nvSpPr>
          <p:cNvPr id="14" name="Shape 12"/>
          <p:cNvSpPr/>
          <p:nvPr/>
        </p:nvSpPr>
        <p:spPr>
          <a:xfrm>
            <a:off x="3429000" y="4023360"/>
            <a:ext cx="2606040" cy="2286000"/>
          </a:xfrm>
          <a:prstGeom prst="rect">
            <a:avLst/>
          </a:prstGeom>
          <a:solidFill>
            <a:srgbClr val="151B2C"/>
          </a:solidFill>
          <a:ln w="9525">
            <a:solidFill>
              <a:srgbClr val="2D3A54"/>
            </a:solidFill>
            <a:prstDash val="solid"/>
          </a:ln>
        </p:spPr>
      </p:sp>
      <p:sp>
        <p:nvSpPr>
          <p:cNvPr id="15" name="Shape 13"/>
          <p:cNvSpPr/>
          <p:nvPr/>
        </p:nvSpPr>
        <p:spPr>
          <a:xfrm>
            <a:off x="3429000" y="4023360"/>
            <a:ext cx="54864" cy="2286000"/>
          </a:xfrm>
          <a:prstGeom prst="rect">
            <a:avLst/>
          </a:prstGeom>
          <a:solidFill>
            <a:srgbClr val="F4C060"/>
          </a:solidFill>
          <a:ln/>
        </p:spPr>
      </p:sp>
      <p:sp>
        <p:nvSpPr>
          <p:cNvPr id="16" name="Text 14"/>
          <p:cNvSpPr/>
          <p:nvPr/>
        </p:nvSpPr>
        <p:spPr>
          <a:xfrm>
            <a:off x="3657600" y="4206240"/>
            <a:ext cx="224028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TIER 02</a:t>
            </a:r>
            <a:endParaRPr lang="en-US" sz="900" dirty="0"/>
          </a:p>
        </p:txBody>
      </p:sp>
      <p:sp>
        <p:nvSpPr>
          <p:cNvPr id="17" name="Text 15"/>
          <p:cNvSpPr/>
          <p:nvPr/>
        </p:nvSpPr>
        <p:spPr>
          <a:xfrm>
            <a:off x="3657600" y="4462272"/>
            <a:ext cx="2240280" cy="365760"/>
          </a:xfrm>
          <a:prstGeom prst="rect">
            <a:avLst/>
          </a:prstGeom>
          <a:noFill/>
          <a:ln/>
        </p:spPr>
        <p:txBody>
          <a:bodyPr wrap="square" lIns="0" tIns="0" rIns="0" bIns="0" rtlCol="0" anchor="ctr"/>
          <a:lstStyle/>
          <a:p>
            <a:pPr indent="0" marL="0">
              <a:buNone/>
            </a:pPr>
            <a:r>
              <a:rPr lang="en-US" sz="1500" b="1" spc="200" kern="0" dirty="0">
                <a:solidFill>
                  <a:srgbClr val="F4C060"/>
                </a:solidFill>
                <a:latin typeface="Consolas" pitchFamily="34" charset="0"/>
                <a:ea typeface="Consolas" pitchFamily="34" charset="-122"/>
                <a:cs typeface="Consolas" pitchFamily="34" charset="-120"/>
              </a:rPr>
              <a:t>SUPPORT NEEDED</a:t>
            </a:r>
            <a:endParaRPr lang="en-US" sz="1500" dirty="0"/>
          </a:p>
        </p:txBody>
      </p:sp>
      <p:sp>
        <p:nvSpPr>
          <p:cNvPr id="18" name="Shape 16"/>
          <p:cNvSpPr/>
          <p:nvPr/>
        </p:nvSpPr>
        <p:spPr>
          <a:xfrm>
            <a:off x="3657600" y="4919472"/>
            <a:ext cx="365760" cy="0"/>
          </a:xfrm>
          <a:prstGeom prst="line">
            <a:avLst/>
          </a:prstGeom>
          <a:noFill/>
          <a:ln w="12700">
            <a:solidFill>
              <a:srgbClr val="F4C060"/>
            </a:solidFill>
            <a:prstDash val="solid"/>
          </a:ln>
        </p:spPr>
      </p:sp>
      <p:sp>
        <p:nvSpPr>
          <p:cNvPr id="19" name="Text 17"/>
          <p:cNvSpPr/>
          <p:nvPr/>
        </p:nvSpPr>
        <p:spPr>
          <a:xfrm>
            <a:off x="3657600" y="5029200"/>
            <a:ext cx="2240280" cy="640080"/>
          </a:xfrm>
          <a:prstGeom prst="rect">
            <a:avLst/>
          </a:prstGeom>
          <a:noFill/>
          <a:ln/>
        </p:spPr>
        <p:txBody>
          <a:bodyPr wrap="square" lIns="0" tIns="0" rIns="0" bIns="0" rtlCol="0" anchor="t"/>
          <a:lstStyle/>
          <a:p>
            <a:pPr indent="0" marL="0">
              <a:buNone/>
            </a:pPr>
            <a:r>
              <a:rPr lang="en-US" sz="1000" b="1" dirty="0">
                <a:solidFill>
                  <a:srgbClr val="E8ECF5"/>
                </a:solidFill>
                <a:latin typeface="Calibri" pitchFamily="34" charset="0"/>
                <a:ea typeface="Calibri" pitchFamily="34" charset="-122"/>
                <a:cs typeface="Calibri" pitchFamily="34" charset="-120"/>
              </a:rPr>
              <a:t>High FCS</a:t>
            </a:r>
            <a:endParaRPr lang="en-US" sz="1000" dirty="0"/>
          </a:p>
          <a:p>
            <a:pPr indent="0" marL="0">
              <a:buNone/>
            </a:pPr>
            <a:r>
              <a:rPr lang="en-US" sz="1000" b="1" dirty="0">
                <a:solidFill>
                  <a:srgbClr val="E8ECF5"/>
                </a:solidFill>
                <a:latin typeface="Calibri" pitchFamily="34" charset="0"/>
                <a:ea typeface="Calibri" pitchFamily="34" charset="-122"/>
                <a:cs typeface="Calibri" pitchFamily="34" charset="-120"/>
              </a:rPr>
              <a:t>Low EDRS</a:t>
            </a:r>
            <a:endParaRPr lang="en-US" sz="1000" dirty="0"/>
          </a:p>
          <a:p>
            <a:pPr indent="0" marL="0">
              <a:buNone/>
            </a:pPr>
            <a:r>
              <a:rPr lang="en-US" sz="1000" b="1" dirty="0">
                <a:solidFill>
                  <a:srgbClr val="E8ECF5"/>
                </a:solidFill>
                <a:latin typeface="Calibri" pitchFamily="34" charset="0"/>
                <a:ea typeface="Calibri" pitchFamily="34" charset="-122"/>
                <a:cs typeface="Calibri" pitchFamily="34" charset="-120"/>
              </a:rPr>
              <a:t>High NCRS</a:t>
            </a:r>
            <a:endParaRPr lang="en-US" sz="1000" dirty="0"/>
          </a:p>
        </p:txBody>
      </p:sp>
      <p:sp>
        <p:nvSpPr>
          <p:cNvPr id="20" name="Text 18"/>
          <p:cNvSpPr/>
          <p:nvPr/>
        </p:nvSpPr>
        <p:spPr>
          <a:xfrm>
            <a:off x="3657600" y="5715000"/>
            <a:ext cx="2240280" cy="502920"/>
          </a:xfrm>
          <a:prstGeom prst="rect">
            <a:avLst/>
          </a:prstGeom>
          <a:noFill/>
          <a:ln/>
        </p:spPr>
        <p:txBody>
          <a:bodyPr wrap="square" lIns="0" tIns="0" rIns="0" bIns="0" rtlCol="0" anchor="t"/>
          <a:lstStyle/>
          <a:p>
            <a:pPr indent="0" marL="0">
              <a:buNone/>
            </a:pPr>
            <a:r>
              <a:rPr lang="en-US" sz="950" i="1" dirty="0">
                <a:solidFill>
                  <a:srgbClr val="8B9AB3"/>
                </a:solidFill>
                <a:latin typeface="Calibri" pitchFamily="34" charset="0"/>
                <a:ea typeface="Calibri" pitchFamily="34" charset="-122"/>
                <a:cs typeface="Calibri" pitchFamily="34" charset="-120"/>
              </a:rPr>
              <a:t>Care manager / CHW first. Transport, in-home DXA. Member outreach before provider.</a:t>
            </a:r>
            <a:endParaRPr lang="en-US" sz="950" dirty="0"/>
          </a:p>
        </p:txBody>
      </p:sp>
      <p:sp>
        <p:nvSpPr>
          <p:cNvPr id="21" name="Shape 19"/>
          <p:cNvSpPr/>
          <p:nvPr/>
        </p:nvSpPr>
        <p:spPr>
          <a:xfrm>
            <a:off x="6126480" y="4023360"/>
            <a:ext cx="2606040" cy="2286000"/>
          </a:xfrm>
          <a:prstGeom prst="rect">
            <a:avLst/>
          </a:prstGeom>
          <a:solidFill>
            <a:srgbClr val="151B2C"/>
          </a:solidFill>
          <a:ln w="9525">
            <a:solidFill>
              <a:srgbClr val="2D3A54"/>
            </a:solidFill>
            <a:prstDash val="solid"/>
          </a:ln>
        </p:spPr>
      </p:sp>
      <p:sp>
        <p:nvSpPr>
          <p:cNvPr id="22" name="Shape 20"/>
          <p:cNvSpPr/>
          <p:nvPr/>
        </p:nvSpPr>
        <p:spPr>
          <a:xfrm>
            <a:off x="6126480" y="4023360"/>
            <a:ext cx="54864" cy="2286000"/>
          </a:xfrm>
          <a:prstGeom prst="rect">
            <a:avLst/>
          </a:prstGeom>
          <a:solidFill>
            <a:srgbClr val="A58EF7"/>
          </a:solidFill>
          <a:ln/>
        </p:spPr>
      </p:sp>
      <p:sp>
        <p:nvSpPr>
          <p:cNvPr id="23" name="Text 21"/>
          <p:cNvSpPr/>
          <p:nvPr/>
        </p:nvSpPr>
        <p:spPr>
          <a:xfrm>
            <a:off x="6355080" y="4206240"/>
            <a:ext cx="224028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TIER 03</a:t>
            </a:r>
            <a:endParaRPr lang="en-US" sz="900" dirty="0"/>
          </a:p>
        </p:txBody>
      </p:sp>
      <p:sp>
        <p:nvSpPr>
          <p:cNvPr id="24" name="Text 22"/>
          <p:cNvSpPr/>
          <p:nvPr/>
        </p:nvSpPr>
        <p:spPr>
          <a:xfrm>
            <a:off x="6355080" y="4462272"/>
            <a:ext cx="2240280" cy="365760"/>
          </a:xfrm>
          <a:prstGeom prst="rect">
            <a:avLst/>
          </a:prstGeom>
          <a:noFill/>
          <a:ln/>
        </p:spPr>
        <p:txBody>
          <a:bodyPr wrap="square" lIns="0" tIns="0" rIns="0" bIns="0" rtlCol="0" anchor="ctr"/>
          <a:lstStyle/>
          <a:p>
            <a:pPr indent="0" marL="0">
              <a:buNone/>
            </a:pPr>
            <a:r>
              <a:rPr lang="en-US" sz="1500" b="1" spc="200" kern="0" dirty="0">
                <a:solidFill>
                  <a:srgbClr val="A58EF7"/>
                </a:solidFill>
                <a:latin typeface="Consolas" pitchFamily="34" charset="0"/>
                <a:ea typeface="Consolas" pitchFamily="34" charset="-122"/>
                <a:cs typeface="Consolas" pitchFamily="34" charset="-120"/>
              </a:rPr>
              <a:t>MONITOR</a:t>
            </a:r>
            <a:endParaRPr lang="en-US" sz="1500" dirty="0"/>
          </a:p>
        </p:txBody>
      </p:sp>
      <p:sp>
        <p:nvSpPr>
          <p:cNvPr id="25" name="Shape 23"/>
          <p:cNvSpPr/>
          <p:nvPr/>
        </p:nvSpPr>
        <p:spPr>
          <a:xfrm>
            <a:off x="6355080" y="4919472"/>
            <a:ext cx="365760" cy="0"/>
          </a:xfrm>
          <a:prstGeom prst="line">
            <a:avLst/>
          </a:prstGeom>
          <a:noFill/>
          <a:ln w="12700">
            <a:solidFill>
              <a:srgbClr val="A58EF7"/>
            </a:solidFill>
            <a:prstDash val="solid"/>
          </a:ln>
        </p:spPr>
      </p:sp>
      <p:sp>
        <p:nvSpPr>
          <p:cNvPr id="26" name="Text 24"/>
          <p:cNvSpPr/>
          <p:nvPr/>
        </p:nvSpPr>
        <p:spPr>
          <a:xfrm>
            <a:off x="6355080" y="5029200"/>
            <a:ext cx="2240280" cy="640080"/>
          </a:xfrm>
          <a:prstGeom prst="rect">
            <a:avLst/>
          </a:prstGeom>
          <a:noFill/>
          <a:ln/>
        </p:spPr>
        <p:txBody>
          <a:bodyPr wrap="square" lIns="0" tIns="0" rIns="0" bIns="0" rtlCol="0" anchor="t"/>
          <a:lstStyle/>
          <a:p>
            <a:pPr indent="0" marL="0">
              <a:buNone/>
            </a:pPr>
            <a:r>
              <a:rPr lang="en-US" sz="1000" b="1" dirty="0">
                <a:solidFill>
                  <a:srgbClr val="E8ECF5"/>
                </a:solidFill>
                <a:latin typeface="Calibri" pitchFamily="34" charset="0"/>
                <a:ea typeface="Calibri" pitchFamily="34" charset="-122"/>
                <a:cs typeface="Calibri" pitchFamily="34" charset="-120"/>
              </a:rPr>
              <a:t>High FCS</a:t>
            </a:r>
            <a:endParaRPr lang="en-US" sz="1000" dirty="0"/>
          </a:p>
          <a:p>
            <a:pPr indent="0" marL="0">
              <a:buNone/>
            </a:pPr>
            <a:r>
              <a:rPr lang="en-US" sz="1000" b="1" dirty="0">
                <a:solidFill>
                  <a:srgbClr val="E8ECF5"/>
                </a:solidFill>
                <a:latin typeface="Calibri" pitchFamily="34" charset="0"/>
                <a:ea typeface="Calibri" pitchFamily="34" charset="-122"/>
                <a:cs typeface="Calibri" pitchFamily="34" charset="-120"/>
              </a:rPr>
              <a:t>Moderate-high EDRS</a:t>
            </a:r>
            <a:endParaRPr lang="en-US" sz="1000" dirty="0"/>
          </a:p>
        </p:txBody>
      </p:sp>
      <p:sp>
        <p:nvSpPr>
          <p:cNvPr id="27" name="Text 25"/>
          <p:cNvSpPr/>
          <p:nvPr/>
        </p:nvSpPr>
        <p:spPr>
          <a:xfrm>
            <a:off x="6355080" y="5715000"/>
            <a:ext cx="2240280" cy="502920"/>
          </a:xfrm>
          <a:prstGeom prst="rect">
            <a:avLst/>
          </a:prstGeom>
          <a:noFill/>
          <a:ln/>
        </p:spPr>
        <p:txBody>
          <a:bodyPr wrap="square" lIns="0" tIns="0" rIns="0" bIns="0" rtlCol="0" anchor="t"/>
          <a:lstStyle/>
          <a:p>
            <a:pPr indent="0" marL="0">
              <a:buNone/>
            </a:pPr>
            <a:r>
              <a:rPr lang="en-US" sz="950" i="1" dirty="0">
                <a:solidFill>
                  <a:srgbClr val="8B9AB3"/>
                </a:solidFill>
                <a:latin typeface="Calibri" pitchFamily="34" charset="0"/>
                <a:ea typeface="Calibri" pitchFamily="34" charset="-122"/>
                <a:cs typeface="Calibri" pitchFamily="34" charset="-120"/>
              </a:rPr>
              <a:t>90-day hold on messaging. Re-score monthly. Fire only if exclusions don't develop.</a:t>
            </a:r>
            <a:endParaRPr lang="en-US" sz="950" dirty="0"/>
          </a:p>
        </p:txBody>
      </p:sp>
      <p:sp>
        <p:nvSpPr>
          <p:cNvPr id="28" name="Shape 26"/>
          <p:cNvSpPr/>
          <p:nvPr/>
        </p:nvSpPr>
        <p:spPr>
          <a:xfrm>
            <a:off x="8823960" y="4023360"/>
            <a:ext cx="2606040" cy="2286000"/>
          </a:xfrm>
          <a:prstGeom prst="rect">
            <a:avLst/>
          </a:prstGeom>
          <a:solidFill>
            <a:srgbClr val="151B2C"/>
          </a:solidFill>
          <a:ln w="9525">
            <a:solidFill>
              <a:srgbClr val="2D3A54"/>
            </a:solidFill>
            <a:prstDash val="solid"/>
          </a:ln>
        </p:spPr>
      </p:sp>
      <p:sp>
        <p:nvSpPr>
          <p:cNvPr id="29" name="Shape 27"/>
          <p:cNvSpPr/>
          <p:nvPr/>
        </p:nvSpPr>
        <p:spPr>
          <a:xfrm>
            <a:off x="8823960" y="4023360"/>
            <a:ext cx="54864" cy="2286000"/>
          </a:xfrm>
          <a:prstGeom prst="rect">
            <a:avLst/>
          </a:prstGeom>
          <a:solidFill>
            <a:srgbClr val="E06A78"/>
          </a:solidFill>
          <a:ln/>
        </p:spPr>
      </p:sp>
      <p:sp>
        <p:nvSpPr>
          <p:cNvPr id="30" name="Text 28"/>
          <p:cNvSpPr/>
          <p:nvPr/>
        </p:nvSpPr>
        <p:spPr>
          <a:xfrm>
            <a:off x="9052560" y="4206240"/>
            <a:ext cx="224028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TIER 04</a:t>
            </a:r>
            <a:endParaRPr lang="en-US" sz="900" dirty="0"/>
          </a:p>
        </p:txBody>
      </p:sp>
      <p:sp>
        <p:nvSpPr>
          <p:cNvPr id="31" name="Text 29"/>
          <p:cNvSpPr/>
          <p:nvPr/>
        </p:nvSpPr>
        <p:spPr>
          <a:xfrm>
            <a:off x="9052560" y="4462272"/>
            <a:ext cx="2240280" cy="365760"/>
          </a:xfrm>
          <a:prstGeom prst="rect">
            <a:avLst/>
          </a:prstGeom>
          <a:noFill/>
          <a:ln/>
        </p:spPr>
        <p:txBody>
          <a:bodyPr wrap="square" lIns="0" tIns="0" rIns="0" bIns="0" rtlCol="0" anchor="ctr"/>
          <a:lstStyle/>
          <a:p>
            <a:pPr indent="0" marL="0">
              <a:buNone/>
            </a:pPr>
            <a:r>
              <a:rPr lang="en-US" sz="1500" b="1" spc="200" kern="0" dirty="0">
                <a:solidFill>
                  <a:srgbClr val="E06A78"/>
                </a:solidFill>
                <a:latin typeface="Consolas" pitchFamily="34" charset="0"/>
                <a:ea typeface="Consolas" pitchFamily="34" charset="-122"/>
                <a:cs typeface="Consolas" pitchFamily="34" charset="-120"/>
              </a:rPr>
              <a:t>SUPPRESS</a:t>
            </a:r>
            <a:endParaRPr lang="en-US" sz="1500" dirty="0"/>
          </a:p>
        </p:txBody>
      </p:sp>
      <p:sp>
        <p:nvSpPr>
          <p:cNvPr id="32" name="Shape 30"/>
          <p:cNvSpPr/>
          <p:nvPr/>
        </p:nvSpPr>
        <p:spPr>
          <a:xfrm>
            <a:off x="9052560" y="4919472"/>
            <a:ext cx="365760" cy="0"/>
          </a:xfrm>
          <a:prstGeom prst="line">
            <a:avLst/>
          </a:prstGeom>
          <a:noFill/>
          <a:ln w="12700">
            <a:solidFill>
              <a:srgbClr val="E06A78"/>
            </a:solidFill>
            <a:prstDash val="solid"/>
          </a:ln>
        </p:spPr>
      </p:sp>
      <p:sp>
        <p:nvSpPr>
          <p:cNvPr id="33" name="Text 31"/>
          <p:cNvSpPr/>
          <p:nvPr/>
        </p:nvSpPr>
        <p:spPr>
          <a:xfrm>
            <a:off x="9052560" y="5029200"/>
            <a:ext cx="2240280" cy="640080"/>
          </a:xfrm>
          <a:prstGeom prst="rect">
            <a:avLst/>
          </a:prstGeom>
          <a:noFill/>
          <a:ln/>
        </p:spPr>
        <p:txBody>
          <a:bodyPr wrap="square" lIns="0" tIns="0" rIns="0" bIns="0" rtlCol="0" anchor="t"/>
          <a:lstStyle/>
          <a:p>
            <a:pPr indent="0" marL="0">
              <a:buNone/>
            </a:pPr>
            <a:r>
              <a:rPr lang="en-US" sz="1000" b="1" dirty="0">
                <a:solidFill>
                  <a:srgbClr val="E8ECF5"/>
                </a:solidFill>
                <a:latin typeface="Calibri" pitchFamily="34" charset="0"/>
                <a:ea typeface="Calibri" pitchFamily="34" charset="-122"/>
                <a:cs typeface="Calibri" pitchFamily="34" charset="-120"/>
              </a:rPr>
              <a:t>Very high EDRS</a:t>
            </a:r>
            <a:endParaRPr lang="en-US" sz="1000" dirty="0"/>
          </a:p>
          <a:p>
            <a:pPr indent="0" marL="0">
              <a:buNone/>
            </a:pPr>
            <a:r>
              <a:rPr lang="en-US" sz="1000" b="1" dirty="0">
                <a:solidFill>
                  <a:srgbClr val="E8ECF5"/>
                </a:solidFill>
                <a:latin typeface="Calibri" pitchFamily="34" charset="0"/>
                <a:ea typeface="Calibri" pitchFamily="34" charset="-122"/>
                <a:cs typeface="Calibri" pitchFamily="34" charset="-120"/>
              </a:rPr>
              <a:t>or low FCS</a:t>
            </a:r>
            <a:endParaRPr lang="en-US" sz="1000" dirty="0"/>
          </a:p>
        </p:txBody>
      </p:sp>
      <p:sp>
        <p:nvSpPr>
          <p:cNvPr id="34" name="Text 32"/>
          <p:cNvSpPr/>
          <p:nvPr/>
        </p:nvSpPr>
        <p:spPr>
          <a:xfrm>
            <a:off x="9052560" y="5715000"/>
            <a:ext cx="2240280" cy="502920"/>
          </a:xfrm>
          <a:prstGeom prst="rect">
            <a:avLst/>
          </a:prstGeom>
          <a:noFill/>
          <a:ln/>
        </p:spPr>
        <p:txBody>
          <a:bodyPr wrap="square" lIns="0" tIns="0" rIns="0" bIns="0" rtlCol="0" anchor="t"/>
          <a:lstStyle/>
          <a:p>
            <a:pPr indent="0" marL="0">
              <a:buNone/>
            </a:pPr>
            <a:r>
              <a:rPr lang="en-US" sz="950" i="1" dirty="0">
                <a:solidFill>
                  <a:srgbClr val="8B9AB3"/>
                </a:solidFill>
                <a:latin typeface="Calibri" pitchFamily="34" charset="0"/>
                <a:ea typeface="Calibri" pitchFamily="34" charset="-122"/>
                <a:cs typeface="Calibri" pitchFamily="34" charset="-120"/>
              </a:rPr>
              <a:t>No provider outreach. Internal monitoring only. Avoid alert fatigue.</a:t>
            </a:r>
            <a:endParaRPr lang="en-US" sz="950" dirty="0"/>
          </a:p>
        </p:txBody>
      </p:sp>
      <p:sp>
        <p:nvSpPr>
          <p:cNvPr id="35" name="Text 33"/>
          <p:cNvSpPr/>
          <p:nvPr/>
        </p:nvSpPr>
        <p:spPr>
          <a:xfrm>
            <a:off x="457200" y="6492240"/>
            <a:ext cx="3657600" cy="274320"/>
          </a:xfrm>
          <a:prstGeom prst="rect">
            <a:avLst/>
          </a:prstGeom>
          <a:noFill/>
          <a:ln/>
        </p:spPr>
        <p:txBody>
          <a:bodyPr wrap="square" lIns="0" tIns="0" rIns="0" bIns="0" rtlCol="0" anchor="ctr"/>
          <a:lstStyle/>
          <a:p>
            <a:pPr indent="0" marL="0">
              <a:buNone/>
            </a:pPr>
            <a:r>
              <a:rPr lang="en-US" sz="800" spc="300" kern="0" dirty="0">
                <a:solidFill>
                  <a:srgbClr val="5B6AE5"/>
                </a:solidFill>
                <a:latin typeface="Consolas" pitchFamily="34" charset="0"/>
                <a:ea typeface="Consolas" pitchFamily="34" charset="-122"/>
                <a:cs typeface="Consolas" pitchFamily="34" charset="-120"/>
              </a:rPr>
              <a:t>OMW PREDICTIVE TRIAGE</a:t>
            </a:r>
            <a:endParaRPr lang="en-US" sz="800" dirty="0"/>
          </a:p>
        </p:txBody>
      </p:sp>
      <p:sp>
        <p:nvSpPr>
          <p:cNvPr id="36" name="Text 34"/>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800" spc="200" kern="0" dirty="0">
                <a:solidFill>
                  <a:srgbClr val="5B6AE5"/>
                </a:solidFill>
                <a:latin typeface="Consolas" pitchFamily="34" charset="0"/>
                <a:ea typeface="Consolas" pitchFamily="34" charset="-122"/>
                <a:cs typeface="Consolas"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640080" y="411480"/>
            <a:ext cx="7315200" cy="274320"/>
          </a:xfrm>
          <a:prstGeom prst="rect">
            <a:avLst/>
          </a:prstGeom>
          <a:noFill/>
          <a:ln/>
        </p:spPr>
        <p:txBody>
          <a:bodyPr wrap="square" lIns="0" tIns="0" rIns="0" bIns="0" rtlCol="0" anchor="ctr"/>
          <a:lstStyle/>
          <a:p>
            <a:pPr indent="0" marL="0">
              <a:buNone/>
            </a:pPr>
            <a:r>
              <a:rPr lang="en-US" sz="1000" b="1" spc="400" kern="0" dirty="0">
                <a:solidFill>
                  <a:srgbClr val="22D3A5"/>
                </a:solidFill>
                <a:latin typeface="Consolas" pitchFamily="34" charset="0"/>
                <a:ea typeface="Consolas" pitchFamily="34" charset="-122"/>
                <a:cs typeface="Consolas" pitchFamily="34" charset="-120"/>
              </a:rPr>
              <a:t>04  ·  CASE 01 OF 04</a:t>
            </a:r>
            <a:endParaRPr lang="en-US" sz="1000" dirty="0"/>
          </a:p>
        </p:txBody>
      </p:sp>
      <p:sp>
        <p:nvSpPr>
          <p:cNvPr id="3" name="Shape 1"/>
          <p:cNvSpPr/>
          <p:nvPr/>
        </p:nvSpPr>
        <p:spPr>
          <a:xfrm>
            <a:off x="640080" y="731520"/>
            <a:ext cx="1828800" cy="0"/>
          </a:xfrm>
          <a:prstGeom prst="line">
            <a:avLst/>
          </a:prstGeom>
          <a:noFill/>
          <a:ln w="6350">
            <a:solidFill>
              <a:srgbClr val="2D3A54"/>
            </a:solidFill>
            <a:prstDash val="solid"/>
          </a:ln>
        </p:spPr>
      </p:sp>
      <p:sp>
        <p:nvSpPr>
          <p:cNvPr id="4" name="Text 2"/>
          <p:cNvSpPr/>
          <p:nvPr/>
        </p:nvSpPr>
        <p:spPr>
          <a:xfrm>
            <a:off x="640080" y="868680"/>
            <a:ext cx="73152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M-7284   ·   AGE 72   ·   HIP FRACTURE · INPATIENT ADT · ORTHO CONSULT</a:t>
            </a:r>
            <a:endParaRPr lang="en-US" sz="900" dirty="0"/>
          </a:p>
        </p:txBody>
      </p:sp>
      <p:sp>
        <p:nvSpPr>
          <p:cNvPr id="5" name="Text 3"/>
          <p:cNvSpPr/>
          <p:nvPr/>
        </p:nvSpPr>
        <p:spPr>
          <a:xfrm>
            <a:off x="640080" y="1143000"/>
            <a:ext cx="7315200" cy="822960"/>
          </a:xfrm>
          <a:prstGeom prst="rect">
            <a:avLst/>
          </a:prstGeom>
          <a:noFill/>
          <a:ln/>
        </p:spPr>
        <p:txBody>
          <a:bodyPr wrap="square" lIns="0" tIns="0" rIns="0" bIns="0" rtlCol="0" anchor="t"/>
          <a:lstStyle/>
          <a:p>
            <a:pPr indent="0" marL="0">
              <a:buNone/>
            </a:pPr>
            <a:r>
              <a:rPr lang="en-US" sz="4000" dirty="0">
                <a:solidFill>
                  <a:srgbClr val="E8ECF5"/>
                </a:solidFill>
                <a:latin typeface="Georgia" pitchFamily="34" charset="0"/>
                <a:ea typeface="Georgia" pitchFamily="34" charset="-122"/>
                <a:cs typeface="Georgia" pitchFamily="34" charset="-120"/>
              </a:rPr>
              <a:t>Margaret Chen</a:t>
            </a:r>
            <a:endParaRPr lang="en-US" sz="4000" dirty="0"/>
          </a:p>
        </p:txBody>
      </p:sp>
      <p:sp>
        <p:nvSpPr>
          <p:cNvPr id="6" name="Shape 4"/>
          <p:cNvSpPr/>
          <p:nvPr/>
        </p:nvSpPr>
        <p:spPr>
          <a:xfrm>
            <a:off x="8046720" y="868680"/>
            <a:ext cx="3566160" cy="502920"/>
          </a:xfrm>
          <a:prstGeom prst="rect">
            <a:avLst/>
          </a:prstGeom>
          <a:solidFill>
            <a:srgbClr val="0A0E1A"/>
          </a:solidFill>
          <a:ln w="19050">
            <a:solidFill>
              <a:srgbClr val="22D3A5"/>
            </a:solidFill>
            <a:prstDash val="solid"/>
          </a:ln>
        </p:spPr>
      </p:sp>
      <p:sp>
        <p:nvSpPr>
          <p:cNvPr id="7" name="Text 5"/>
          <p:cNvSpPr/>
          <p:nvPr/>
        </p:nvSpPr>
        <p:spPr>
          <a:xfrm>
            <a:off x="8046720" y="868680"/>
            <a:ext cx="3566160" cy="502920"/>
          </a:xfrm>
          <a:prstGeom prst="rect">
            <a:avLst/>
          </a:prstGeom>
          <a:noFill/>
          <a:ln/>
        </p:spPr>
        <p:txBody>
          <a:bodyPr wrap="square" lIns="0" tIns="0" rIns="0" bIns="0" rtlCol="0" anchor="ctr"/>
          <a:lstStyle/>
          <a:p>
            <a:pPr algn="ctr" indent="0" marL="0">
              <a:buNone/>
            </a:pPr>
            <a:r>
              <a:rPr lang="en-US" sz="1200" b="1" spc="300" kern="0" dirty="0">
                <a:solidFill>
                  <a:srgbClr val="22D3A5"/>
                </a:solidFill>
                <a:latin typeface="Consolas" pitchFamily="34" charset="0"/>
                <a:ea typeface="Consolas" pitchFamily="34" charset="-122"/>
                <a:cs typeface="Consolas" pitchFamily="34" charset="-120"/>
              </a:rPr>
              <a:t>TIER 01 · ACT NOW</a:t>
            </a:r>
            <a:endParaRPr lang="en-US" sz="1200" dirty="0"/>
          </a:p>
        </p:txBody>
      </p:sp>
      <p:pic>
        <p:nvPicPr>
          <p:cNvPr id="8" name="Image 0" descr="preencoded.png">    </p:cNvPr>
          <p:cNvPicPr>
            <a:picLocks noChangeAspect="1"/>
          </p:cNvPicPr>
          <p:nvPr/>
        </p:nvPicPr>
        <p:blipFill>
          <a:blip r:embed="rId1"/>
          <a:stretch>
            <a:fillRect/>
          </a:stretch>
        </p:blipFill>
        <p:spPr>
          <a:xfrm>
            <a:off x="10881360" y="1508760"/>
            <a:ext cx="731520" cy="731520"/>
          </a:xfrm>
          <a:prstGeom prst="rect">
            <a:avLst/>
          </a:prstGeom>
        </p:spPr>
      </p:pic>
      <p:sp>
        <p:nvSpPr>
          <p:cNvPr id="9" name="Text 6"/>
          <p:cNvSpPr/>
          <p:nvPr/>
        </p:nvSpPr>
        <p:spPr>
          <a:xfrm>
            <a:off x="640080" y="2194560"/>
            <a:ext cx="530352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SCORE PROFILE</a:t>
            </a:r>
            <a:endParaRPr lang="en-US" sz="900" dirty="0"/>
          </a:p>
        </p:txBody>
      </p:sp>
      <p:sp>
        <p:nvSpPr>
          <p:cNvPr id="10" name="Text 7"/>
          <p:cNvSpPr/>
          <p:nvPr/>
        </p:nvSpPr>
        <p:spPr>
          <a:xfrm>
            <a:off x="640080" y="2514600"/>
            <a:ext cx="640080" cy="274320"/>
          </a:xfrm>
          <a:prstGeom prst="rect">
            <a:avLst/>
          </a:prstGeom>
          <a:noFill/>
          <a:ln/>
        </p:spPr>
        <p:txBody>
          <a:bodyPr wrap="square" lIns="0" tIns="0" rIns="0" bIns="0" rtlCol="0" anchor="ctr"/>
          <a:lstStyle/>
          <a:p>
            <a:pPr indent="0" marL="0">
              <a:buNone/>
            </a:pPr>
            <a:r>
              <a:rPr lang="en-US" sz="1100" b="1" spc="200" kern="0" dirty="0">
                <a:solidFill>
                  <a:srgbClr val="4DD2FF"/>
                </a:solidFill>
                <a:latin typeface="Consolas" pitchFamily="34" charset="0"/>
                <a:ea typeface="Consolas" pitchFamily="34" charset="-122"/>
                <a:cs typeface="Consolas" pitchFamily="34" charset="-120"/>
              </a:rPr>
              <a:t>FCS</a:t>
            </a:r>
            <a:endParaRPr lang="en-US" sz="1100" dirty="0"/>
          </a:p>
        </p:txBody>
      </p:sp>
      <p:sp>
        <p:nvSpPr>
          <p:cNvPr id="11" name="Shape 8"/>
          <p:cNvSpPr/>
          <p:nvPr/>
        </p:nvSpPr>
        <p:spPr>
          <a:xfrm>
            <a:off x="1325880" y="2596896"/>
            <a:ext cx="3931920" cy="128016"/>
          </a:xfrm>
          <a:prstGeom prst="rect">
            <a:avLst/>
          </a:prstGeom>
          <a:solidFill>
            <a:srgbClr val="111827"/>
          </a:solidFill>
          <a:ln/>
        </p:spPr>
      </p:sp>
      <p:sp>
        <p:nvSpPr>
          <p:cNvPr id="12" name="Shape 9"/>
          <p:cNvSpPr/>
          <p:nvPr/>
        </p:nvSpPr>
        <p:spPr>
          <a:xfrm>
            <a:off x="1325880" y="2596896"/>
            <a:ext cx="3617366" cy="128016"/>
          </a:xfrm>
          <a:prstGeom prst="rect">
            <a:avLst/>
          </a:prstGeom>
          <a:solidFill>
            <a:srgbClr val="4DD2FF"/>
          </a:solidFill>
          <a:ln/>
        </p:spPr>
      </p:sp>
      <p:sp>
        <p:nvSpPr>
          <p:cNvPr id="13" name="Text 10"/>
          <p:cNvSpPr/>
          <p:nvPr/>
        </p:nvSpPr>
        <p:spPr>
          <a:xfrm>
            <a:off x="5303520" y="2514600"/>
            <a:ext cx="640080" cy="274320"/>
          </a:xfrm>
          <a:prstGeom prst="rect">
            <a:avLst/>
          </a:prstGeom>
          <a:noFill/>
          <a:ln/>
        </p:spPr>
        <p:txBody>
          <a:bodyPr wrap="square" lIns="0" tIns="0" rIns="0" bIns="0" rtlCol="0" anchor="ctr"/>
          <a:lstStyle/>
          <a:p>
            <a:pPr algn="r" indent="0" marL="0">
              <a:buNone/>
            </a:pPr>
            <a:r>
              <a:rPr lang="en-US" sz="1300" b="1" dirty="0">
                <a:solidFill>
                  <a:srgbClr val="E8ECF5"/>
                </a:solidFill>
                <a:latin typeface="Consolas" pitchFamily="34" charset="0"/>
                <a:ea typeface="Consolas" pitchFamily="34" charset="-122"/>
                <a:cs typeface="Consolas" pitchFamily="34" charset="-120"/>
              </a:rPr>
              <a:t>92</a:t>
            </a:r>
            <a:endParaRPr lang="en-US" sz="1300" dirty="0"/>
          </a:p>
        </p:txBody>
      </p:sp>
      <p:sp>
        <p:nvSpPr>
          <p:cNvPr id="14" name="Text 11"/>
          <p:cNvSpPr/>
          <p:nvPr/>
        </p:nvSpPr>
        <p:spPr>
          <a:xfrm>
            <a:off x="640080" y="2880360"/>
            <a:ext cx="640080" cy="274320"/>
          </a:xfrm>
          <a:prstGeom prst="rect">
            <a:avLst/>
          </a:prstGeom>
          <a:noFill/>
          <a:ln/>
        </p:spPr>
        <p:txBody>
          <a:bodyPr wrap="square" lIns="0" tIns="0" rIns="0" bIns="0" rtlCol="0" anchor="ctr"/>
          <a:lstStyle/>
          <a:p>
            <a:pPr indent="0" marL="0">
              <a:buNone/>
            </a:pPr>
            <a:r>
              <a:rPr lang="en-US" sz="1100" b="1" spc="200" kern="0" dirty="0">
                <a:solidFill>
                  <a:srgbClr val="FF8A65"/>
                </a:solidFill>
                <a:latin typeface="Consolas" pitchFamily="34" charset="0"/>
                <a:ea typeface="Consolas" pitchFamily="34" charset="-122"/>
                <a:cs typeface="Consolas" pitchFamily="34" charset="-120"/>
              </a:rPr>
              <a:t>EDRS</a:t>
            </a:r>
            <a:endParaRPr lang="en-US" sz="1100" dirty="0"/>
          </a:p>
        </p:txBody>
      </p:sp>
      <p:sp>
        <p:nvSpPr>
          <p:cNvPr id="15" name="Shape 12"/>
          <p:cNvSpPr/>
          <p:nvPr/>
        </p:nvSpPr>
        <p:spPr>
          <a:xfrm>
            <a:off x="1325880" y="2962656"/>
            <a:ext cx="3931920" cy="128016"/>
          </a:xfrm>
          <a:prstGeom prst="rect">
            <a:avLst/>
          </a:prstGeom>
          <a:solidFill>
            <a:srgbClr val="111827"/>
          </a:solidFill>
          <a:ln/>
        </p:spPr>
      </p:sp>
      <p:sp>
        <p:nvSpPr>
          <p:cNvPr id="16" name="Shape 13"/>
          <p:cNvSpPr/>
          <p:nvPr/>
        </p:nvSpPr>
        <p:spPr>
          <a:xfrm>
            <a:off x="1325880" y="2962656"/>
            <a:ext cx="707746" cy="128016"/>
          </a:xfrm>
          <a:prstGeom prst="rect">
            <a:avLst/>
          </a:prstGeom>
          <a:solidFill>
            <a:srgbClr val="FF8A65"/>
          </a:solidFill>
          <a:ln/>
        </p:spPr>
      </p:sp>
      <p:sp>
        <p:nvSpPr>
          <p:cNvPr id="17" name="Text 14"/>
          <p:cNvSpPr/>
          <p:nvPr/>
        </p:nvSpPr>
        <p:spPr>
          <a:xfrm>
            <a:off x="5303520" y="2880360"/>
            <a:ext cx="640080" cy="274320"/>
          </a:xfrm>
          <a:prstGeom prst="rect">
            <a:avLst/>
          </a:prstGeom>
          <a:noFill/>
          <a:ln/>
        </p:spPr>
        <p:txBody>
          <a:bodyPr wrap="square" lIns="0" tIns="0" rIns="0" bIns="0" rtlCol="0" anchor="ctr"/>
          <a:lstStyle/>
          <a:p>
            <a:pPr algn="r" indent="0" marL="0">
              <a:buNone/>
            </a:pPr>
            <a:r>
              <a:rPr lang="en-US" sz="1300" b="1" dirty="0">
                <a:solidFill>
                  <a:srgbClr val="E8ECF5"/>
                </a:solidFill>
                <a:latin typeface="Consolas" pitchFamily="34" charset="0"/>
                <a:ea typeface="Consolas" pitchFamily="34" charset="-122"/>
                <a:cs typeface="Consolas" pitchFamily="34" charset="-120"/>
              </a:rPr>
              <a:t>18</a:t>
            </a:r>
            <a:endParaRPr lang="en-US" sz="1300" dirty="0"/>
          </a:p>
        </p:txBody>
      </p:sp>
      <p:sp>
        <p:nvSpPr>
          <p:cNvPr id="18" name="Text 15"/>
          <p:cNvSpPr/>
          <p:nvPr/>
        </p:nvSpPr>
        <p:spPr>
          <a:xfrm>
            <a:off x="640080" y="3246120"/>
            <a:ext cx="640080" cy="274320"/>
          </a:xfrm>
          <a:prstGeom prst="rect">
            <a:avLst/>
          </a:prstGeom>
          <a:noFill/>
          <a:ln/>
        </p:spPr>
        <p:txBody>
          <a:bodyPr wrap="square" lIns="0" tIns="0" rIns="0" bIns="0" rtlCol="0" anchor="ctr"/>
          <a:lstStyle/>
          <a:p>
            <a:pPr indent="0" marL="0">
              <a:buNone/>
            </a:pPr>
            <a:r>
              <a:rPr lang="en-US" sz="1100" b="1" spc="200" kern="0" dirty="0">
                <a:solidFill>
                  <a:srgbClr val="C4B5FD"/>
                </a:solidFill>
                <a:latin typeface="Consolas" pitchFamily="34" charset="0"/>
                <a:ea typeface="Consolas" pitchFamily="34" charset="-122"/>
                <a:cs typeface="Consolas" pitchFamily="34" charset="-120"/>
              </a:rPr>
              <a:t>NCRS</a:t>
            </a:r>
            <a:endParaRPr lang="en-US" sz="1100" dirty="0"/>
          </a:p>
        </p:txBody>
      </p:sp>
      <p:sp>
        <p:nvSpPr>
          <p:cNvPr id="19" name="Shape 16"/>
          <p:cNvSpPr/>
          <p:nvPr/>
        </p:nvSpPr>
        <p:spPr>
          <a:xfrm>
            <a:off x="1325880" y="3328416"/>
            <a:ext cx="3931920" cy="128016"/>
          </a:xfrm>
          <a:prstGeom prst="rect">
            <a:avLst/>
          </a:prstGeom>
          <a:solidFill>
            <a:srgbClr val="111827"/>
          </a:solidFill>
          <a:ln/>
        </p:spPr>
      </p:sp>
      <p:sp>
        <p:nvSpPr>
          <p:cNvPr id="20" name="Shape 17"/>
          <p:cNvSpPr/>
          <p:nvPr/>
        </p:nvSpPr>
        <p:spPr>
          <a:xfrm>
            <a:off x="1325880" y="3328416"/>
            <a:ext cx="943661" cy="128016"/>
          </a:xfrm>
          <a:prstGeom prst="rect">
            <a:avLst/>
          </a:prstGeom>
          <a:solidFill>
            <a:srgbClr val="C4B5FD"/>
          </a:solidFill>
          <a:ln/>
        </p:spPr>
      </p:sp>
      <p:sp>
        <p:nvSpPr>
          <p:cNvPr id="21" name="Text 18"/>
          <p:cNvSpPr/>
          <p:nvPr/>
        </p:nvSpPr>
        <p:spPr>
          <a:xfrm>
            <a:off x="5303520" y="3246120"/>
            <a:ext cx="640080" cy="274320"/>
          </a:xfrm>
          <a:prstGeom prst="rect">
            <a:avLst/>
          </a:prstGeom>
          <a:noFill/>
          <a:ln/>
        </p:spPr>
        <p:txBody>
          <a:bodyPr wrap="square" lIns="0" tIns="0" rIns="0" bIns="0" rtlCol="0" anchor="ctr"/>
          <a:lstStyle/>
          <a:p>
            <a:pPr algn="r" indent="0" marL="0">
              <a:buNone/>
            </a:pPr>
            <a:r>
              <a:rPr lang="en-US" sz="1300" b="1" dirty="0">
                <a:solidFill>
                  <a:srgbClr val="E8ECF5"/>
                </a:solidFill>
                <a:latin typeface="Consolas" pitchFamily="34" charset="0"/>
                <a:ea typeface="Consolas" pitchFamily="34" charset="-122"/>
                <a:cs typeface="Consolas" pitchFamily="34" charset="-120"/>
              </a:rPr>
              <a:t>24</a:t>
            </a:r>
            <a:endParaRPr lang="en-US" sz="1300" dirty="0"/>
          </a:p>
        </p:txBody>
      </p:sp>
      <p:sp>
        <p:nvSpPr>
          <p:cNvPr id="22" name="Shape 19"/>
          <p:cNvSpPr/>
          <p:nvPr/>
        </p:nvSpPr>
        <p:spPr>
          <a:xfrm>
            <a:off x="640080" y="3794760"/>
            <a:ext cx="5303520" cy="914400"/>
          </a:xfrm>
          <a:prstGeom prst="rect">
            <a:avLst/>
          </a:prstGeom>
          <a:solidFill>
            <a:srgbClr val="111827"/>
          </a:solidFill>
          <a:ln w="9525">
            <a:solidFill>
              <a:srgbClr val="22D3A5"/>
            </a:solidFill>
            <a:prstDash val="solid"/>
          </a:ln>
        </p:spPr>
      </p:sp>
      <p:sp>
        <p:nvSpPr>
          <p:cNvPr id="23" name="Text 20"/>
          <p:cNvSpPr/>
          <p:nvPr/>
        </p:nvSpPr>
        <p:spPr>
          <a:xfrm>
            <a:off x="868680" y="3904488"/>
            <a:ext cx="228600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OPPORTUNITY SCORE</a:t>
            </a:r>
            <a:endParaRPr lang="en-US" sz="900" dirty="0"/>
          </a:p>
        </p:txBody>
      </p:sp>
      <p:sp>
        <p:nvSpPr>
          <p:cNvPr id="24" name="Text 21"/>
          <p:cNvSpPr/>
          <p:nvPr/>
        </p:nvSpPr>
        <p:spPr>
          <a:xfrm>
            <a:off x="868680" y="4069080"/>
            <a:ext cx="4846320" cy="594360"/>
          </a:xfrm>
          <a:prstGeom prst="rect">
            <a:avLst/>
          </a:prstGeom>
          <a:noFill/>
          <a:ln/>
        </p:spPr>
        <p:txBody>
          <a:bodyPr wrap="square" lIns="0" tIns="0" rIns="0" bIns="0" rtlCol="0" anchor="ctr"/>
          <a:lstStyle/>
          <a:p>
            <a:pPr indent="0" marL="0">
              <a:buNone/>
            </a:pPr>
            <a:r>
              <a:rPr lang="en-US" sz="4400" dirty="0">
                <a:solidFill>
                  <a:srgbClr val="22D3A5"/>
                </a:solidFill>
                <a:latin typeface="Georgia" pitchFamily="34" charset="0"/>
                <a:ea typeface="Georgia" pitchFamily="34" charset="-122"/>
                <a:cs typeface="Georgia" pitchFamily="34" charset="-120"/>
              </a:rPr>
              <a:t>57</a:t>
            </a:r>
            <a:pPr indent="0" marL="0">
              <a:buNone/>
            </a:pPr>
            <a:r>
              <a:rPr lang="en-US" sz="1600" dirty="0">
                <a:solidFill>
                  <a:srgbClr val="5B6AE5"/>
                </a:solidFill>
                <a:latin typeface="Georgia" pitchFamily="34" charset="0"/>
                <a:ea typeface="Georgia" pitchFamily="34" charset="-122"/>
                <a:cs typeface="Georgia" pitchFamily="34" charset="-120"/>
              </a:rPr>
              <a:t>/100</a:t>
            </a:r>
            <a:endParaRPr lang="en-US" sz="4400" dirty="0"/>
          </a:p>
        </p:txBody>
      </p:sp>
      <p:sp>
        <p:nvSpPr>
          <p:cNvPr id="25" name="Text 22"/>
          <p:cNvSpPr/>
          <p:nvPr/>
        </p:nvSpPr>
        <p:spPr>
          <a:xfrm>
            <a:off x="640080" y="4892040"/>
            <a:ext cx="530352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KEY SIGNALS</a:t>
            </a:r>
            <a:endParaRPr lang="en-US" sz="900" dirty="0"/>
          </a:p>
        </p:txBody>
      </p:sp>
      <p:sp>
        <p:nvSpPr>
          <p:cNvPr id="26" name="Shape 23"/>
          <p:cNvSpPr/>
          <p:nvPr/>
        </p:nvSpPr>
        <p:spPr>
          <a:xfrm>
            <a:off x="640080" y="5239512"/>
            <a:ext cx="73152" cy="73152"/>
          </a:xfrm>
          <a:prstGeom prst="ellipse">
            <a:avLst/>
          </a:prstGeom>
          <a:solidFill>
            <a:srgbClr val="4DD2FF"/>
          </a:solidFill>
          <a:ln/>
        </p:spPr>
      </p:sp>
      <p:sp>
        <p:nvSpPr>
          <p:cNvPr id="27" name="Text 24"/>
          <p:cNvSpPr/>
          <p:nvPr/>
        </p:nvSpPr>
        <p:spPr>
          <a:xfrm>
            <a:off x="822960" y="5166360"/>
            <a:ext cx="13716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SITE</a:t>
            </a:r>
            <a:endParaRPr lang="en-US" sz="900" dirty="0"/>
          </a:p>
        </p:txBody>
      </p:sp>
      <p:sp>
        <p:nvSpPr>
          <p:cNvPr id="28" name="Text 25"/>
          <p:cNvSpPr/>
          <p:nvPr/>
        </p:nvSpPr>
        <p:spPr>
          <a:xfrm>
            <a:off x="2194560" y="5166360"/>
            <a:ext cx="3657600" cy="228600"/>
          </a:xfrm>
          <a:prstGeom prst="rect">
            <a:avLst/>
          </a:prstGeom>
          <a:noFill/>
          <a:ln/>
        </p:spPr>
        <p:txBody>
          <a:bodyPr wrap="square" lIns="0" tIns="0" rIns="0" bIns="0" rtlCol="0" anchor="ctr"/>
          <a:lstStyle/>
          <a:p>
            <a:pPr indent="0" marL="0">
              <a:buNone/>
            </a:pPr>
            <a:r>
              <a:rPr lang="en-US" sz="1050" dirty="0">
                <a:solidFill>
                  <a:srgbClr val="E8ECF5"/>
                </a:solidFill>
                <a:latin typeface="Calibri" pitchFamily="34" charset="0"/>
                <a:ea typeface="Calibri" pitchFamily="34" charset="-122"/>
                <a:cs typeface="Calibri" pitchFamily="34" charset="-120"/>
              </a:rPr>
              <a:t>Femoral neck</a:t>
            </a:r>
            <a:endParaRPr lang="en-US" sz="1050" dirty="0"/>
          </a:p>
        </p:txBody>
      </p:sp>
      <p:sp>
        <p:nvSpPr>
          <p:cNvPr id="29" name="Shape 26"/>
          <p:cNvSpPr/>
          <p:nvPr/>
        </p:nvSpPr>
        <p:spPr>
          <a:xfrm>
            <a:off x="640080" y="5468112"/>
            <a:ext cx="73152" cy="73152"/>
          </a:xfrm>
          <a:prstGeom prst="ellipse">
            <a:avLst/>
          </a:prstGeom>
          <a:solidFill>
            <a:srgbClr val="4DD2FF"/>
          </a:solidFill>
          <a:ln/>
        </p:spPr>
      </p:sp>
      <p:sp>
        <p:nvSpPr>
          <p:cNvPr id="30" name="Text 27"/>
          <p:cNvSpPr/>
          <p:nvPr/>
        </p:nvSpPr>
        <p:spPr>
          <a:xfrm>
            <a:off x="822960" y="5394960"/>
            <a:ext cx="13716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SIGNAL</a:t>
            </a:r>
            <a:endParaRPr lang="en-US" sz="900" dirty="0"/>
          </a:p>
        </p:txBody>
      </p:sp>
      <p:sp>
        <p:nvSpPr>
          <p:cNvPr id="31" name="Text 28"/>
          <p:cNvSpPr/>
          <p:nvPr/>
        </p:nvSpPr>
        <p:spPr>
          <a:xfrm>
            <a:off x="2194560" y="5394960"/>
            <a:ext cx="3657600" cy="228600"/>
          </a:xfrm>
          <a:prstGeom prst="rect">
            <a:avLst/>
          </a:prstGeom>
          <a:noFill/>
          <a:ln/>
        </p:spPr>
        <p:txBody>
          <a:bodyPr wrap="square" lIns="0" tIns="0" rIns="0" bIns="0" rtlCol="0" anchor="ctr"/>
          <a:lstStyle/>
          <a:p>
            <a:pPr indent="0" marL="0">
              <a:buNone/>
            </a:pPr>
            <a:r>
              <a:rPr lang="en-US" sz="1050" dirty="0">
                <a:solidFill>
                  <a:srgbClr val="E8ECF5"/>
                </a:solidFill>
                <a:latin typeface="Calibri" pitchFamily="34" charset="0"/>
                <a:ea typeface="Calibri" pitchFamily="34" charset="-122"/>
                <a:cs typeface="Calibri" pitchFamily="34" charset="-120"/>
              </a:rPr>
              <a:t>Inpatient ADT + ortho consult</a:t>
            </a:r>
            <a:endParaRPr lang="en-US" sz="1050" dirty="0"/>
          </a:p>
        </p:txBody>
      </p:sp>
      <p:sp>
        <p:nvSpPr>
          <p:cNvPr id="32" name="Shape 29"/>
          <p:cNvSpPr/>
          <p:nvPr/>
        </p:nvSpPr>
        <p:spPr>
          <a:xfrm>
            <a:off x="640080" y="5696712"/>
            <a:ext cx="73152" cy="73152"/>
          </a:xfrm>
          <a:prstGeom prst="ellipse">
            <a:avLst/>
          </a:prstGeom>
          <a:solidFill>
            <a:srgbClr val="FF8A65"/>
          </a:solidFill>
          <a:ln/>
        </p:spPr>
      </p:sp>
      <p:sp>
        <p:nvSpPr>
          <p:cNvPr id="33" name="Text 30"/>
          <p:cNvSpPr/>
          <p:nvPr/>
        </p:nvSpPr>
        <p:spPr>
          <a:xfrm>
            <a:off x="822960" y="5623560"/>
            <a:ext cx="13716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HFRS</a:t>
            </a:r>
            <a:endParaRPr lang="en-US" sz="900" dirty="0"/>
          </a:p>
        </p:txBody>
      </p:sp>
      <p:sp>
        <p:nvSpPr>
          <p:cNvPr id="34" name="Text 31"/>
          <p:cNvSpPr/>
          <p:nvPr/>
        </p:nvSpPr>
        <p:spPr>
          <a:xfrm>
            <a:off x="2194560" y="5623560"/>
            <a:ext cx="3657600" cy="228600"/>
          </a:xfrm>
          <a:prstGeom prst="rect">
            <a:avLst/>
          </a:prstGeom>
          <a:noFill/>
          <a:ln/>
        </p:spPr>
        <p:txBody>
          <a:bodyPr wrap="square" lIns="0" tIns="0" rIns="0" bIns="0" rtlCol="0" anchor="ctr"/>
          <a:lstStyle/>
          <a:p>
            <a:pPr indent="0" marL="0">
              <a:buNone/>
            </a:pPr>
            <a:r>
              <a:rPr lang="en-US" sz="1050" dirty="0">
                <a:solidFill>
                  <a:srgbClr val="E8ECF5"/>
                </a:solidFill>
                <a:latin typeface="Calibri" pitchFamily="34" charset="0"/>
                <a:ea typeface="Calibri" pitchFamily="34" charset="-122"/>
                <a:cs typeface="Calibri" pitchFamily="34" charset="-120"/>
              </a:rPr>
              <a:t>3 (low frailty)</a:t>
            </a:r>
            <a:endParaRPr lang="en-US" sz="1050" dirty="0"/>
          </a:p>
        </p:txBody>
      </p:sp>
      <p:sp>
        <p:nvSpPr>
          <p:cNvPr id="35" name="Shape 32"/>
          <p:cNvSpPr/>
          <p:nvPr/>
        </p:nvSpPr>
        <p:spPr>
          <a:xfrm>
            <a:off x="640080" y="5925312"/>
            <a:ext cx="73152" cy="73152"/>
          </a:xfrm>
          <a:prstGeom prst="ellipse">
            <a:avLst/>
          </a:prstGeom>
          <a:solidFill>
            <a:srgbClr val="C4B5FD"/>
          </a:solidFill>
          <a:ln/>
        </p:spPr>
      </p:sp>
      <p:sp>
        <p:nvSpPr>
          <p:cNvPr id="36" name="Text 33"/>
          <p:cNvSpPr/>
          <p:nvPr/>
        </p:nvSpPr>
        <p:spPr>
          <a:xfrm>
            <a:off x="822960" y="5852160"/>
            <a:ext cx="13716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PRIOR PDC</a:t>
            </a:r>
            <a:endParaRPr lang="en-US" sz="900" dirty="0"/>
          </a:p>
        </p:txBody>
      </p:sp>
      <p:sp>
        <p:nvSpPr>
          <p:cNvPr id="37" name="Text 34"/>
          <p:cNvSpPr/>
          <p:nvPr/>
        </p:nvSpPr>
        <p:spPr>
          <a:xfrm>
            <a:off x="2194560" y="5852160"/>
            <a:ext cx="3657600" cy="228600"/>
          </a:xfrm>
          <a:prstGeom prst="rect">
            <a:avLst/>
          </a:prstGeom>
          <a:noFill/>
          <a:ln/>
        </p:spPr>
        <p:txBody>
          <a:bodyPr wrap="square" lIns="0" tIns="0" rIns="0" bIns="0" rtlCol="0" anchor="ctr"/>
          <a:lstStyle/>
          <a:p>
            <a:pPr indent="0" marL="0">
              <a:buNone/>
            </a:pPr>
            <a:r>
              <a:rPr lang="en-US" sz="1050" dirty="0">
                <a:solidFill>
                  <a:srgbClr val="E8ECF5"/>
                </a:solidFill>
                <a:latin typeface="Calibri" pitchFamily="34" charset="0"/>
                <a:ea typeface="Calibri" pitchFamily="34" charset="-122"/>
                <a:cs typeface="Calibri" pitchFamily="34" charset="-120"/>
              </a:rPr>
              <a:t>≥0.8 on statin + ACE</a:t>
            </a:r>
            <a:endParaRPr lang="en-US" sz="1050" dirty="0"/>
          </a:p>
        </p:txBody>
      </p:sp>
      <p:sp>
        <p:nvSpPr>
          <p:cNvPr id="38" name="Shape 35"/>
          <p:cNvSpPr/>
          <p:nvPr/>
        </p:nvSpPr>
        <p:spPr>
          <a:xfrm>
            <a:off x="640080" y="6153912"/>
            <a:ext cx="73152" cy="73152"/>
          </a:xfrm>
          <a:prstGeom prst="ellipse">
            <a:avLst/>
          </a:prstGeom>
          <a:solidFill>
            <a:srgbClr val="C4B5FD"/>
          </a:solidFill>
          <a:ln/>
        </p:spPr>
      </p:sp>
      <p:sp>
        <p:nvSpPr>
          <p:cNvPr id="39" name="Text 36"/>
          <p:cNvSpPr/>
          <p:nvPr/>
        </p:nvSpPr>
        <p:spPr>
          <a:xfrm>
            <a:off x="822960" y="6080760"/>
            <a:ext cx="13716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PCP CONTACT</a:t>
            </a:r>
            <a:endParaRPr lang="en-US" sz="900" dirty="0"/>
          </a:p>
        </p:txBody>
      </p:sp>
      <p:sp>
        <p:nvSpPr>
          <p:cNvPr id="40" name="Text 37"/>
          <p:cNvSpPr/>
          <p:nvPr/>
        </p:nvSpPr>
        <p:spPr>
          <a:xfrm>
            <a:off x="2194560" y="6080760"/>
            <a:ext cx="3657600" cy="228600"/>
          </a:xfrm>
          <a:prstGeom prst="rect">
            <a:avLst/>
          </a:prstGeom>
          <a:noFill/>
          <a:ln/>
        </p:spPr>
        <p:txBody>
          <a:bodyPr wrap="square" lIns="0" tIns="0" rIns="0" bIns="0" rtlCol="0" anchor="ctr"/>
          <a:lstStyle/>
          <a:p>
            <a:pPr indent="0" marL="0">
              <a:buNone/>
            </a:pPr>
            <a:r>
              <a:rPr lang="en-US" sz="1050" dirty="0">
                <a:solidFill>
                  <a:srgbClr val="E8ECF5"/>
                </a:solidFill>
                <a:latin typeface="Calibri" pitchFamily="34" charset="0"/>
                <a:ea typeface="Calibri" pitchFamily="34" charset="-122"/>
                <a:cs typeface="Calibri" pitchFamily="34" charset="-120"/>
              </a:rPr>
              <a:t>4 months ago</a:t>
            </a:r>
            <a:endParaRPr lang="en-US" sz="1050" dirty="0"/>
          </a:p>
        </p:txBody>
      </p:sp>
      <p:sp>
        <p:nvSpPr>
          <p:cNvPr id="41" name="Text 38"/>
          <p:cNvSpPr/>
          <p:nvPr/>
        </p:nvSpPr>
        <p:spPr>
          <a:xfrm>
            <a:off x="6492240" y="2194560"/>
            <a:ext cx="512064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CLINICAL REASONING</a:t>
            </a:r>
            <a:endParaRPr lang="en-US" sz="900" dirty="0"/>
          </a:p>
        </p:txBody>
      </p:sp>
      <p:sp>
        <p:nvSpPr>
          <p:cNvPr id="42" name="Shape 39"/>
          <p:cNvSpPr/>
          <p:nvPr/>
        </p:nvSpPr>
        <p:spPr>
          <a:xfrm>
            <a:off x="6492240" y="2514600"/>
            <a:ext cx="45720" cy="2103120"/>
          </a:xfrm>
          <a:prstGeom prst="rect">
            <a:avLst/>
          </a:prstGeom>
          <a:solidFill>
            <a:srgbClr val="22D3A5"/>
          </a:solidFill>
          <a:ln/>
        </p:spPr>
      </p:sp>
      <p:sp>
        <p:nvSpPr>
          <p:cNvPr id="43" name="Text 40"/>
          <p:cNvSpPr/>
          <p:nvPr/>
        </p:nvSpPr>
        <p:spPr>
          <a:xfrm>
            <a:off x="6675120" y="2514600"/>
            <a:ext cx="4846320" cy="2103120"/>
          </a:xfrm>
          <a:prstGeom prst="rect">
            <a:avLst/>
          </a:prstGeom>
          <a:noFill/>
          <a:ln/>
        </p:spPr>
        <p:txBody>
          <a:bodyPr wrap="square" lIns="0" tIns="0" rIns="0" bIns="0" rtlCol="0" anchor="t"/>
          <a:lstStyle/>
          <a:p>
            <a:pPr indent="0" marL="0">
              <a:buNone/>
            </a:pPr>
            <a:r>
              <a:rPr lang="en-US" sz="1300" i="1" dirty="0">
                <a:solidFill>
                  <a:srgbClr val="8B9AB3"/>
                </a:solidFill>
                <a:latin typeface="Georgia" pitchFamily="34" charset="0"/>
                <a:ea typeface="Georgia" pitchFamily="34" charset="-122"/>
                <a:cs typeface="Georgia" pitchFamily="34" charset="-120"/>
              </a:rPr>
              <a:t>A clean case. Confirmed fragility hip fracture, strong prior adherence, active PCP relationship, no comorbidity burden. Exactly the member the measure is designed for.</a:t>
            </a:r>
            <a:endParaRPr lang="en-US" sz="1300" dirty="0"/>
          </a:p>
        </p:txBody>
      </p:sp>
      <p:sp>
        <p:nvSpPr>
          <p:cNvPr id="44" name="Shape 41"/>
          <p:cNvSpPr/>
          <p:nvPr/>
        </p:nvSpPr>
        <p:spPr>
          <a:xfrm>
            <a:off x="6492240" y="4800600"/>
            <a:ext cx="5120640" cy="1554480"/>
          </a:xfrm>
          <a:prstGeom prst="rect">
            <a:avLst/>
          </a:prstGeom>
          <a:solidFill>
            <a:srgbClr val="151B2C"/>
          </a:solidFill>
          <a:ln w="9525">
            <a:solidFill>
              <a:srgbClr val="22D3A5"/>
            </a:solidFill>
            <a:prstDash val="solid"/>
          </a:ln>
        </p:spPr>
      </p:sp>
      <p:sp>
        <p:nvSpPr>
          <p:cNvPr id="45" name="Shape 42"/>
          <p:cNvSpPr/>
          <p:nvPr/>
        </p:nvSpPr>
        <p:spPr>
          <a:xfrm>
            <a:off x="6492240" y="4800600"/>
            <a:ext cx="73152" cy="1554480"/>
          </a:xfrm>
          <a:prstGeom prst="rect">
            <a:avLst/>
          </a:prstGeom>
          <a:solidFill>
            <a:srgbClr val="22D3A5"/>
          </a:solidFill>
          <a:ln/>
        </p:spPr>
      </p:sp>
      <p:sp>
        <p:nvSpPr>
          <p:cNvPr id="46" name="Text 43"/>
          <p:cNvSpPr/>
          <p:nvPr/>
        </p:nvSpPr>
        <p:spPr>
          <a:xfrm>
            <a:off x="6766560" y="4983480"/>
            <a:ext cx="4663440" cy="228600"/>
          </a:xfrm>
          <a:prstGeom prst="rect">
            <a:avLst/>
          </a:prstGeom>
          <a:noFill/>
          <a:ln/>
        </p:spPr>
        <p:txBody>
          <a:bodyPr wrap="square" lIns="0" tIns="0" rIns="0" bIns="0" rtlCol="0" anchor="ctr"/>
          <a:lstStyle/>
          <a:p>
            <a:pPr indent="0" marL="0">
              <a:buNone/>
            </a:pPr>
            <a:r>
              <a:rPr lang="en-US" sz="900" b="1" spc="300" kern="0" dirty="0">
                <a:solidFill>
                  <a:srgbClr val="22D3A5"/>
                </a:solidFill>
                <a:latin typeface="Consolas" pitchFamily="34" charset="0"/>
                <a:ea typeface="Consolas" pitchFamily="34" charset="-122"/>
                <a:cs typeface="Consolas" pitchFamily="34" charset="-120"/>
              </a:rPr>
              <a:t>OPERATIONAL ACTION</a:t>
            </a:r>
            <a:endParaRPr lang="en-US" sz="900" dirty="0"/>
          </a:p>
        </p:txBody>
      </p:sp>
      <p:sp>
        <p:nvSpPr>
          <p:cNvPr id="47" name="Text 44"/>
          <p:cNvSpPr/>
          <p:nvPr/>
        </p:nvSpPr>
        <p:spPr>
          <a:xfrm>
            <a:off x="6766560" y="5257800"/>
            <a:ext cx="4663440" cy="411480"/>
          </a:xfrm>
          <a:prstGeom prst="rect">
            <a:avLst/>
          </a:prstGeom>
          <a:noFill/>
          <a:ln/>
        </p:spPr>
        <p:txBody>
          <a:bodyPr wrap="square" lIns="0" tIns="0" rIns="0" bIns="0" rtlCol="0" anchor="t"/>
          <a:lstStyle/>
          <a:p>
            <a:pPr indent="0" marL="0">
              <a:buNone/>
            </a:pPr>
            <a:r>
              <a:rPr lang="en-US" sz="1800" dirty="0">
                <a:solidFill>
                  <a:srgbClr val="E8ECF5"/>
                </a:solidFill>
                <a:latin typeface="Georgia" pitchFamily="34" charset="0"/>
                <a:ea typeface="Georgia" pitchFamily="34" charset="-122"/>
                <a:cs typeface="Georgia" pitchFamily="34" charset="-120"/>
              </a:rPr>
              <a:t>Immediate full intervention</a:t>
            </a:r>
            <a:endParaRPr lang="en-US" sz="1800" dirty="0"/>
          </a:p>
        </p:txBody>
      </p:sp>
      <p:sp>
        <p:nvSpPr>
          <p:cNvPr id="48" name="Text 45"/>
          <p:cNvSpPr/>
          <p:nvPr/>
        </p:nvSpPr>
        <p:spPr>
          <a:xfrm>
            <a:off x="6766560" y="5715000"/>
            <a:ext cx="4663440" cy="594360"/>
          </a:xfrm>
          <a:prstGeom prst="rect">
            <a:avLst/>
          </a:prstGeom>
          <a:noFill/>
          <a:ln/>
        </p:spPr>
        <p:txBody>
          <a:bodyPr wrap="square" lIns="0" tIns="0" rIns="0" bIns="0" rtlCol="0" anchor="t"/>
          <a:lstStyle/>
          <a:p>
            <a:pPr indent="0" marL="0">
              <a:buNone/>
            </a:pPr>
            <a:r>
              <a:rPr lang="en-US" sz="1100" dirty="0">
                <a:solidFill>
                  <a:srgbClr val="8B9AB3"/>
                </a:solidFill>
                <a:latin typeface="Calibri" pitchFamily="34" charset="0"/>
                <a:ea typeface="Calibri" pitchFamily="34" charset="-122"/>
                <a:cs typeface="Calibri" pitchFamily="34" charset="-120"/>
              </a:rPr>
              <a:t>PCP alert within 48 hours. BMD order template pre-populated. Care coordinator assigned. Schedule DXA within 30 days.</a:t>
            </a:r>
            <a:endParaRPr lang="en-US" sz="1100" dirty="0"/>
          </a:p>
        </p:txBody>
      </p:sp>
      <p:sp>
        <p:nvSpPr>
          <p:cNvPr id="49" name="Text 46"/>
          <p:cNvSpPr/>
          <p:nvPr/>
        </p:nvSpPr>
        <p:spPr>
          <a:xfrm>
            <a:off x="457200" y="6492240"/>
            <a:ext cx="3657600" cy="274320"/>
          </a:xfrm>
          <a:prstGeom prst="rect">
            <a:avLst/>
          </a:prstGeom>
          <a:noFill/>
          <a:ln/>
        </p:spPr>
        <p:txBody>
          <a:bodyPr wrap="square" lIns="0" tIns="0" rIns="0" bIns="0" rtlCol="0" anchor="ctr"/>
          <a:lstStyle/>
          <a:p>
            <a:pPr indent="0" marL="0">
              <a:buNone/>
            </a:pPr>
            <a:r>
              <a:rPr lang="en-US" sz="800" spc="300" kern="0" dirty="0">
                <a:solidFill>
                  <a:srgbClr val="5B6AE5"/>
                </a:solidFill>
                <a:latin typeface="Consolas" pitchFamily="34" charset="0"/>
                <a:ea typeface="Consolas" pitchFamily="34" charset="-122"/>
                <a:cs typeface="Consolas" pitchFamily="34" charset="-120"/>
              </a:rPr>
              <a:t>OMW PREDICTIVE TRIAGE</a:t>
            </a:r>
            <a:endParaRPr lang="en-US" sz="800" dirty="0"/>
          </a:p>
        </p:txBody>
      </p:sp>
      <p:sp>
        <p:nvSpPr>
          <p:cNvPr id="50" name="Text 47"/>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800" spc="200" kern="0" dirty="0">
                <a:solidFill>
                  <a:srgbClr val="5B6AE5"/>
                </a:solidFill>
                <a:latin typeface="Consolas" pitchFamily="34" charset="0"/>
                <a:ea typeface="Consolas" pitchFamily="34" charset="-122"/>
                <a:cs typeface="Consolas"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640080" y="411480"/>
            <a:ext cx="7315200" cy="274320"/>
          </a:xfrm>
          <a:prstGeom prst="rect">
            <a:avLst/>
          </a:prstGeom>
          <a:noFill/>
          <a:ln/>
        </p:spPr>
        <p:txBody>
          <a:bodyPr wrap="square" lIns="0" tIns="0" rIns="0" bIns="0" rtlCol="0" anchor="ctr"/>
          <a:lstStyle/>
          <a:p>
            <a:pPr indent="0" marL="0">
              <a:buNone/>
            </a:pPr>
            <a:r>
              <a:rPr lang="en-US" sz="1000" b="1" spc="400" kern="0" dirty="0">
                <a:solidFill>
                  <a:srgbClr val="22D3A5"/>
                </a:solidFill>
                <a:latin typeface="Consolas" pitchFamily="34" charset="0"/>
                <a:ea typeface="Consolas" pitchFamily="34" charset="-122"/>
                <a:cs typeface="Consolas" pitchFamily="34" charset="-120"/>
              </a:rPr>
              <a:t>04  ·  CASE 02 OF 04</a:t>
            </a:r>
            <a:endParaRPr lang="en-US" sz="1000" dirty="0"/>
          </a:p>
        </p:txBody>
      </p:sp>
      <p:sp>
        <p:nvSpPr>
          <p:cNvPr id="3" name="Shape 1"/>
          <p:cNvSpPr/>
          <p:nvPr/>
        </p:nvSpPr>
        <p:spPr>
          <a:xfrm>
            <a:off x="640080" y="731520"/>
            <a:ext cx="1828800" cy="0"/>
          </a:xfrm>
          <a:prstGeom prst="line">
            <a:avLst/>
          </a:prstGeom>
          <a:noFill/>
          <a:ln w="6350">
            <a:solidFill>
              <a:srgbClr val="2D3A54"/>
            </a:solidFill>
            <a:prstDash val="solid"/>
          </a:ln>
        </p:spPr>
      </p:sp>
      <p:sp>
        <p:nvSpPr>
          <p:cNvPr id="4" name="Text 2"/>
          <p:cNvSpPr/>
          <p:nvPr/>
        </p:nvSpPr>
        <p:spPr>
          <a:xfrm>
            <a:off x="640080" y="868680"/>
            <a:ext cx="73152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M-5411   ·   AGE 78   ·   WRIST FRACTURE · ED ADT · RURAL COUNTY</a:t>
            </a:r>
            <a:endParaRPr lang="en-US" sz="900" dirty="0"/>
          </a:p>
        </p:txBody>
      </p:sp>
      <p:sp>
        <p:nvSpPr>
          <p:cNvPr id="5" name="Text 3"/>
          <p:cNvSpPr/>
          <p:nvPr/>
        </p:nvSpPr>
        <p:spPr>
          <a:xfrm>
            <a:off x="640080" y="1143000"/>
            <a:ext cx="7315200" cy="822960"/>
          </a:xfrm>
          <a:prstGeom prst="rect">
            <a:avLst/>
          </a:prstGeom>
          <a:noFill/>
          <a:ln/>
        </p:spPr>
        <p:txBody>
          <a:bodyPr wrap="square" lIns="0" tIns="0" rIns="0" bIns="0" rtlCol="0" anchor="t"/>
          <a:lstStyle/>
          <a:p>
            <a:pPr indent="0" marL="0">
              <a:buNone/>
            </a:pPr>
            <a:r>
              <a:rPr lang="en-US" sz="4000" dirty="0">
                <a:solidFill>
                  <a:srgbClr val="E8ECF5"/>
                </a:solidFill>
                <a:latin typeface="Georgia" pitchFamily="34" charset="0"/>
                <a:ea typeface="Georgia" pitchFamily="34" charset="-122"/>
                <a:cs typeface="Georgia" pitchFamily="34" charset="-120"/>
              </a:rPr>
              <a:t>Dorothy Williams</a:t>
            </a:r>
            <a:endParaRPr lang="en-US" sz="4000" dirty="0"/>
          </a:p>
        </p:txBody>
      </p:sp>
      <p:sp>
        <p:nvSpPr>
          <p:cNvPr id="6" name="Shape 4"/>
          <p:cNvSpPr/>
          <p:nvPr/>
        </p:nvSpPr>
        <p:spPr>
          <a:xfrm>
            <a:off x="8046720" y="868680"/>
            <a:ext cx="3566160" cy="502920"/>
          </a:xfrm>
          <a:prstGeom prst="rect">
            <a:avLst/>
          </a:prstGeom>
          <a:solidFill>
            <a:srgbClr val="0A0E1A"/>
          </a:solidFill>
          <a:ln w="19050">
            <a:solidFill>
              <a:srgbClr val="F4C060"/>
            </a:solidFill>
            <a:prstDash val="solid"/>
          </a:ln>
        </p:spPr>
      </p:sp>
      <p:sp>
        <p:nvSpPr>
          <p:cNvPr id="7" name="Text 5"/>
          <p:cNvSpPr/>
          <p:nvPr/>
        </p:nvSpPr>
        <p:spPr>
          <a:xfrm>
            <a:off x="8046720" y="868680"/>
            <a:ext cx="3566160" cy="502920"/>
          </a:xfrm>
          <a:prstGeom prst="rect">
            <a:avLst/>
          </a:prstGeom>
          <a:noFill/>
          <a:ln/>
        </p:spPr>
        <p:txBody>
          <a:bodyPr wrap="square" lIns="0" tIns="0" rIns="0" bIns="0" rtlCol="0" anchor="ctr"/>
          <a:lstStyle/>
          <a:p>
            <a:pPr algn="ctr" indent="0" marL="0">
              <a:buNone/>
            </a:pPr>
            <a:r>
              <a:rPr lang="en-US" sz="1200" b="1" spc="300" kern="0" dirty="0">
                <a:solidFill>
                  <a:srgbClr val="F4C060"/>
                </a:solidFill>
                <a:latin typeface="Consolas" pitchFamily="34" charset="0"/>
                <a:ea typeface="Consolas" pitchFamily="34" charset="-122"/>
                <a:cs typeface="Consolas" pitchFamily="34" charset="-120"/>
              </a:rPr>
              <a:t>TIER 02 · SUPPORT NEEDED</a:t>
            </a:r>
            <a:endParaRPr lang="en-US" sz="1200" dirty="0"/>
          </a:p>
        </p:txBody>
      </p:sp>
      <p:pic>
        <p:nvPicPr>
          <p:cNvPr id="8" name="Image 0" descr="preencoded.png">    </p:cNvPr>
          <p:cNvPicPr>
            <a:picLocks noChangeAspect="1"/>
          </p:cNvPicPr>
          <p:nvPr/>
        </p:nvPicPr>
        <p:blipFill>
          <a:blip r:embed="rId1"/>
          <a:stretch>
            <a:fillRect/>
          </a:stretch>
        </p:blipFill>
        <p:spPr>
          <a:xfrm>
            <a:off x="10881360" y="1508760"/>
            <a:ext cx="731520" cy="731520"/>
          </a:xfrm>
          <a:prstGeom prst="rect">
            <a:avLst/>
          </a:prstGeom>
        </p:spPr>
      </p:pic>
      <p:sp>
        <p:nvSpPr>
          <p:cNvPr id="9" name="Text 6"/>
          <p:cNvSpPr/>
          <p:nvPr/>
        </p:nvSpPr>
        <p:spPr>
          <a:xfrm>
            <a:off x="640080" y="2194560"/>
            <a:ext cx="530352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SCORE PROFILE</a:t>
            </a:r>
            <a:endParaRPr lang="en-US" sz="900" dirty="0"/>
          </a:p>
        </p:txBody>
      </p:sp>
      <p:sp>
        <p:nvSpPr>
          <p:cNvPr id="10" name="Text 7"/>
          <p:cNvSpPr/>
          <p:nvPr/>
        </p:nvSpPr>
        <p:spPr>
          <a:xfrm>
            <a:off x="640080" y="2514600"/>
            <a:ext cx="640080" cy="274320"/>
          </a:xfrm>
          <a:prstGeom prst="rect">
            <a:avLst/>
          </a:prstGeom>
          <a:noFill/>
          <a:ln/>
        </p:spPr>
        <p:txBody>
          <a:bodyPr wrap="square" lIns="0" tIns="0" rIns="0" bIns="0" rtlCol="0" anchor="ctr"/>
          <a:lstStyle/>
          <a:p>
            <a:pPr indent="0" marL="0">
              <a:buNone/>
            </a:pPr>
            <a:r>
              <a:rPr lang="en-US" sz="1100" b="1" spc="200" kern="0" dirty="0">
                <a:solidFill>
                  <a:srgbClr val="4DD2FF"/>
                </a:solidFill>
                <a:latin typeface="Consolas" pitchFamily="34" charset="0"/>
                <a:ea typeface="Consolas" pitchFamily="34" charset="-122"/>
                <a:cs typeface="Consolas" pitchFamily="34" charset="-120"/>
              </a:rPr>
              <a:t>FCS</a:t>
            </a:r>
            <a:endParaRPr lang="en-US" sz="1100" dirty="0"/>
          </a:p>
        </p:txBody>
      </p:sp>
      <p:sp>
        <p:nvSpPr>
          <p:cNvPr id="11" name="Shape 8"/>
          <p:cNvSpPr/>
          <p:nvPr/>
        </p:nvSpPr>
        <p:spPr>
          <a:xfrm>
            <a:off x="1325880" y="2596896"/>
            <a:ext cx="3931920" cy="128016"/>
          </a:xfrm>
          <a:prstGeom prst="rect">
            <a:avLst/>
          </a:prstGeom>
          <a:solidFill>
            <a:srgbClr val="111827"/>
          </a:solidFill>
          <a:ln/>
        </p:spPr>
      </p:sp>
      <p:sp>
        <p:nvSpPr>
          <p:cNvPr id="12" name="Shape 9"/>
          <p:cNvSpPr/>
          <p:nvPr/>
        </p:nvSpPr>
        <p:spPr>
          <a:xfrm>
            <a:off x="1325880" y="2596896"/>
            <a:ext cx="2673706" cy="128016"/>
          </a:xfrm>
          <a:prstGeom prst="rect">
            <a:avLst/>
          </a:prstGeom>
          <a:solidFill>
            <a:srgbClr val="4DD2FF"/>
          </a:solidFill>
          <a:ln/>
        </p:spPr>
      </p:sp>
      <p:sp>
        <p:nvSpPr>
          <p:cNvPr id="13" name="Text 10"/>
          <p:cNvSpPr/>
          <p:nvPr/>
        </p:nvSpPr>
        <p:spPr>
          <a:xfrm>
            <a:off x="5303520" y="2514600"/>
            <a:ext cx="640080" cy="274320"/>
          </a:xfrm>
          <a:prstGeom prst="rect">
            <a:avLst/>
          </a:prstGeom>
          <a:noFill/>
          <a:ln/>
        </p:spPr>
        <p:txBody>
          <a:bodyPr wrap="square" lIns="0" tIns="0" rIns="0" bIns="0" rtlCol="0" anchor="ctr"/>
          <a:lstStyle/>
          <a:p>
            <a:pPr algn="r" indent="0" marL="0">
              <a:buNone/>
            </a:pPr>
            <a:r>
              <a:rPr lang="en-US" sz="1300" b="1" dirty="0">
                <a:solidFill>
                  <a:srgbClr val="E8ECF5"/>
                </a:solidFill>
                <a:latin typeface="Consolas" pitchFamily="34" charset="0"/>
                <a:ea typeface="Consolas" pitchFamily="34" charset="-122"/>
                <a:cs typeface="Consolas" pitchFamily="34" charset="-120"/>
              </a:rPr>
              <a:t>68</a:t>
            </a:r>
            <a:endParaRPr lang="en-US" sz="1300" dirty="0"/>
          </a:p>
        </p:txBody>
      </p:sp>
      <p:sp>
        <p:nvSpPr>
          <p:cNvPr id="14" name="Text 11"/>
          <p:cNvSpPr/>
          <p:nvPr/>
        </p:nvSpPr>
        <p:spPr>
          <a:xfrm>
            <a:off x="640080" y="2880360"/>
            <a:ext cx="640080" cy="274320"/>
          </a:xfrm>
          <a:prstGeom prst="rect">
            <a:avLst/>
          </a:prstGeom>
          <a:noFill/>
          <a:ln/>
        </p:spPr>
        <p:txBody>
          <a:bodyPr wrap="square" lIns="0" tIns="0" rIns="0" bIns="0" rtlCol="0" anchor="ctr"/>
          <a:lstStyle/>
          <a:p>
            <a:pPr indent="0" marL="0">
              <a:buNone/>
            </a:pPr>
            <a:r>
              <a:rPr lang="en-US" sz="1100" b="1" spc="200" kern="0" dirty="0">
                <a:solidFill>
                  <a:srgbClr val="FF8A65"/>
                </a:solidFill>
                <a:latin typeface="Consolas" pitchFamily="34" charset="0"/>
                <a:ea typeface="Consolas" pitchFamily="34" charset="-122"/>
                <a:cs typeface="Consolas" pitchFamily="34" charset="-120"/>
              </a:rPr>
              <a:t>EDRS</a:t>
            </a:r>
            <a:endParaRPr lang="en-US" sz="1100" dirty="0"/>
          </a:p>
        </p:txBody>
      </p:sp>
      <p:sp>
        <p:nvSpPr>
          <p:cNvPr id="15" name="Shape 12"/>
          <p:cNvSpPr/>
          <p:nvPr/>
        </p:nvSpPr>
        <p:spPr>
          <a:xfrm>
            <a:off x="1325880" y="2962656"/>
            <a:ext cx="3931920" cy="128016"/>
          </a:xfrm>
          <a:prstGeom prst="rect">
            <a:avLst/>
          </a:prstGeom>
          <a:solidFill>
            <a:srgbClr val="111827"/>
          </a:solidFill>
          <a:ln/>
        </p:spPr>
      </p:sp>
      <p:sp>
        <p:nvSpPr>
          <p:cNvPr id="16" name="Shape 13"/>
          <p:cNvSpPr/>
          <p:nvPr/>
        </p:nvSpPr>
        <p:spPr>
          <a:xfrm>
            <a:off x="1325880" y="2962656"/>
            <a:ext cx="943661" cy="128016"/>
          </a:xfrm>
          <a:prstGeom prst="rect">
            <a:avLst/>
          </a:prstGeom>
          <a:solidFill>
            <a:srgbClr val="FF8A65"/>
          </a:solidFill>
          <a:ln/>
        </p:spPr>
      </p:sp>
      <p:sp>
        <p:nvSpPr>
          <p:cNvPr id="17" name="Text 14"/>
          <p:cNvSpPr/>
          <p:nvPr/>
        </p:nvSpPr>
        <p:spPr>
          <a:xfrm>
            <a:off x="5303520" y="2880360"/>
            <a:ext cx="640080" cy="274320"/>
          </a:xfrm>
          <a:prstGeom prst="rect">
            <a:avLst/>
          </a:prstGeom>
          <a:noFill/>
          <a:ln/>
        </p:spPr>
        <p:txBody>
          <a:bodyPr wrap="square" lIns="0" tIns="0" rIns="0" bIns="0" rtlCol="0" anchor="ctr"/>
          <a:lstStyle/>
          <a:p>
            <a:pPr algn="r" indent="0" marL="0">
              <a:buNone/>
            </a:pPr>
            <a:r>
              <a:rPr lang="en-US" sz="1300" b="1" dirty="0">
                <a:solidFill>
                  <a:srgbClr val="E8ECF5"/>
                </a:solidFill>
                <a:latin typeface="Consolas" pitchFamily="34" charset="0"/>
                <a:ea typeface="Consolas" pitchFamily="34" charset="-122"/>
                <a:cs typeface="Consolas" pitchFamily="34" charset="-120"/>
              </a:rPr>
              <a:t>24</a:t>
            </a:r>
            <a:endParaRPr lang="en-US" sz="1300" dirty="0"/>
          </a:p>
        </p:txBody>
      </p:sp>
      <p:sp>
        <p:nvSpPr>
          <p:cNvPr id="18" name="Text 15"/>
          <p:cNvSpPr/>
          <p:nvPr/>
        </p:nvSpPr>
        <p:spPr>
          <a:xfrm>
            <a:off x="640080" y="3246120"/>
            <a:ext cx="640080" cy="274320"/>
          </a:xfrm>
          <a:prstGeom prst="rect">
            <a:avLst/>
          </a:prstGeom>
          <a:noFill/>
          <a:ln/>
        </p:spPr>
        <p:txBody>
          <a:bodyPr wrap="square" lIns="0" tIns="0" rIns="0" bIns="0" rtlCol="0" anchor="ctr"/>
          <a:lstStyle/>
          <a:p>
            <a:pPr indent="0" marL="0">
              <a:buNone/>
            </a:pPr>
            <a:r>
              <a:rPr lang="en-US" sz="1100" b="1" spc="200" kern="0" dirty="0">
                <a:solidFill>
                  <a:srgbClr val="C4B5FD"/>
                </a:solidFill>
                <a:latin typeface="Consolas" pitchFamily="34" charset="0"/>
                <a:ea typeface="Consolas" pitchFamily="34" charset="-122"/>
                <a:cs typeface="Consolas" pitchFamily="34" charset="-120"/>
              </a:rPr>
              <a:t>NCRS</a:t>
            </a:r>
            <a:endParaRPr lang="en-US" sz="1100" dirty="0"/>
          </a:p>
        </p:txBody>
      </p:sp>
      <p:sp>
        <p:nvSpPr>
          <p:cNvPr id="19" name="Shape 16"/>
          <p:cNvSpPr/>
          <p:nvPr/>
        </p:nvSpPr>
        <p:spPr>
          <a:xfrm>
            <a:off x="1325880" y="3328416"/>
            <a:ext cx="3931920" cy="128016"/>
          </a:xfrm>
          <a:prstGeom prst="rect">
            <a:avLst/>
          </a:prstGeom>
          <a:solidFill>
            <a:srgbClr val="111827"/>
          </a:solidFill>
          <a:ln/>
        </p:spPr>
      </p:sp>
      <p:sp>
        <p:nvSpPr>
          <p:cNvPr id="20" name="Shape 17"/>
          <p:cNvSpPr/>
          <p:nvPr/>
        </p:nvSpPr>
        <p:spPr>
          <a:xfrm>
            <a:off x="1325880" y="3328416"/>
            <a:ext cx="2830982" cy="128016"/>
          </a:xfrm>
          <a:prstGeom prst="rect">
            <a:avLst/>
          </a:prstGeom>
          <a:solidFill>
            <a:srgbClr val="C4B5FD"/>
          </a:solidFill>
          <a:ln/>
        </p:spPr>
      </p:sp>
      <p:sp>
        <p:nvSpPr>
          <p:cNvPr id="21" name="Text 18"/>
          <p:cNvSpPr/>
          <p:nvPr/>
        </p:nvSpPr>
        <p:spPr>
          <a:xfrm>
            <a:off x="5303520" y="3246120"/>
            <a:ext cx="640080" cy="274320"/>
          </a:xfrm>
          <a:prstGeom prst="rect">
            <a:avLst/>
          </a:prstGeom>
          <a:noFill/>
          <a:ln/>
        </p:spPr>
        <p:txBody>
          <a:bodyPr wrap="square" lIns="0" tIns="0" rIns="0" bIns="0" rtlCol="0" anchor="ctr"/>
          <a:lstStyle/>
          <a:p>
            <a:pPr algn="r" indent="0" marL="0">
              <a:buNone/>
            </a:pPr>
            <a:r>
              <a:rPr lang="en-US" sz="1300" b="1" dirty="0">
                <a:solidFill>
                  <a:srgbClr val="E8ECF5"/>
                </a:solidFill>
                <a:latin typeface="Consolas" pitchFamily="34" charset="0"/>
                <a:ea typeface="Consolas" pitchFamily="34" charset="-122"/>
                <a:cs typeface="Consolas" pitchFamily="34" charset="-120"/>
              </a:rPr>
              <a:t>72</a:t>
            </a:r>
            <a:endParaRPr lang="en-US" sz="1300" dirty="0"/>
          </a:p>
        </p:txBody>
      </p:sp>
      <p:sp>
        <p:nvSpPr>
          <p:cNvPr id="22" name="Shape 19"/>
          <p:cNvSpPr/>
          <p:nvPr/>
        </p:nvSpPr>
        <p:spPr>
          <a:xfrm>
            <a:off x="640080" y="3794760"/>
            <a:ext cx="5303520" cy="914400"/>
          </a:xfrm>
          <a:prstGeom prst="rect">
            <a:avLst/>
          </a:prstGeom>
          <a:solidFill>
            <a:srgbClr val="111827"/>
          </a:solidFill>
          <a:ln w="9525">
            <a:solidFill>
              <a:srgbClr val="F4C060"/>
            </a:solidFill>
            <a:prstDash val="solid"/>
          </a:ln>
        </p:spPr>
      </p:sp>
      <p:sp>
        <p:nvSpPr>
          <p:cNvPr id="23" name="Text 20"/>
          <p:cNvSpPr/>
          <p:nvPr/>
        </p:nvSpPr>
        <p:spPr>
          <a:xfrm>
            <a:off x="868680" y="3904488"/>
            <a:ext cx="228600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OPPORTUNITY SCORE</a:t>
            </a:r>
            <a:endParaRPr lang="en-US" sz="900" dirty="0"/>
          </a:p>
        </p:txBody>
      </p:sp>
      <p:sp>
        <p:nvSpPr>
          <p:cNvPr id="24" name="Text 21"/>
          <p:cNvSpPr/>
          <p:nvPr/>
        </p:nvSpPr>
        <p:spPr>
          <a:xfrm>
            <a:off x="868680" y="4069080"/>
            <a:ext cx="4846320" cy="594360"/>
          </a:xfrm>
          <a:prstGeom prst="rect">
            <a:avLst/>
          </a:prstGeom>
          <a:noFill/>
          <a:ln/>
        </p:spPr>
        <p:txBody>
          <a:bodyPr wrap="square" lIns="0" tIns="0" rIns="0" bIns="0" rtlCol="0" anchor="ctr"/>
          <a:lstStyle/>
          <a:p>
            <a:pPr indent="0" marL="0">
              <a:buNone/>
            </a:pPr>
            <a:r>
              <a:rPr lang="en-US" sz="4400" dirty="0">
                <a:solidFill>
                  <a:srgbClr val="F4C060"/>
                </a:solidFill>
                <a:latin typeface="Georgia" pitchFamily="34" charset="0"/>
                <a:ea typeface="Georgia" pitchFamily="34" charset="-122"/>
                <a:cs typeface="Georgia" pitchFamily="34" charset="-120"/>
              </a:rPr>
              <a:t>14</a:t>
            </a:r>
            <a:pPr indent="0" marL="0">
              <a:buNone/>
            </a:pPr>
            <a:r>
              <a:rPr lang="en-US" sz="1600" dirty="0">
                <a:solidFill>
                  <a:srgbClr val="5B6AE5"/>
                </a:solidFill>
                <a:latin typeface="Georgia" pitchFamily="34" charset="0"/>
                <a:ea typeface="Georgia" pitchFamily="34" charset="-122"/>
                <a:cs typeface="Georgia" pitchFamily="34" charset="-120"/>
              </a:rPr>
              <a:t>/100</a:t>
            </a:r>
            <a:endParaRPr lang="en-US" sz="4400" dirty="0"/>
          </a:p>
        </p:txBody>
      </p:sp>
      <p:sp>
        <p:nvSpPr>
          <p:cNvPr id="25" name="Text 22"/>
          <p:cNvSpPr/>
          <p:nvPr/>
        </p:nvSpPr>
        <p:spPr>
          <a:xfrm>
            <a:off x="640080" y="4892040"/>
            <a:ext cx="530352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KEY SIGNALS</a:t>
            </a:r>
            <a:endParaRPr lang="en-US" sz="900" dirty="0"/>
          </a:p>
        </p:txBody>
      </p:sp>
      <p:sp>
        <p:nvSpPr>
          <p:cNvPr id="26" name="Shape 23"/>
          <p:cNvSpPr/>
          <p:nvPr/>
        </p:nvSpPr>
        <p:spPr>
          <a:xfrm>
            <a:off x="640080" y="5239512"/>
            <a:ext cx="73152" cy="73152"/>
          </a:xfrm>
          <a:prstGeom prst="ellipse">
            <a:avLst/>
          </a:prstGeom>
          <a:solidFill>
            <a:srgbClr val="4DD2FF"/>
          </a:solidFill>
          <a:ln/>
        </p:spPr>
      </p:sp>
      <p:sp>
        <p:nvSpPr>
          <p:cNvPr id="27" name="Text 24"/>
          <p:cNvSpPr/>
          <p:nvPr/>
        </p:nvSpPr>
        <p:spPr>
          <a:xfrm>
            <a:off x="822960" y="5166360"/>
            <a:ext cx="13716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SITE</a:t>
            </a:r>
            <a:endParaRPr lang="en-US" sz="900" dirty="0"/>
          </a:p>
        </p:txBody>
      </p:sp>
      <p:sp>
        <p:nvSpPr>
          <p:cNvPr id="28" name="Text 25"/>
          <p:cNvSpPr/>
          <p:nvPr/>
        </p:nvSpPr>
        <p:spPr>
          <a:xfrm>
            <a:off x="2194560" y="5166360"/>
            <a:ext cx="3657600" cy="228600"/>
          </a:xfrm>
          <a:prstGeom prst="rect">
            <a:avLst/>
          </a:prstGeom>
          <a:noFill/>
          <a:ln/>
        </p:spPr>
        <p:txBody>
          <a:bodyPr wrap="square" lIns="0" tIns="0" rIns="0" bIns="0" rtlCol="0" anchor="ctr"/>
          <a:lstStyle/>
          <a:p>
            <a:pPr indent="0" marL="0">
              <a:buNone/>
            </a:pPr>
            <a:r>
              <a:rPr lang="en-US" sz="1050" dirty="0">
                <a:solidFill>
                  <a:srgbClr val="E8ECF5"/>
                </a:solidFill>
                <a:latin typeface="Calibri" pitchFamily="34" charset="0"/>
                <a:ea typeface="Calibri" pitchFamily="34" charset="-122"/>
                <a:cs typeface="Calibri" pitchFamily="34" charset="-120"/>
              </a:rPr>
              <a:t>Distal radius (wrist)</a:t>
            </a:r>
            <a:endParaRPr lang="en-US" sz="1050" dirty="0"/>
          </a:p>
        </p:txBody>
      </p:sp>
      <p:sp>
        <p:nvSpPr>
          <p:cNvPr id="29" name="Shape 26"/>
          <p:cNvSpPr/>
          <p:nvPr/>
        </p:nvSpPr>
        <p:spPr>
          <a:xfrm>
            <a:off x="640080" y="5468112"/>
            <a:ext cx="73152" cy="73152"/>
          </a:xfrm>
          <a:prstGeom prst="ellipse">
            <a:avLst/>
          </a:prstGeom>
          <a:solidFill>
            <a:srgbClr val="4DD2FF"/>
          </a:solidFill>
          <a:ln/>
        </p:spPr>
      </p:sp>
      <p:sp>
        <p:nvSpPr>
          <p:cNvPr id="30" name="Text 27"/>
          <p:cNvSpPr/>
          <p:nvPr/>
        </p:nvSpPr>
        <p:spPr>
          <a:xfrm>
            <a:off x="822960" y="5394960"/>
            <a:ext cx="13716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SIGNAL</a:t>
            </a:r>
            <a:endParaRPr lang="en-US" sz="900" dirty="0"/>
          </a:p>
        </p:txBody>
      </p:sp>
      <p:sp>
        <p:nvSpPr>
          <p:cNvPr id="31" name="Text 28"/>
          <p:cNvSpPr/>
          <p:nvPr/>
        </p:nvSpPr>
        <p:spPr>
          <a:xfrm>
            <a:off x="2194560" y="5394960"/>
            <a:ext cx="3657600" cy="228600"/>
          </a:xfrm>
          <a:prstGeom prst="rect">
            <a:avLst/>
          </a:prstGeom>
          <a:noFill/>
          <a:ln/>
        </p:spPr>
        <p:txBody>
          <a:bodyPr wrap="square" lIns="0" tIns="0" rIns="0" bIns="0" rtlCol="0" anchor="ctr"/>
          <a:lstStyle/>
          <a:p>
            <a:pPr indent="0" marL="0">
              <a:buNone/>
            </a:pPr>
            <a:r>
              <a:rPr lang="en-US" sz="1050" dirty="0">
                <a:solidFill>
                  <a:srgbClr val="E8ECF5"/>
                </a:solidFill>
                <a:latin typeface="Calibri" pitchFamily="34" charset="0"/>
                <a:ea typeface="Calibri" pitchFamily="34" charset="-122"/>
                <a:cs typeface="Calibri" pitchFamily="34" charset="-120"/>
              </a:rPr>
              <a:t>ED ADT with ortho auth</a:t>
            </a:r>
            <a:endParaRPr lang="en-US" sz="1050" dirty="0"/>
          </a:p>
        </p:txBody>
      </p:sp>
      <p:sp>
        <p:nvSpPr>
          <p:cNvPr id="32" name="Shape 29"/>
          <p:cNvSpPr/>
          <p:nvPr/>
        </p:nvSpPr>
        <p:spPr>
          <a:xfrm>
            <a:off x="640080" y="5696712"/>
            <a:ext cx="73152" cy="73152"/>
          </a:xfrm>
          <a:prstGeom prst="ellipse">
            <a:avLst/>
          </a:prstGeom>
          <a:solidFill>
            <a:srgbClr val="FF8A65"/>
          </a:solidFill>
          <a:ln/>
        </p:spPr>
      </p:sp>
      <p:sp>
        <p:nvSpPr>
          <p:cNvPr id="33" name="Text 30"/>
          <p:cNvSpPr/>
          <p:nvPr/>
        </p:nvSpPr>
        <p:spPr>
          <a:xfrm>
            <a:off x="822960" y="5623560"/>
            <a:ext cx="13716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HFRS</a:t>
            </a:r>
            <a:endParaRPr lang="en-US" sz="900" dirty="0"/>
          </a:p>
        </p:txBody>
      </p:sp>
      <p:sp>
        <p:nvSpPr>
          <p:cNvPr id="34" name="Text 31"/>
          <p:cNvSpPr/>
          <p:nvPr/>
        </p:nvSpPr>
        <p:spPr>
          <a:xfrm>
            <a:off x="2194560" y="5623560"/>
            <a:ext cx="3657600" cy="228600"/>
          </a:xfrm>
          <a:prstGeom prst="rect">
            <a:avLst/>
          </a:prstGeom>
          <a:noFill/>
          <a:ln/>
        </p:spPr>
        <p:txBody>
          <a:bodyPr wrap="square" lIns="0" tIns="0" rIns="0" bIns="0" rtlCol="0" anchor="ctr"/>
          <a:lstStyle/>
          <a:p>
            <a:pPr indent="0" marL="0">
              <a:buNone/>
            </a:pPr>
            <a:r>
              <a:rPr lang="en-US" sz="1050" dirty="0">
                <a:solidFill>
                  <a:srgbClr val="E8ECF5"/>
                </a:solidFill>
                <a:latin typeface="Calibri" pitchFamily="34" charset="0"/>
                <a:ea typeface="Calibri" pitchFamily="34" charset="-122"/>
                <a:cs typeface="Calibri" pitchFamily="34" charset="-120"/>
              </a:rPr>
              <a:t>6 (moderate-low)</a:t>
            </a:r>
            <a:endParaRPr lang="en-US" sz="1050" dirty="0"/>
          </a:p>
        </p:txBody>
      </p:sp>
      <p:sp>
        <p:nvSpPr>
          <p:cNvPr id="35" name="Shape 32"/>
          <p:cNvSpPr/>
          <p:nvPr/>
        </p:nvSpPr>
        <p:spPr>
          <a:xfrm>
            <a:off x="640080" y="5925312"/>
            <a:ext cx="73152" cy="73152"/>
          </a:xfrm>
          <a:prstGeom prst="ellipse">
            <a:avLst/>
          </a:prstGeom>
          <a:solidFill>
            <a:srgbClr val="C4B5FD"/>
          </a:solidFill>
          <a:ln/>
        </p:spPr>
      </p:sp>
      <p:sp>
        <p:nvSpPr>
          <p:cNvPr id="36" name="Text 33"/>
          <p:cNvSpPr/>
          <p:nvPr/>
        </p:nvSpPr>
        <p:spPr>
          <a:xfrm>
            <a:off x="822960" y="5852160"/>
            <a:ext cx="13716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PRIOR PDC</a:t>
            </a:r>
            <a:endParaRPr lang="en-US" sz="900" dirty="0"/>
          </a:p>
        </p:txBody>
      </p:sp>
      <p:sp>
        <p:nvSpPr>
          <p:cNvPr id="37" name="Text 34"/>
          <p:cNvSpPr/>
          <p:nvPr/>
        </p:nvSpPr>
        <p:spPr>
          <a:xfrm>
            <a:off x="2194560" y="5852160"/>
            <a:ext cx="3657600" cy="228600"/>
          </a:xfrm>
          <a:prstGeom prst="rect">
            <a:avLst/>
          </a:prstGeom>
          <a:noFill/>
          <a:ln/>
        </p:spPr>
        <p:txBody>
          <a:bodyPr wrap="square" lIns="0" tIns="0" rIns="0" bIns="0" rtlCol="0" anchor="ctr"/>
          <a:lstStyle/>
          <a:p>
            <a:pPr indent="0" marL="0">
              <a:buNone/>
            </a:pPr>
            <a:r>
              <a:rPr lang="en-US" sz="1050" dirty="0">
                <a:solidFill>
                  <a:srgbClr val="E8ECF5"/>
                </a:solidFill>
                <a:latin typeface="Calibri" pitchFamily="34" charset="0"/>
                <a:ea typeface="Calibri" pitchFamily="34" charset="-122"/>
                <a:cs typeface="Calibri" pitchFamily="34" charset="-120"/>
              </a:rPr>
              <a:t>0.52 on atorvastatin</a:t>
            </a:r>
            <a:endParaRPr lang="en-US" sz="1050" dirty="0"/>
          </a:p>
        </p:txBody>
      </p:sp>
      <p:sp>
        <p:nvSpPr>
          <p:cNvPr id="38" name="Shape 35"/>
          <p:cNvSpPr/>
          <p:nvPr/>
        </p:nvSpPr>
        <p:spPr>
          <a:xfrm>
            <a:off x="640080" y="6153912"/>
            <a:ext cx="73152" cy="73152"/>
          </a:xfrm>
          <a:prstGeom prst="ellipse">
            <a:avLst/>
          </a:prstGeom>
          <a:solidFill>
            <a:srgbClr val="C4B5FD"/>
          </a:solidFill>
          <a:ln/>
        </p:spPr>
      </p:sp>
      <p:sp>
        <p:nvSpPr>
          <p:cNvPr id="39" name="Text 36"/>
          <p:cNvSpPr/>
          <p:nvPr/>
        </p:nvSpPr>
        <p:spPr>
          <a:xfrm>
            <a:off x="822960" y="6080760"/>
            <a:ext cx="13716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ACCESS</a:t>
            </a:r>
            <a:endParaRPr lang="en-US" sz="900" dirty="0"/>
          </a:p>
        </p:txBody>
      </p:sp>
      <p:sp>
        <p:nvSpPr>
          <p:cNvPr id="40" name="Text 37"/>
          <p:cNvSpPr/>
          <p:nvPr/>
        </p:nvSpPr>
        <p:spPr>
          <a:xfrm>
            <a:off x="2194560" y="6080760"/>
            <a:ext cx="3657600" cy="228600"/>
          </a:xfrm>
          <a:prstGeom prst="rect">
            <a:avLst/>
          </a:prstGeom>
          <a:noFill/>
          <a:ln/>
        </p:spPr>
        <p:txBody>
          <a:bodyPr wrap="square" lIns="0" tIns="0" rIns="0" bIns="0" rtlCol="0" anchor="ctr"/>
          <a:lstStyle/>
          <a:p>
            <a:pPr indent="0" marL="0">
              <a:buNone/>
            </a:pPr>
            <a:r>
              <a:rPr lang="en-US" sz="1050" dirty="0">
                <a:solidFill>
                  <a:srgbClr val="E8ECF5"/>
                </a:solidFill>
                <a:latin typeface="Calibri" pitchFamily="34" charset="0"/>
                <a:ea typeface="Calibri" pitchFamily="34" charset="-122"/>
                <a:cs typeface="Calibri" pitchFamily="34" charset="-120"/>
              </a:rPr>
              <a:t>35mi to nearest DXA</a:t>
            </a:r>
            <a:endParaRPr lang="en-US" sz="1050" dirty="0"/>
          </a:p>
        </p:txBody>
      </p:sp>
      <p:sp>
        <p:nvSpPr>
          <p:cNvPr id="41" name="Shape 38"/>
          <p:cNvSpPr/>
          <p:nvPr/>
        </p:nvSpPr>
        <p:spPr>
          <a:xfrm>
            <a:off x="640080" y="6382512"/>
            <a:ext cx="73152" cy="73152"/>
          </a:xfrm>
          <a:prstGeom prst="ellipse">
            <a:avLst/>
          </a:prstGeom>
          <a:solidFill>
            <a:srgbClr val="C4B5FD"/>
          </a:solidFill>
          <a:ln/>
        </p:spPr>
      </p:sp>
      <p:sp>
        <p:nvSpPr>
          <p:cNvPr id="42" name="Text 39"/>
          <p:cNvSpPr/>
          <p:nvPr/>
        </p:nvSpPr>
        <p:spPr>
          <a:xfrm>
            <a:off x="822960" y="6309360"/>
            <a:ext cx="13716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PCP CONTACT</a:t>
            </a:r>
            <a:endParaRPr lang="en-US" sz="900" dirty="0"/>
          </a:p>
        </p:txBody>
      </p:sp>
      <p:sp>
        <p:nvSpPr>
          <p:cNvPr id="43" name="Text 40"/>
          <p:cNvSpPr/>
          <p:nvPr/>
        </p:nvSpPr>
        <p:spPr>
          <a:xfrm>
            <a:off x="2194560" y="6309360"/>
            <a:ext cx="3657600" cy="228600"/>
          </a:xfrm>
          <a:prstGeom prst="rect">
            <a:avLst/>
          </a:prstGeom>
          <a:noFill/>
          <a:ln/>
        </p:spPr>
        <p:txBody>
          <a:bodyPr wrap="square" lIns="0" tIns="0" rIns="0" bIns="0" rtlCol="0" anchor="ctr"/>
          <a:lstStyle/>
          <a:p>
            <a:pPr indent="0" marL="0">
              <a:buNone/>
            </a:pPr>
            <a:r>
              <a:rPr lang="en-US" sz="1050" dirty="0">
                <a:solidFill>
                  <a:srgbClr val="E8ECF5"/>
                </a:solidFill>
                <a:latin typeface="Calibri" pitchFamily="34" charset="0"/>
                <a:ea typeface="Calibri" pitchFamily="34" charset="-122"/>
                <a:cs typeface="Calibri" pitchFamily="34" charset="-120"/>
              </a:rPr>
              <a:t>None in prior 14 months</a:t>
            </a:r>
            <a:endParaRPr lang="en-US" sz="1050" dirty="0"/>
          </a:p>
        </p:txBody>
      </p:sp>
      <p:sp>
        <p:nvSpPr>
          <p:cNvPr id="44" name="Text 41"/>
          <p:cNvSpPr/>
          <p:nvPr/>
        </p:nvSpPr>
        <p:spPr>
          <a:xfrm>
            <a:off x="6492240" y="2194560"/>
            <a:ext cx="512064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CLINICAL REASONING</a:t>
            </a:r>
            <a:endParaRPr lang="en-US" sz="900" dirty="0"/>
          </a:p>
        </p:txBody>
      </p:sp>
      <p:sp>
        <p:nvSpPr>
          <p:cNvPr id="45" name="Shape 42"/>
          <p:cNvSpPr/>
          <p:nvPr/>
        </p:nvSpPr>
        <p:spPr>
          <a:xfrm>
            <a:off x="6492240" y="2514600"/>
            <a:ext cx="45720" cy="2103120"/>
          </a:xfrm>
          <a:prstGeom prst="rect">
            <a:avLst/>
          </a:prstGeom>
          <a:solidFill>
            <a:srgbClr val="F4C060"/>
          </a:solidFill>
          <a:ln/>
        </p:spPr>
      </p:sp>
      <p:sp>
        <p:nvSpPr>
          <p:cNvPr id="46" name="Text 43"/>
          <p:cNvSpPr/>
          <p:nvPr/>
        </p:nvSpPr>
        <p:spPr>
          <a:xfrm>
            <a:off x="6675120" y="2514600"/>
            <a:ext cx="4846320" cy="2103120"/>
          </a:xfrm>
          <a:prstGeom prst="rect">
            <a:avLst/>
          </a:prstGeom>
          <a:noFill/>
          <a:ln/>
        </p:spPr>
        <p:txBody>
          <a:bodyPr wrap="square" lIns="0" tIns="0" rIns="0" bIns="0" rtlCol="0" anchor="t"/>
          <a:lstStyle/>
          <a:p>
            <a:pPr indent="0" marL="0">
              <a:buNone/>
            </a:pPr>
            <a:r>
              <a:rPr lang="en-US" sz="1300" i="1" dirty="0">
                <a:solidFill>
                  <a:srgbClr val="8B9AB3"/>
                </a:solidFill>
                <a:latin typeface="Georgia" pitchFamily="34" charset="0"/>
                <a:ea typeface="Georgia" pitchFamily="34" charset="-122"/>
                <a:cs typeface="Georgia" pitchFamily="34" charset="-120"/>
              </a:rPr>
              <a:t>She will stay in the denominator, but missed preventive care, poor statin adherence, 35 miles to the nearest DXA, and active depression predict she will miss the numerator without active support. Messaging her PCP alone accomplishes little.</a:t>
            </a:r>
            <a:endParaRPr lang="en-US" sz="1300" dirty="0"/>
          </a:p>
        </p:txBody>
      </p:sp>
      <p:sp>
        <p:nvSpPr>
          <p:cNvPr id="47" name="Shape 44"/>
          <p:cNvSpPr/>
          <p:nvPr/>
        </p:nvSpPr>
        <p:spPr>
          <a:xfrm>
            <a:off x="6492240" y="4800600"/>
            <a:ext cx="5120640" cy="1554480"/>
          </a:xfrm>
          <a:prstGeom prst="rect">
            <a:avLst/>
          </a:prstGeom>
          <a:solidFill>
            <a:srgbClr val="151B2C"/>
          </a:solidFill>
          <a:ln w="9525">
            <a:solidFill>
              <a:srgbClr val="F4C060"/>
            </a:solidFill>
            <a:prstDash val="solid"/>
          </a:ln>
        </p:spPr>
      </p:sp>
      <p:sp>
        <p:nvSpPr>
          <p:cNvPr id="48" name="Shape 45"/>
          <p:cNvSpPr/>
          <p:nvPr/>
        </p:nvSpPr>
        <p:spPr>
          <a:xfrm>
            <a:off x="6492240" y="4800600"/>
            <a:ext cx="73152" cy="1554480"/>
          </a:xfrm>
          <a:prstGeom prst="rect">
            <a:avLst/>
          </a:prstGeom>
          <a:solidFill>
            <a:srgbClr val="F4C060"/>
          </a:solidFill>
          <a:ln/>
        </p:spPr>
      </p:sp>
      <p:sp>
        <p:nvSpPr>
          <p:cNvPr id="49" name="Text 46"/>
          <p:cNvSpPr/>
          <p:nvPr/>
        </p:nvSpPr>
        <p:spPr>
          <a:xfrm>
            <a:off x="6766560" y="4983480"/>
            <a:ext cx="4663440" cy="228600"/>
          </a:xfrm>
          <a:prstGeom prst="rect">
            <a:avLst/>
          </a:prstGeom>
          <a:noFill/>
          <a:ln/>
        </p:spPr>
        <p:txBody>
          <a:bodyPr wrap="square" lIns="0" tIns="0" rIns="0" bIns="0" rtlCol="0" anchor="ctr"/>
          <a:lstStyle/>
          <a:p>
            <a:pPr indent="0" marL="0">
              <a:buNone/>
            </a:pPr>
            <a:r>
              <a:rPr lang="en-US" sz="900" b="1" spc="300" kern="0" dirty="0">
                <a:solidFill>
                  <a:srgbClr val="F4C060"/>
                </a:solidFill>
                <a:latin typeface="Consolas" pitchFamily="34" charset="0"/>
                <a:ea typeface="Consolas" pitchFamily="34" charset="-122"/>
                <a:cs typeface="Consolas" pitchFamily="34" charset="-120"/>
              </a:rPr>
              <a:t>OPERATIONAL ACTION</a:t>
            </a:r>
            <a:endParaRPr lang="en-US" sz="900" dirty="0"/>
          </a:p>
        </p:txBody>
      </p:sp>
      <p:sp>
        <p:nvSpPr>
          <p:cNvPr id="50" name="Text 47"/>
          <p:cNvSpPr/>
          <p:nvPr/>
        </p:nvSpPr>
        <p:spPr>
          <a:xfrm>
            <a:off x="6766560" y="5257800"/>
            <a:ext cx="4663440" cy="411480"/>
          </a:xfrm>
          <a:prstGeom prst="rect">
            <a:avLst/>
          </a:prstGeom>
          <a:noFill/>
          <a:ln/>
        </p:spPr>
        <p:txBody>
          <a:bodyPr wrap="square" lIns="0" tIns="0" rIns="0" bIns="0" rtlCol="0" anchor="t"/>
          <a:lstStyle/>
          <a:p>
            <a:pPr indent="0" marL="0">
              <a:buNone/>
            </a:pPr>
            <a:r>
              <a:rPr lang="en-US" sz="1800" dirty="0">
                <a:solidFill>
                  <a:srgbClr val="E8ECF5"/>
                </a:solidFill>
                <a:latin typeface="Georgia" pitchFamily="34" charset="0"/>
                <a:ea typeface="Georgia" pitchFamily="34" charset="-122"/>
                <a:cs typeface="Georgia" pitchFamily="34" charset="-120"/>
              </a:rPr>
              <a:t>Care management referral first</a:t>
            </a:r>
            <a:endParaRPr lang="en-US" sz="1800" dirty="0"/>
          </a:p>
        </p:txBody>
      </p:sp>
      <p:sp>
        <p:nvSpPr>
          <p:cNvPr id="51" name="Text 48"/>
          <p:cNvSpPr/>
          <p:nvPr/>
        </p:nvSpPr>
        <p:spPr>
          <a:xfrm>
            <a:off x="6766560" y="5715000"/>
            <a:ext cx="4663440" cy="594360"/>
          </a:xfrm>
          <a:prstGeom prst="rect">
            <a:avLst/>
          </a:prstGeom>
          <a:noFill/>
          <a:ln/>
        </p:spPr>
        <p:txBody>
          <a:bodyPr wrap="square" lIns="0" tIns="0" rIns="0" bIns="0" rtlCol="0" anchor="t"/>
          <a:lstStyle/>
          <a:p>
            <a:pPr indent="0" marL="0">
              <a:buNone/>
            </a:pPr>
            <a:r>
              <a:rPr lang="en-US" sz="1100" dirty="0">
                <a:solidFill>
                  <a:srgbClr val="8B9AB3"/>
                </a:solidFill>
                <a:latin typeface="Calibri" pitchFamily="34" charset="0"/>
                <a:ea typeface="Calibri" pitchFamily="34" charset="-122"/>
                <a:cs typeface="Calibri" pitchFamily="34" charset="-120"/>
              </a:rPr>
              <a:t>Community health worker for transport assessment. In-home BMD option if available. Member outreach before provider message.</a:t>
            </a:r>
            <a:endParaRPr lang="en-US" sz="1100" dirty="0"/>
          </a:p>
        </p:txBody>
      </p:sp>
      <p:sp>
        <p:nvSpPr>
          <p:cNvPr id="52" name="Text 49"/>
          <p:cNvSpPr/>
          <p:nvPr/>
        </p:nvSpPr>
        <p:spPr>
          <a:xfrm>
            <a:off x="457200" y="6492240"/>
            <a:ext cx="3657600" cy="274320"/>
          </a:xfrm>
          <a:prstGeom prst="rect">
            <a:avLst/>
          </a:prstGeom>
          <a:noFill/>
          <a:ln/>
        </p:spPr>
        <p:txBody>
          <a:bodyPr wrap="square" lIns="0" tIns="0" rIns="0" bIns="0" rtlCol="0" anchor="ctr"/>
          <a:lstStyle/>
          <a:p>
            <a:pPr indent="0" marL="0">
              <a:buNone/>
            </a:pPr>
            <a:r>
              <a:rPr lang="en-US" sz="800" spc="300" kern="0" dirty="0">
                <a:solidFill>
                  <a:srgbClr val="5B6AE5"/>
                </a:solidFill>
                <a:latin typeface="Consolas" pitchFamily="34" charset="0"/>
                <a:ea typeface="Consolas" pitchFamily="34" charset="-122"/>
                <a:cs typeface="Consolas" pitchFamily="34" charset="-120"/>
              </a:rPr>
              <a:t>OMW PREDICTIVE TRIAGE</a:t>
            </a:r>
            <a:endParaRPr lang="en-US" sz="800" dirty="0"/>
          </a:p>
        </p:txBody>
      </p:sp>
      <p:sp>
        <p:nvSpPr>
          <p:cNvPr id="53" name="Text 50"/>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800" spc="200" kern="0" dirty="0">
                <a:solidFill>
                  <a:srgbClr val="5B6AE5"/>
                </a:solidFill>
                <a:latin typeface="Consolas" pitchFamily="34" charset="0"/>
                <a:ea typeface="Consolas" pitchFamily="34" charset="-122"/>
                <a:cs typeface="Consolas"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640080" y="411480"/>
            <a:ext cx="7315200" cy="274320"/>
          </a:xfrm>
          <a:prstGeom prst="rect">
            <a:avLst/>
          </a:prstGeom>
          <a:noFill/>
          <a:ln/>
        </p:spPr>
        <p:txBody>
          <a:bodyPr wrap="square" lIns="0" tIns="0" rIns="0" bIns="0" rtlCol="0" anchor="ctr"/>
          <a:lstStyle/>
          <a:p>
            <a:pPr indent="0" marL="0">
              <a:buNone/>
            </a:pPr>
            <a:r>
              <a:rPr lang="en-US" sz="1000" b="1" spc="400" kern="0" dirty="0">
                <a:solidFill>
                  <a:srgbClr val="22D3A5"/>
                </a:solidFill>
                <a:latin typeface="Consolas" pitchFamily="34" charset="0"/>
                <a:ea typeface="Consolas" pitchFamily="34" charset="-122"/>
                <a:cs typeface="Consolas" pitchFamily="34" charset="-120"/>
              </a:rPr>
              <a:t>04  ·  CASE 03 OF 04</a:t>
            </a:r>
            <a:endParaRPr lang="en-US" sz="1000" dirty="0"/>
          </a:p>
        </p:txBody>
      </p:sp>
      <p:sp>
        <p:nvSpPr>
          <p:cNvPr id="3" name="Shape 1"/>
          <p:cNvSpPr/>
          <p:nvPr/>
        </p:nvSpPr>
        <p:spPr>
          <a:xfrm>
            <a:off x="640080" y="731520"/>
            <a:ext cx="1828800" cy="0"/>
          </a:xfrm>
          <a:prstGeom prst="line">
            <a:avLst/>
          </a:prstGeom>
          <a:noFill/>
          <a:ln w="6350">
            <a:solidFill>
              <a:srgbClr val="2D3A54"/>
            </a:solidFill>
            <a:prstDash val="solid"/>
          </a:ln>
        </p:spPr>
      </p:sp>
      <p:sp>
        <p:nvSpPr>
          <p:cNvPr id="4" name="Text 2"/>
          <p:cNvSpPr/>
          <p:nvPr/>
        </p:nvSpPr>
        <p:spPr>
          <a:xfrm>
            <a:off x="640080" y="868680"/>
            <a:ext cx="73152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M-3957   ·   AGE 83   ·   VERTEBRAL FRACTURE · INPATIENT ADT · RISING FRAILTY</a:t>
            </a:r>
            <a:endParaRPr lang="en-US" sz="900" dirty="0"/>
          </a:p>
        </p:txBody>
      </p:sp>
      <p:sp>
        <p:nvSpPr>
          <p:cNvPr id="5" name="Text 3"/>
          <p:cNvSpPr/>
          <p:nvPr/>
        </p:nvSpPr>
        <p:spPr>
          <a:xfrm>
            <a:off x="640080" y="1143000"/>
            <a:ext cx="7315200" cy="822960"/>
          </a:xfrm>
          <a:prstGeom prst="rect">
            <a:avLst/>
          </a:prstGeom>
          <a:noFill/>
          <a:ln/>
        </p:spPr>
        <p:txBody>
          <a:bodyPr wrap="square" lIns="0" tIns="0" rIns="0" bIns="0" rtlCol="0" anchor="t"/>
          <a:lstStyle/>
          <a:p>
            <a:pPr indent="0" marL="0">
              <a:buNone/>
            </a:pPr>
            <a:r>
              <a:rPr lang="en-US" sz="4000" dirty="0">
                <a:solidFill>
                  <a:srgbClr val="E8ECF5"/>
                </a:solidFill>
                <a:latin typeface="Georgia" pitchFamily="34" charset="0"/>
                <a:ea typeface="Georgia" pitchFamily="34" charset="-122"/>
                <a:cs typeface="Georgia" pitchFamily="34" charset="-120"/>
              </a:rPr>
              <a:t>Helen Rodriguez</a:t>
            </a:r>
            <a:endParaRPr lang="en-US" sz="4000" dirty="0"/>
          </a:p>
        </p:txBody>
      </p:sp>
      <p:sp>
        <p:nvSpPr>
          <p:cNvPr id="6" name="Shape 4"/>
          <p:cNvSpPr/>
          <p:nvPr/>
        </p:nvSpPr>
        <p:spPr>
          <a:xfrm>
            <a:off x="8046720" y="868680"/>
            <a:ext cx="3566160" cy="502920"/>
          </a:xfrm>
          <a:prstGeom prst="rect">
            <a:avLst/>
          </a:prstGeom>
          <a:solidFill>
            <a:srgbClr val="0A0E1A"/>
          </a:solidFill>
          <a:ln w="19050">
            <a:solidFill>
              <a:srgbClr val="A58EF7"/>
            </a:solidFill>
            <a:prstDash val="solid"/>
          </a:ln>
        </p:spPr>
      </p:sp>
      <p:sp>
        <p:nvSpPr>
          <p:cNvPr id="7" name="Text 5"/>
          <p:cNvSpPr/>
          <p:nvPr/>
        </p:nvSpPr>
        <p:spPr>
          <a:xfrm>
            <a:off x="8046720" y="868680"/>
            <a:ext cx="3566160" cy="502920"/>
          </a:xfrm>
          <a:prstGeom prst="rect">
            <a:avLst/>
          </a:prstGeom>
          <a:noFill/>
          <a:ln/>
        </p:spPr>
        <p:txBody>
          <a:bodyPr wrap="square" lIns="0" tIns="0" rIns="0" bIns="0" rtlCol="0" anchor="ctr"/>
          <a:lstStyle/>
          <a:p>
            <a:pPr algn="ctr" indent="0" marL="0">
              <a:buNone/>
            </a:pPr>
            <a:r>
              <a:rPr lang="en-US" sz="1200" b="1" spc="300" kern="0" dirty="0">
                <a:solidFill>
                  <a:srgbClr val="A58EF7"/>
                </a:solidFill>
                <a:latin typeface="Consolas" pitchFamily="34" charset="0"/>
                <a:ea typeface="Consolas" pitchFamily="34" charset="-122"/>
                <a:cs typeface="Consolas" pitchFamily="34" charset="-120"/>
              </a:rPr>
              <a:t>TIER 03 · MONITOR</a:t>
            </a:r>
            <a:endParaRPr lang="en-US" sz="1200" dirty="0"/>
          </a:p>
        </p:txBody>
      </p:sp>
      <p:pic>
        <p:nvPicPr>
          <p:cNvPr id="8" name="Image 0" descr="preencoded.png">    </p:cNvPr>
          <p:cNvPicPr>
            <a:picLocks noChangeAspect="1"/>
          </p:cNvPicPr>
          <p:nvPr/>
        </p:nvPicPr>
        <p:blipFill>
          <a:blip r:embed="rId1"/>
          <a:stretch>
            <a:fillRect/>
          </a:stretch>
        </p:blipFill>
        <p:spPr>
          <a:xfrm>
            <a:off x="10881360" y="1508760"/>
            <a:ext cx="731520" cy="731520"/>
          </a:xfrm>
          <a:prstGeom prst="rect">
            <a:avLst/>
          </a:prstGeom>
        </p:spPr>
      </p:pic>
      <p:sp>
        <p:nvSpPr>
          <p:cNvPr id="9" name="Text 6"/>
          <p:cNvSpPr/>
          <p:nvPr/>
        </p:nvSpPr>
        <p:spPr>
          <a:xfrm>
            <a:off x="640080" y="2194560"/>
            <a:ext cx="530352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SCORE PROFILE</a:t>
            </a:r>
            <a:endParaRPr lang="en-US" sz="900" dirty="0"/>
          </a:p>
        </p:txBody>
      </p:sp>
      <p:sp>
        <p:nvSpPr>
          <p:cNvPr id="10" name="Text 7"/>
          <p:cNvSpPr/>
          <p:nvPr/>
        </p:nvSpPr>
        <p:spPr>
          <a:xfrm>
            <a:off x="640080" y="2514600"/>
            <a:ext cx="640080" cy="274320"/>
          </a:xfrm>
          <a:prstGeom prst="rect">
            <a:avLst/>
          </a:prstGeom>
          <a:noFill/>
          <a:ln/>
        </p:spPr>
        <p:txBody>
          <a:bodyPr wrap="square" lIns="0" tIns="0" rIns="0" bIns="0" rtlCol="0" anchor="ctr"/>
          <a:lstStyle/>
          <a:p>
            <a:pPr indent="0" marL="0">
              <a:buNone/>
            </a:pPr>
            <a:r>
              <a:rPr lang="en-US" sz="1100" b="1" spc="200" kern="0" dirty="0">
                <a:solidFill>
                  <a:srgbClr val="4DD2FF"/>
                </a:solidFill>
                <a:latin typeface="Consolas" pitchFamily="34" charset="0"/>
                <a:ea typeface="Consolas" pitchFamily="34" charset="-122"/>
                <a:cs typeface="Consolas" pitchFamily="34" charset="-120"/>
              </a:rPr>
              <a:t>FCS</a:t>
            </a:r>
            <a:endParaRPr lang="en-US" sz="1100" dirty="0"/>
          </a:p>
        </p:txBody>
      </p:sp>
      <p:sp>
        <p:nvSpPr>
          <p:cNvPr id="11" name="Shape 8"/>
          <p:cNvSpPr/>
          <p:nvPr/>
        </p:nvSpPr>
        <p:spPr>
          <a:xfrm>
            <a:off x="1325880" y="2596896"/>
            <a:ext cx="3931920" cy="128016"/>
          </a:xfrm>
          <a:prstGeom prst="rect">
            <a:avLst/>
          </a:prstGeom>
          <a:solidFill>
            <a:srgbClr val="111827"/>
          </a:solidFill>
          <a:ln/>
        </p:spPr>
      </p:sp>
      <p:sp>
        <p:nvSpPr>
          <p:cNvPr id="12" name="Shape 9"/>
          <p:cNvSpPr/>
          <p:nvPr/>
        </p:nvSpPr>
        <p:spPr>
          <a:xfrm>
            <a:off x="1325880" y="2596896"/>
            <a:ext cx="2909621" cy="128016"/>
          </a:xfrm>
          <a:prstGeom prst="rect">
            <a:avLst/>
          </a:prstGeom>
          <a:solidFill>
            <a:srgbClr val="4DD2FF"/>
          </a:solidFill>
          <a:ln/>
        </p:spPr>
      </p:sp>
      <p:sp>
        <p:nvSpPr>
          <p:cNvPr id="13" name="Text 10"/>
          <p:cNvSpPr/>
          <p:nvPr/>
        </p:nvSpPr>
        <p:spPr>
          <a:xfrm>
            <a:off x="5303520" y="2514600"/>
            <a:ext cx="640080" cy="274320"/>
          </a:xfrm>
          <a:prstGeom prst="rect">
            <a:avLst/>
          </a:prstGeom>
          <a:noFill/>
          <a:ln/>
        </p:spPr>
        <p:txBody>
          <a:bodyPr wrap="square" lIns="0" tIns="0" rIns="0" bIns="0" rtlCol="0" anchor="ctr"/>
          <a:lstStyle/>
          <a:p>
            <a:pPr algn="r" indent="0" marL="0">
              <a:buNone/>
            </a:pPr>
            <a:r>
              <a:rPr lang="en-US" sz="1300" b="1" dirty="0">
                <a:solidFill>
                  <a:srgbClr val="E8ECF5"/>
                </a:solidFill>
                <a:latin typeface="Consolas" pitchFamily="34" charset="0"/>
                <a:ea typeface="Consolas" pitchFamily="34" charset="-122"/>
                <a:cs typeface="Consolas" pitchFamily="34" charset="-120"/>
              </a:rPr>
              <a:t>74</a:t>
            </a:r>
            <a:endParaRPr lang="en-US" sz="1300" dirty="0"/>
          </a:p>
        </p:txBody>
      </p:sp>
      <p:sp>
        <p:nvSpPr>
          <p:cNvPr id="14" name="Text 11"/>
          <p:cNvSpPr/>
          <p:nvPr/>
        </p:nvSpPr>
        <p:spPr>
          <a:xfrm>
            <a:off x="640080" y="2880360"/>
            <a:ext cx="640080" cy="274320"/>
          </a:xfrm>
          <a:prstGeom prst="rect">
            <a:avLst/>
          </a:prstGeom>
          <a:noFill/>
          <a:ln/>
        </p:spPr>
        <p:txBody>
          <a:bodyPr wrap="square" lIns="0" tIns="0" rIns="0" bIns="0" rtlCol="0" anchor="ctr"/>
          <a:lstStyle/>
          <a:p>
            <a:pPr indent="0" marL="0">
              <a:buNone/>
            </a:pPr>
            <a:r>
              <a:rPr lang="en-US" sz="1100" b="1" spc="200" kern="0" dirty="0">
                <a:solidFill>
                  <a:srgbClr val="FF8A65"/>
                </a:solidFill>
                <a:latin typeface="Consolas" pitchFamily="34" charset="0"/>
                <a:ea typeface="Consolas" pitchFamily="34" charset="-122"/>
                <a:cs typeface="Consolas" pitchFamily="34" charset="-120"/>
              </a:rPr>
              <a:t>EDRS</a:t>
            </a:r>
            <a:endParaRPr lang="en-US" sz="1100" dirty="0"/>
          </a:p>
        </p:txBody>
      </p:sp>
      <p:sp>
        <p:nvSpPr>
          <p:cNvPr id="15" name="Shape 12"/>
          <p:cNvSpPr/>
          <p:nvPr/>
        </p:nvSpPr>
        <p:spPr>
          <a:xfrm>
            <a:off x="1325880" y="2962656"/>
            <a:ext cx="3931920" cy="128016"/>
          </a:xfrm>
          <a:prstGeom prst="rect">
            <a:avLst/>
          </a:prstGeom>
          <a:solidFill>
            <a:srgbClr val="111827"/>
          </a:solidFill>
          <a:ln/>
        </p:spPr>
      </p:sp>
      <p:sp>
        <p:nvSpPr>
          <p:cNvPr id="16" name="Shape 13"/>
          <p:cNvSpPr/>
          <p:nvPr/>
        </p:nvSpPr>
        <p:spPr>
          <a:xfrm>
            <a:off x="1325880" y="2962656"/>
            <a:ext cx="2437790" cy="128016"/>
          </a:xfrm>
          <a:prstGeom prst="rect">
            <a:avLst/>
          </a:prstGeom>
          <a:solidFill>
            <a:srgbClr val="FF8A65"/>
          </a:solidFill>
          <a:ln/>
        </p:spPr>
      </p:sp>
      <p:sp>
        <p:nvSpPr>
          <p:cNvPr id="17" name="Text 14"/>
          <p:cNvSpPr/>
          <p:nvPr/>
        </p:nvSpPr>
        <p:spPr>
          <a:xfrm>
            <a:off x="5303520" y="2880360"/>
            <a:ext cx="640080" cy="274320"/>
          </a:xfrm>
          <a:prstGeom prst="rect">
            <a:avLst/>
          </a:prstGeom>
          <a:noFill/>
          <a:ln/>
        </p:spPr>
        <p:txBody>
          <a:bodyPr wrap="square" lIns="0" tIns="0" rIns="0" bIns="0" rtlCol="0" anchor="ctr"/>
          <a:lstStyle/>
          <a:p>
            <a:pPr algn="r" indent="0" marL="0">
              <a:buNone/>
            </a:pPr>
            <a:r>
              <a:rPr lang="en-US" sz="1300" b="1" dirty="0">
                <a:solidFill>
                  <a:srgbClr val="E8ECF5"/>
                </a:solidFill>
                <a:latin typeface="Consolas" pitchFamily="34" charset="0"/>
                <a:ea typeface="Consolas" pitchFamily="34" charset="-122"/>
                <a:cs typeface="Consolas" pitchFamily="34" charset="-120"/>
              </a:rPr>
              <a:t>62</a:t>
            </a:r>
            <a:endParaRPr lang="en-US" sz="1300" dirty="0"/>
          </a:p>
        </p:txBody>
      </p:sp>
      <p:sp>
        <p:nvSpPr>
          <p:cNvPr id="18" name="Text 15"/>
          <p:cNvSpPr/>
          <p:nvPr/>
        </p:nvSpPr>
        <p:spPr>
          <a:xfrm>
            <a:off x="640080" y="3246120"/>
            <a:ext cx="640080" cy="274320"/>
          </a:xfrm>
          <a:prstGeom prst="rect">
            <a:avLst/>
          </a:prstGeom>
          <a:noFill/>
          <a:ln/>
        </p:spPr>
        <p:txBody>
          <a:bodyPr wrap="square" lIns="0" tIns="0" rIns="0" bIns="0" rtlCol="0" anchor="ctr"/>
          <a:lstStyle/>
          <a:p>
            <a:pPr indent="0" marL="0">
              <a:buNone/>
            </a:pPr>
            <a:r>
              <a:rPr lang="en-US" sz="1100" b="1" spc="200" kern="0" dirty="0">
                <a:solidFill>
                  <a:srgbClr val="C4B5FD"/>
                </a:solidFill>
                <a:latin typeface="Consolas" pitchFamily="34" charset="0"/>
                <a:ea typeface="Consolas" pitchFamily="34" charset="-122"/>
                <a:cs typeface="Consolas" pitchFamily="34" charset="-120"/>
              </a:rPr>
              <a:t>NCRS</a:t>
            </a:r>
            <a:endParaRPr lang="en-US" sz="1100" dirty="0"/>
          </a:p>
        </p:txBody>
      </p:sp>
      <p:sp>
        <p:nvSpPr>
          <p:cNvPr id="19" name="Shape 16"/>
          <p:cNvSpPr/>
          <p:nvPr/>
        </p:nvSpPr>
        <p:spPr>
          <a:xfrm>
            <a:off x="1325880" y="3328416"/>
            <a:ext cx="3931920" cy="128016"/>
          </a:xfrm>
          <a:prstGeom prst="rect">
            <a:avLst/>
          </a:prstGeom>
          <a:solidFill>
            <a:srgbClr val="111827"/>
          </a:solidFill>
          <a:ln/>
        </p:spPr>
      </p:sp>
      <p:sp>
        <p:nvSpPr>
          <p:cNvPr id="20" name="Shape 17"/>
          <p:cNvSpPr/>
          <p:nvPr/>
        </p:nvSpPr>
        <p:spPr>
          <a:xfrm>
            <a:off x="1325880" y="3328416"/>
            <a:ext cx="1887322" cy="128016"/>
          </a:xfrm>
          <a:prstGeom prst="rect">
            <a:avLst/>
          </a:prstGeom>
          <a:solidFill>
            <a:srgbClr val="C4B5FD"/>
          </a:solidFill>
          <a:ln/>
        </p:spPr>
      </p:sp>
      <p:sp>
        <p:nvSpPr>
          <p:cNvPr id="21" name="Text 18"/>
          <p:cNvSpPr/>
          <p:nvPr/>
        </p:nvSpPr>
        <p:spPr>
          <a:xfrm>
            <a:off x="5303520" y="3246120"/>
            <a:ext cx="640080" cy="274320"/>
          </a:xfrm>
          <a:prstGeom prst="rect">
            <a:avLst/>
          </a:prstGeom>
          <a:noFill/>
          <a:ln/>
        </p:spPr>
        <p:txBody>
          <a:bodyPr wrap="square" lIns="0" tIns="0" rIns="0" bIns="0" rtlCol="0" anchor="ctr"/>
          <a:lstStyle/>
          <a:p>
            <a:pPr algn="r" indent="0" marL="0">
              <a:buNone/>
            </a:pPr>
            <a:r>
              <a:rPr lang="en-US" sz="1300" b="1" dirty="0">
                <a:solidFill>
                  <a:srgbClr val="E8ECF5"/>
                </a:solidFill>
                <a:latin typeface="Consolas" pitchFamily="34" charset="0"/>
                <a:ea typeface="Consolas" pitchFamily="34" charset="-122"/>
                <a:cs typeface="Consolas" pitchFamily="34" charset="-120"/>
              </a:rPr>
              <a:t>48</a:t>
            </a:r>
            <a:endParaRPr lang="en-US" sz="1300" dirty="0"/>
          </a:p>
        </p:txBody>
      </p:sp>
      <p:sp>
        <p:nvSpPr>
          <p:cNvPr id="22" name="Shape 19"/>
          <p:cNvSpPr/>
          <p:nvPr/>
        </p:nvSpPr>
        <p:spPr>
          <a:xfrm>
            <a:off x="640080" y="3794760"/>
            <a:ext cx="5303520" cy="914400"/>
          </a:xfrm>
          <a:prstGeom prst="rect">
            <a:avLst/>
          </a:prstGeom>
          <a:solidFill>
            <a:srgbClr val="111827"/>
          </a:solidFill>
          <a:ln w="9525">
            <a:solidFill>
              <a:srgbClr val="A58EF7"/>
            </a:solidFill>
            <a:prstDash val="solid"/>
          </a:ln>
        </p:spPr>
      </p:sp>
      <p:sp>
        <p:nvSpPr>
          <p:cNvPr id="23" name="Text 20"/>
          <p:cNvSpPr/>
          <p:nvPr/>
        </p:nvSpPr>
        <p:spPr>
          <a:xfrm>
            <a:off x="868680" y="3904488"/>
            <a:ext cx="228600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OPPORTUNITY SCORE</a:t>
            </a:r>
            <a:endParaRPr lang="en-US" sz="900" dirty="0"/>
          </a:p>
        </p:txBody>
      </p:sp>
      <p:sp>
        <p:nvSpPr>
          <p:cNvPr id="24" name="Text 21"/>
          <p:cNvSpPr/>
          <p:nvPr/>
        </p:nvSpPr>
        <p:spPr>
          <a:xfrm>
            <a:off x="868680" y="4069080"/>
            <a:ext cx="4846320" cy="594360"/>
          </a:xfrm>
          <a:prstGeom prst="rect">
            <a:avLst/>
          </a:prstGeom>
          <a:noFill/>
          <a:ln/>
        </p:spPr>
        <p:txBody>
          <a:bodyPr wrap="square" lIns="0" tIns="0" rIns="0" bIns="0" rtlCol="0" anchor="ctr"/>
          <a:lstStyle/>
          <a:p>
            <a:pPr indent="0" marL="0">
              <a:buNone/>
            </a:pPr>
            <a:r>
              <a:rPr lang="en-US" sz="4400" dirty="0">
                <a:solidFill>
                  <a:srgbClr val="A58EF7"/>
                </a:solidFill>
                <a:latin typeface="Georgia" pitchFamily="34" charset="0"/>
                <a:ea typeface="Georgia" pitchFamily="34" charset="-122"/>
                <a:cs typeface="Georgia" pitchFamily="34" charset="-120"/>
              </a:rPr>
              <a:t>15</a:t>
            </a:r>
            <a:pPr indent="0" marL="0">
              <a:buNone/>
            </a:pPr>
            <a:r>
              <a:rPr lang="en-US" sz="1600" dirty="0">
                <a:solidFill>
                  <a:srgbClr val="5B6AE5"/>
                </a:solidFill>
                <a:latin typeface="Georgia" pitchFamily="34" charset="0"/>
                <a:ea typeface="Georgia" pitchFamily="34" charset="-122"/>
                <a:cs typeface="Georgia" pitchFamily="34" charset="-120"/>
              </a:rPr>
              <a:t>/100</a:t>
            </a:r>
            <a:endParaRPr lang="en-US" sz="4400" dirty="0"/>
          </a:p>
        </p:txBody>
      </p:sp>
      <p:sp>
        <p:nvSpPr>
          <p:cNvPr id="25" name="Text 22"/>
          <p:cNvSpPr/>
          <p:nvPr/>
        </p:nvSpPr>
        <p:spPr>
          <a:xfrm>
            <a:off x="640080" y="4892040"/>
            <a:ext cx="530352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KEY SIGNALS</a:t>
            </a:r>
            <a:endParaRPr lang="en-US" sz="900" dirty="0"/>
          </a:p>
        </p:txBody>
      </p:sp>
      <p:sp>
        <p:nvSpPr>
          <p:cNvPr id="26" name="Shape 23"/>
          <p:cNvSpPr/>
          <p:nvPr/>
        </p:nvSpPr>
        <p:spPr>
          <a:xfrm>
            <a:off x="640080" y="5239512"/>
            <a:ext cx="73152" cy="73152"/>
          </a:xfrm>
          <a:prstGeom prst="ellipse">
            <a:avLst/>
          </a:prstGeom>
          <a:solidFill>
            <a:srgbClr val="4DD2FF"/>
          </a:solidFill>
          <a:ln/>
        </p:spPr>
      </p:sp>
      <p:sp>
        <p:nvSpPr>
          <p:cNvPr id="27" name="Text 24"/>
          <p:cNvSpPr/>
          <p:nvPr/>
        </p:nvSpPr>
        <p:spPr>
          <a:xfrm>
            <a:off x="822960" y="5166360"/>
            <a:ext cx="13716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SITE</a:t>
            </a:r>
            <a:endParaRPr lang="en-US" sz="900" dirty="0"/>
          </a:p>
        </p:txBody>
      </p:sp>
      <p:sp>
        <p:nvSpPr>
          <p:cNvPr id="28" name="Text 25"/>
          <p:cNvSpPr/>
          <p:nvPr/>
        </p:nvSpPr>
        <p:spPr>
          <a:xfrm>
            <a:off x="2194560" y="5166360"/>
            <a:ext cx="3657600" cy="228600"/>
          </a:xfrm>
          <a:prstGeom prst="rect">
            <a:avLst/>
          </a:prstGeom>
          <a:noFill/>
          <a:ln/>
        </p:spPr>
        <p:txBody>
          <a:bodyPr wrap="square" lIns="0" tIns="0" rIns="0" bIns="0" rtlCol="0" anchor="ctr"/>
          <a:lstStyle/>
          <a:p>
            <a:pPr indent="0" marL="0">
              <a:buNone/>
            </a:pPr>
            <a:r>
              <a:rPr lang="en-US" sz="1050" dirty="0">
                <a:solidFill>
                  <a:srgbClr val="E8ECF5"/>
                </a:solidFill>
                <a:latin typeface="Calibri" pitchFamily="34" charset="0"/>
                <a:ea typeface="Calibri" pitchFamily="34" charset="-122"/>
                <a:cs typeface="Calibri" pitchFamily="34" charset="-120"/>
              </a:rPr>
              <a:t>T12 compression fracture</a:t>
            </a:r>
            <a:endParaRPr lang="en-US" sz="1050" dirty="0"/>
          </a:p>
        </p:txBody>
      </p:sp>
      <p:sp>
        <p:nvSpPr>
          <p:cNvPr id="29" name="Shape 26"/>
          <p:cNvSpPr/>
          <p:nvPr/>
        </p:nvSpPr>
        <p:spPr>
          <a:xfrm>
            <a:off x="640080" y="5468112"/>
            <a:ext cx="73152" cy="73152"/>
          </a:xfrm>
          <a:prstGeom prst="ellipse">
            <a:avLst/>
          </a:prstGeom>
          <a:solidFill>
            <a:srgbClr val="FF8A65"/>
          </a:solidFill>
          <a:ln/>
        </p:spPr>
      </p:sp>
      <p:sp>
        <p:nvSpPr>
          <p:cNvPr id="30" name="Text 27"/>
          <p:cNvSpPr/>
          <p:nvPr/>
        </p:nvSpPr>
        <p:spPr>
          <a:xfrm>
            <a:off x="822960" y="5394960"/>
            <a:ext cx="13716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AGE</a:t>
            </a:r>
            <a:endParaRPr lang="en-US" sz="900" dirty="0"/>
          </a:p>
        </p:txBody>
      </p:sp>
      <p:sp>
        <p:nvSpPr>
          <p:cNvPr id="31" name="Text 28"/>
          <p:cNvSpPr/>
          <p:nvPr/>
        </p:nvSpPr>
        <p:spPr>
          <a:xfrm>
            <a:off x="2194560" y="5394960"/>
            <a:ext cx="3657600" cy="228600"/>
          </a:xfrm>
          <a:prstGeom prst="rect">
            <a:avLst/>
          </a:prstGeom>
          <a:noFill/>
          <a:ln/>
        </p:spPr>
        <p:txBody>
          <a:bodyPr wrap="square" lIns="0" tIns="0" rIns="0" bIns="0" rtlCol="0" anchor="ctr"/>
          <a:lstStyle/>
          <a:p>
            <a:pPr indent="0" marL="0">
              <a:buNone/>
            </a:pPr>
            <a:r>
              <a:rPr lang="en-US" sz="1050" dirty="0">
                <a:solidFill>
                  <a:srgbClr val="E8ECF5"/>
                </a:solidFill>
                <a:latin typeface="Calibri" pitchFamily="34" charset="0"/>
                <a:ea typeface="Calibri" pitchFamily="34" charset="-122"/>
                <a:cs typeface="Calibri" pitchFamily="34" charset="-120"/>
              </a:rPr>
              <a:t>83 (frailty-alone applies)</a:t>
            </a:r>
            <a:endParaRPr lang="en-US" sz="1050" dirty="0"/>
          </a:p>
        </p:txBody>
      </p:sp>
      <p:sp>
        <p:nvSpPr>
          <p:cNvPr id="32" name="Shape 29"/>
          <p:cNvSpPr/>
          <p:nvPr/>
        </p:nvSpPr>
        <p:spPr>
          <a:xfrm>
            <a:off x="640080" y="5696712"/>
            <a:ext cx="73152" cy="73152"/>
          </a:xfrm>
          <a:prstGeom prst="ellipse">
            <a:avLst/>
          </a:prstGeom>
          <a:solidFill>
            <a:srgbClr val="FF8A65"/>
          </a:solidFill>
          <a:ln/>
        </p:spPr>
      </p:sp>
      <p:sp>
        <p:nvSpPr>
          <p:cNvPr id="33" name="Text 30"/>
          <p:cNvSpPr/>
          <p:nvPr/>
        </p:nvSpPr>
        <p:spPr>
          <a:xfrm>
            <a:off x="822960" y="5623560"/>
            <a:ext cx="13716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HFRS</a:t>
            </a:r>
            <a:endParaRPr lang="en-US" sz="900" dirty="0"/>
          </a:p>
        </p:txBody>
      </p:sp>
      <p:sp>
        <p:nvSpPr>
          <p:cNvPr id="34" name="Text 31"/>
          <p:cNvSpPr/>
          <p:nvPr/>
        </p:nvSpPr>
        <p:spPr>
          <a:xfrm>
            <a:off x="2194560" y="5623560"/>
            <a:ext cx="3657600" cy="228600"/>
          </a:xfrm>
          <a:prstGeom prst="rect">
            <a:avLst/>
          </a:prstGeom>
          <a:noFill/>
          <a:ln/>
        </p:spPr>
        <p:txBody>
          <a:bodyPr wrap="square" lIns="0" tIns="0" rIns="0" bIns="0" rtlCol="0" anchor="ctr"/>
          <a:lstStyle/>
          <a:p>
            <a:pPr indent="0" marL="0">
              <a:buNone/>
            </a:pPr>
            <a:r>
              <a:rPr lang="en-US" sz="1050" dirty="0">
                <a:solidFill>
                  <a:srgbClr val="E8ECF5"/>
                </a:solidFill>
                <a:latin typeface="Calibri" pitchFamily="34" charset="0"/>
                <a:ea typeface="Calibri" pitchFamily="34" charset="-122"/>
                <a:cs typeface="Calibri" pitchFamily="34" charset="-120"/>
              </a:rPr>
              <a:t>12 (moderate, rising)</a:t>
            </a:r>
            <a:endParaRPr lang="en-US" sz="1050" dirty="0"/>
          </a:p>
        </p:txBody>
      </p:sp>
      <p:sp>
        <p:nvSpPr>
          <p:cNvPr id="35" name="Shape 32"/>
          <p:cNvSpPr/>
          <p:nvPr/>
        </p:nvSpPr>
        <p:spPr>
          <a:xfrm>
            <a:off x="640080" y="5925312"/>
            <a:ext cx="73152" cy="73152"/>
          </a:xfrm>
          <a:prstGeom prst="ellipse">
            <a:avLst/>
          </a:prstGeom>
          <a:solidFill>
            <a:srgbClr val="FF8A65"/>
          </a:solidFill>
          <a:ln/>
        </p:spPr>
      </p:sp>
      <p:sp>
        <p:nvSpPr>
          <p:cNvPr id="36" name="Text 33"/>
          <p:cNvSpPr/>
          <p:nvPr/>
        </p:nvSpPr>
        <p:spPr>
          <a:xfrm>
            <a:off x="822960" y="5852160"/>
            <a:ext cx="13716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SIGNAL</a:t>
            </a:r>
            <a:endParaRPr lang="en-US" sz="900" dirty="0"/>
          </a:p>
        </p:txBody>
      </p:sp>
      <p:sp>
        <p:nvSpPr>
          <p:cNvPr id="37" name="Text 34"/>
          <p:cNvSpPr/>
          <p:nvPr/>
        </p:nvSpPr>
        <p:spPr>
          <a:xfrm>
            <a:off x="2194560" y="5852160"/>
            <a:ext cx="3657600" cy="228600"/>
          </a:xfrm>
          <a:prstGeom prst="rect">
            <a:avLst/>
          </a:prstGeom>
          <a:noFill/>
          <a:ln/>
        </p:spPr>
        <p:txBody>
          <a:bodyPr wrap="square" lIns="0" tIns="0" rIns="0" bIns="0" rtlCol="0" anchor="ctr"/>
          <a:lstStyle/>
          <a:p>
            <a:pPr indent="0" marL="0">
              <a:buNone/>
            </a:pPr>
            <a:r>
              <a:rPr lang="en-US" sz="1050" dirty="0">
                <a:solidFill>
                  <a:srgbClr val="E8ECF5"/>
                </a:solidFill>
                <a:latin typeface="Calibri" pitchFamily="34" charset="0"/>
                <a:ea typeface="Calibri" pitchFamily="34" charset="-122"/>
                <a:cs typeface="Calibri" pitchFamily="34" charset="-120"/>
              </a:rPr>
              <a:t>New home oxygen 2 weeks ago</a:t>
            </a:r>
            <a:endParaRPr lang="en-US" sz="1050" dirty="0"/>
          </a:p>
        </p:txBody>
      </p:sp>
      <p:sp>
        <p:nvSpPr>
          <p:cNvPr id="38" name="Shape 35"/>
          <p:cNvSpPr/>
          <p:nvPr/>
        </p:nvSpPr>
        <p:spPr>
          <a:xfrm>
            <a:off x="640080" y="6153912"/>
            <a:ext cx="73152" cy="73152"/>
          </a:xfrm>
          <a:prstGeom prst="ellipse">
            <a:avLst/>
          </a:prstGeom>
          <a:solidFill>
            <a:srgbClr val="FF8A65"/>
          </a:solidFill>
          <a:ln/>
        </p:spPr>
      </p:sp>
      <p:sp>
        <p:nvSpPr>
          <p:cNvPr id="39" name="Text 36"/>
          <p:cNvSpPr/>
          <p:nvPr/>
        </p:nvSpPr>
        <p:spPr>
          <a:xfrm>
            <a:off x="822960" y="6080760"/>
            <a:ext cx="13716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UTILIZATION</a:t>
            </a:r>
            <a:endParaRPr lang="en-US" sz="900" dirty="0"/>
          </a:p>
        </p:txBody>
      </p:sp>
      <p:sp>
        <p:nvSpPr>
          <p:cNvPr id="40" name="Text 37"/>
          <p:cNvSpPr/>
          <p:nvPr/>
        </p:nvSpPr>
        <p:spPr>
          <a:xfrm>
            <a:off x="2194560" y="6080760"/>
            <a:ext cx="3657600" cy="228600"/>
          </a:xfrm>
          <a:prstGeom prst="rect">
            <a:avLst/>
          </a:prstGeom>
          <a:noFill/>
          <a:ln/>
        </p:spPr>
        <p:txBody>
          <a:bodyPr wrap="square" lIns="0" tIns="0" rIns="0" bIns="0" rtlCol="0" anchor="ctr"/>
          <a:lstStyle/>
          <a:p>
            <a:pPr indent="0" marL="0">
              <a:buNone/>
            </a:pPr>
            <a:r>
              <a:rPr lang="en-US" sz="1050" dirty="0">
                <a:solidFill>
                  <a:srgbClr val="E8ECF5"/>
                </a:solidFill>
                <a:latin typeface="Calibri" pitchFamily="34" charset="0"/>
                <a:ea typeface="Calibri" pitchFamily="34" charset="-122"/>
                <a:cs typeface="Calibri" pitchFamily="34" charset="-120"/>
              </a:rPr>
              <a:t>2 inpatient stays, 12mo</a:t>
            </a:r>
            <a:endParaRPr lang="en-US" sz="1050" dirty="0"/>
          </a:p>
        </p:txBody>
      </p:sp>
      <p:sp>
        <p:nvSpPr>
          <p:cNvPr id="41" name="Shape 38"/>
          <p:cNvSpPr/>
          <p:nvPr/>
        </p:nvSpPr>
        <p:spPr>
          <a:xfrm>
            <a:off x="640080" y="6382512"/>
            <a:ext cx="73152" cy="73152"/>
          </a:xfrm>
          <a:prstGeom prst="ellipse">
            <a:avLst/>
          </a:prstGeom>
          <a:solidFill>
            <a:srgbClr val="C4B5FD"/>
          </a:solidFill>
          <a:ln/>
        </p:spPr>
      </p:sp>
      <p:sp>
        <p:nvSpPr>
          <p:cNvPr id="42" name="Text 39"/>
          <p:cNvSpPr/>
          <p:nvPr/>
        </p:nvSpPr>
        <p:spPr>
          <a:xfrm>
            <a:off x="822960" y="6309360"/>
            <a:ext cx="13716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COGNITION</a:t>
            </a:r>
            <a:endParaRPr lang="en-US" sz="900" dirty="0"/>
          </a:p>
        </p:txBody>
      </p:sp>
      <p:sp>
        <p:nvSpPr>
          <p:cNvPr id="43" name="Text 40"/>
          <p:cNvSpPr/>
          <p:nvPr/>
        </p:nvSpPr>
        <p:spPr>
          <a:xfrm>
            <a:off x="2194560" y="6309360"/>
            <a:ext cx="3657600" cy="228600"/>
          </a:xfrm>
          <a:prstGeom prst="rect">
            <a:avLst/>
          </a:prstGeom>
          <a:noFill/>
          <a:ln/>
        </p:spPr>
        <p:txBody>
          <a:bodyPr wrap="square" lIns="0" tIns="0" rIns="0" bIns="0" rtlCol="0" anchor="ctr"/>
          <a:lstStyle/>
          <a:p>
            <a:pPr indent="0" marL="0">
              <a:buNone/>
            </a:pPr>
            <a:r>
              <a:rPr lang="en-US" sz="1050" dirty="0">
                <a:solidFill>
                  <a:srgbClr val="E8ECF5"/>
                </a:solidFill>
                <a:latin typeface="Calibri" pitchFamily="34" charset="0"/>
                <a:ea typeface="Calibri" pitchFamily="34" charset="-122"/>
                <a:cs typeface="Calibri" pitchFamily="34" charset="-120"/>
              </a:rPr>
              <a:t>MCI diagnosis active</a:t>
            </a:r>
            <a:endParaRPr lang="en-US" sz="1050" dirty="0"/>
          </a:p>
        </p:txBody>
      </p:sp>
      <p:sp>
        <p:nvSpPr>
          <p:cNvPr id="44" name="Text 41"/>
          <p:cNvSpPr/>
          <p:nvPr/>
        </p:nvSpPr>
        <p:spPr>
          <a:xfrm>
            <a:off x="6492240" y="2194560"/>
            <a:ext cx="512064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CLINICAL REASONING</a:t>
            </a:r>
            <a:endParaRPr lang="en-US" sz="900" dirty="0"/>
          </a:p>
        </p:txBody>
      </p:sp>
      <p:sp>
        <p:nvSpPr>
          <p:cNvPr id="45" name="Shape 42"/>
          <p:cNvSpPr/>
          <p:nvPr/>
        </p:nvSpPr>
        <p:spPr>
          <a:xfrm>
            <a:off x="6492240" y="2514600"/>
            <a:ext cx="45720" cy="2103120"/>
          </a:xfrm>
          <a:prstGeom prst="rect">
            <a:avLst/>
          </a:prstGeom>
          <a:solidFill>
            <a:srgbClr val="A58EF7"/>
          </a:solidFill>
          <a:ln/>
        </p:spPr>
      </p:sp>
      <p:sp>
        <p:nvSpPr>
          <p:cNvPr id="46" name="Text 43"/>
          <p:cNvSpPr/>
          <p:nvPr/>
        </p:nvSpPr>
        <p:spPr>
          <a:xfrm>
            <a:off x="6675120" y="2514600"/>
            <a:ext cx="4846320" cy="2103120"/>
          </a:xfrm>
          <a:prstGeom prst="rect">
            <a:avLst/>
          </a:prstGeom>
          <a:noFill/>
          <a:ln/>
        </p:spPr>
        <p:txBody>
          <a:bodyPr wrap="square" lIns="0" tIns="0" rIns="0" bIns="0" rtlCol="0" anchor="t"/>
          <a:lstStyle/>
          <a:p>
            <a:pPr indent="0" marL="0">
              <a:buNone/>
            </a:pPr>
            <a:r>
              <a:rPr lang="en-US" sz="1300" i="1" dirty="0">
                <a:solidFill>
                  <a:srgbClr val="8B9AB3"/>
                </a:solidFill>
                <a:latin typeface="Georgia" pitchFamily="34" charset="0"/>
                <a:ea typeface="Georgia" pitchFamily="34" charset="-122"/>
                <a:cs typeface="Georgia" pitchFamily="34" charset="-120"/>
              </a:rPr>
              <a:t>Rising frailty signals — two recent hospitalizations, new home oxygen, HFRS trending up. At 83, frailty alone excludes her. A premature provider message creates abrasion. Waiting 90 days lets the picture clarify.</a:t>
            </a:r>
            <a:endParaRPr lang="en-US" sz="1300" dirty="0"/>
          </a:p>
        </p:txBody>
      </p:sp>
      <p:sp>
        <p:nvSpPr>
          <p:cNvPr id="47" name="Shape 44"/>
          <p:cNvSpPr/>
          <p:nvPr/>
        </p:nvSpPr>
        <p:spPr>
          <a:xfrm>
            <a:off x="6492240" y="4800600"/>
            <a:ext cx="5120640" cy="1554480"/>
          </a:xfrm>
          <a:prstGeom prst="rect">
            <a:avLst/>
          </a:prstGeom>
          <a:solidFill>
            <a:srgbClr val="151B2C"/>
          </a:solidFill>
          <a:ln w="9525">
            <a:solidFill>
              <a:srgbClr val="A58EF7"/>
            </a:solidFill>
            <a:prstDash val="solid"/>
          </a:ln>
        </p:spPr>
      </p:sp>
      <p:sp>
        <p:nvSpPr>
          <p:cNvPr id="48" name="Shape 45"/>
          <p:cNvSpPr/>
          <p:nvPr/>
        </p:nvSpPr>
        <p:spPr>
          <a:xfrm>
            <a:off x="6492240" y="4800600"/>
            <a:ext cx="73152" cy="1554480"/>
          </a:xfrm>
          <a:prstGeom prst="rect">
            <a:avLst/>
          </a:prstGeom>
          <a:solidFill>
            <a:srgbClr val="A58EF7"/>
          </a:solidFill>
          <a:ln/>
        </p:spPr>
      </p:sp>
      <p:sp>
        <p:nvSpPr>
          <p:cNvPr id="49" name="Text 46"/>
          <p:cNvSpPr/>
          <p:nvPr/>
        </p:nvSpPr>
        <p:spPr>
          <a:xfrm>
            <a:off x="6766560" y="4983480"/>
            <a:ext cx="4663440" cy="228600"/>
          </a:xfrm>
          <a:prstGeom prst="rect">
            <a:avLst/>
          </a:prstGeom>
          <a:noFill/>
          <a:ln/>
        </p:spPr>
        <p:txBody>
          <a:bodyPr wrap="square" lIns="0" tIns="0" rIns="0" bIns="0" rtlCol="0" anchor="ctr"/>
          <a:lstStyle/>
          <a:p>
            <a:pPr indent="0" marL="0">
              <a:buNone/>
            </a:pPr>
            <a:r>
              <a:rPr lang="en-US" sz="900" b="1" spc="300" kern="0" dirty="0">
                <a:solidFill>
                  <a:srgbClr val="A58EF7"/>
                </a:solidFill>
                <a:latin typeface="Consolas" pitchFamily="34" charset="0"/>
                <a:ea typeface="Consolas" pitchFamily="34" charset="-122"/>
                <a:cs typeface="Consolas" pitchFamily="34" charset="-120"/>
              </a:rPr>
              <a:t>OPERATIONAL ACTION</a:t>
            </a:r>
            <a:endParaRPr lang="en-US" sz="900" dirty="0"/>
          </a:p>
        </p:txBody>
      </p:sp>
      <p:sp>
        <p:nvSpPr>
          <p:cNvPr id="50" name="Text 47"/>
          <p:cNvSpPr/>
          <p:nvPr/>
        </p:nvSpPr>
        <p:spPr>
          <a:xfrm>
            <a:off x="6766560" y="5257800"/>
            <a:ext cx="4663440" cy="411480"/>
          </a:xfrm>
          <a:prstGeom prst="rect">
            <a:avLst/>
          </a:prstGeom>
          <a:noFill/>
          <a:ln/>
        </p:spPr>
        <p:txBody>
          <a:bodyPr wrap="square" lIns="0" tIns="0" rIns="0" bIns="0" rtlCol="0" anchor="t"/>
          <a:lstStyle/>
          <a:p>
            <a:pPr indent="0" marL="0">
              <a:buNone/>
            </a:pPr>
            <a:r>
              <a:rPr lang="en-US" sz="1800" dirty="0">
                <a:solidFill>
                  <a:srgbClr val="E8ECF5"/>
                </a:solidFill>
                <a:latin typeface="Georgia" pitchFamily="34" charset="0"/>
                <a:ea typeface="Georgia" pitchFamily="34" charset="-122"/>
                <a:cs typeface="Georgia" pitchFamily="34" charset="-120"/>
              </a:rPr>
              <a:t>90-day monitoring hold</a:t>
            </a:r>
            <a:endParaRPr lang="en-US" sz="1800" dirty="0"/>
          </a:p>
        </p:txBody>
      </p:sp>
      <p:sp>
        <p:nvSpPr>
          <p:cNvPr id="51" name="Text 48"/>
          <p:cNvSpPr/>
          <p:nvPr/>
        </p:nvSpPr>
        <p:spPr>
          <a:xfrm>
            <a:off x="6766560" y="5715000"/>
            <a:ext cx="4663440" cy="594360"/>
          </a:xfrm>
          <a:prstGeom prst="rect">
            <a:avLst/>
          </a:prstGeom>
          <a:noFill/>
          <a:ln/>
        </p:spPr>
        <p:txBody>
          <a:bodyPr wrap="square" lIns="0" tIns="0" rIns="0" bIns="0" rtlCol="0" anchor="t"/>
          <a:lstStyle/>
          <a:p>
            <a:pPr indent="0" marL="0">
              <a:buNone/>
            </a:pPr>
            <a:r>
              <a:rPr lang="en-US" sz="1100" dirty="0">
                <a:solidFill>
                  <a:srgbClr val="8B9AB3"/>
                </a:solidFill>
                <a:latin typeface="Calibri" pitchFamily="34" charset="0"/>
                <a:ea typeface="Calibri" pitchFamily="34" charset="-122"/>
                <a:cs typeface="Calibri" pitchFamily="34" charset="-120"/>
              </a:rPr>
              <a:t>Do not fire provider message. Re-score every 30 days. If no new exclusion signals by day 90, promote to Tier 1 and intervene.</a:t>
            </a:r>
            <a:endParaRPr lang="en-US" sz="1100" dirty="0"/>
          </a:p>
        </p:txBody>
      </p:sp>
      <p:sp>
        <p:nvSpPr>
          <p:cNvPr id="52" name="Text 49"/>
          <p:cNvSpPr/>
          <p:nvPr/>
        </p:nvSpPr>
        <p:spPr>
          <a:xfrm>
            <a:off x="457200" y="6492240"/>
            <a:ext cx="3657600" cy="274320"/>
          </a:xfrm>
          <a:prstGeom prst="rect">
            <a:avLst/>
          </a:prstGeom>
          <a:noFill/>
          <a:ln/>
        </p:spPr>
        <p:txBody>
          <a:bodyPr wrap="square" lIns="0" tIns="0" rIns="0" bIns="0" rtlCol="0" anchor="ctr"/>
          <a:lstStyle/>
          <a:p>
            <a:pPr indent="0" marL="0">
              <a:buNone/>
            </a:pPr>
            <a:r>
              <a:rPr lang="en-US" sz="800" spc="300" kern="0" dirty="0">
                <a:solidFill>
                  <a:srgbClr val="5B6AE5"/>
                </a:solidFill>
                <a:latin typeface="Consolas" pitchFamily="34" charset="0"/>
                <a:ea typeface="Consolas" pitchFamily="34" charset="-122"/>
                <a:cs typeface="Consolas" pitchFamily="34" charset="-120"/>
              </a:rPr>
              <a:t>OMW PREDICTIVE TRIAGE</a:t>
            </a:r>
            <a:endParaRPr lang="en-US" sz="800" dirty="0"/>
          </a:p>
        </p:txBody>
      </p:sp>
      <p:sp>
        <p:nvSpPr>
          <p:cNvPr id="53" name="Text 50"/>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800" spc="200" kern="0" dirty="0">
                <a:solidFill>
                  <a:srgbClr val="5B6AE5"/>
                </a:solidFill>
                <a:latin typeface="Consolas" pitchFamily="34" charset="0"/>
                <a:ea typeface="Consolas" pitchFamily="34" charset="-122"/>
                <a:cs typeface="Consolas"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640080" y="411480"/>
            <a:ext cx="7315200" cy="274320"/>
          </a:xfrm>
          <a:prstGeom prst="rect">
            <a:avLst/>
          </a:prstGeom>
          <a:noFill/>
          <a:ln/>
        </p:spPr>
        <p:txBody>
          <a:bodyPr wrap="square" lIns="0" tIns="0" rIns="0" bIns="0" rtlCol="0" anchor="ctr"/>
          <a:lstStyle/>
          <a:p>
            <a:pPr indent="0" marL="0">
              <a:buNone/>
            </a:pPr>
            <a:r>
              <a:rPr lang="en-US" sz="1000" b="1" spc="400" kern="0" dirty="0">
                <a:solidFill>
                  <a:srgbClr val="22D3A5"/>
                </a:solidFill>
                <a:latin typeface="Consolas" pitchFamily="34" charset="0"/>
                <a:ea typeface="Consolas" pitchFamily="34" charset="-122"/>
                <a:cs typeface="Consolas" pitchFamily="34" charset="-120"/>
              </a:rPr>
              <a:t>04  ·  CASE 04 OF 04</a:t>
            </a:r>
            <a:endParaRPr lang="en-US" sz="1000" dirty="0"/>
          </a:p>
        </p:txBody>
      </p:sp>
      <p:sp>
        <p:nvSpPr>
          <p:cNvPr id="3" name="Shape 1"/>
          <p:cNvSpPr/>
          <p:nvPr/>
        </p:nvSpPr>
        <p:spPr>
          <a:xfrm>
            <a:off x="640080" y="731520"/>
            <a:ext cx="1828800" cy="0"/>
          </a:xfrm>
          <a:prstGeom prst="line">
            <a:avLst/>
          </a:prstGeom>
          <a:noFill/>
          <a:ln w="6350">
            <a:solidFill>
              <a:srgbClr val="2D3A54"/>
            </a:solidFill>
            <a:prstDash val="solid"/>
          </a:ln>
        </p:spPr>
      </p:sp>
      <p:sp>
        <p:nvSpPr>
          <p:cNvPr id="4" name="Text 2"/>
          <p:cNvSpPr/>
          <p:nvPr/>
        </p:nvSpPr>
        <p:spPr>
          <a:xfrm>
            <a:off x="640080" y="868680"/>
            <a:ext cx="73152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M-9082   ·   AGE 86   ·   HIP FRACTURE · INPATIENT ADT · EXCLUSIONS PENDING</a:t>
            </a:r>
            <a:endParaRPr lang="en-US" sz="900" dirty="0"/>
          </a:p>
        </p:txBody>
      </p:sp>
      <p:sp>
        <p:nvSpPr>
          <p:cNvPr id="5" name="Text 3"/>
          <p:cNvSpPr/>
          <p:nvPr/>
        </p:nvSpPr>
        <p:spPr>
          <a:xfrm>
            <a:off x="640080" y="1143000"/>
            <a:ext cx="7315200" cy="822960"/>
          </a:xfrm>
          <a:prstGeom prst="rect">
            <a:avLst/>
          </a:prstGeom>
          <a:noFill/>
          <a:ln/>
        </p:spPr>
        <p:txBody>
          <a:bodyPr wrap="square" lIns="0" tIns="0" rIns="0" bIns="0" rtlCol="0" anchor="t"/>
          <a:lstStyle/>
          <a:p>
            <a:pPr indent="0" marL="0">
              <a:buNone/>
            </a:pPr>
            <a:r>
              <a:rPr lang="en-US" sz="4000" dirty="0">
                <a:solidFill>
                  <a:srgbClr val="E8ECF5"/>
                </a:solidFill>
                <a:latin typeface="Georgia" pitchFamily="34" charset="0"/>
                <a:ea typeface="Georgia" pitchFamily="34" charset="-122"/>
                <a:cs typeface="Georgia" pitchFamily="34" charset="-120"/>
              </a:rPr>
              <a:t>Ruth Anderson</a:t>
            </a:r>
            <a:endParaRPr lang="en-US" sz="4000" dirty="0"/>
          </a:p>
        </p:txBody>
      </p:sp>
      <p:sp>
        <p:nvSpPr>
          <p:cNvPr id="6" name="Shape 4"/>
          <p:cNvSpPr/>
          <p:nvPr/>
        </p:nvSpPr>
        <p:spPr>
          <a:xfrm>
            <a:off x="8046720" y="868680"/>
            <a:ext cx="3566160" cy="502920"/>
          </a:xfrm>
          <a:prstGeom prst="rect">
            <a:avLst/>
          </a:prstGeom>
          <a:solidFill>
            <a:srgbClr val="0A0E1A"/>
          </a:solidFill>
          <a:ln w="19050">
            <a:solidFill>
              <a:srgbClr val="E06A78"/>
            </a:solidFill>
            <a:prstDash val="solid"/>
          </a:ln>
        </p:spPr>
      </p:sp>
      <p:sp>
        <p:nvSpPr>
          <p:cNvPr id="7" name="Text 5"/>
          <p:cNvSpPr/>
          <p:nvPr/>
        </p:nvSpPr>
        <p:spPr>
          <a:xfrm>
            <a:off x="8046720" y="868680"/>
            <a:ext cx="3566160" cy="502920"/>
          </a:xfrm>
          <a:prstGeom prst="rect">
            <a:avLst/>
          </a:prstGeom>
          <a:noFill/>
          <a:ln/>
        </p:spPr>
        <p:txBody>
          <a:bodyPr wrap="square" lIns="0" tIns="0" rIns="0" bIns="0" rtlCol="0" anchor="ctr"/>
          <a:lstStyle/>
          <a:p>
            <a:pPr algn="ctr" indent="0" marL="0">
              <a:buNone/>
            </a:pPr>
            <a:r>
              <a:rPr lang="en-US" sz="1200" b="1" spc="300" kern="0" dirty="0">
                <a:solidFill>
                  <a:srgbClr val="E06A78"/>
                </a:solidFill>
                <a:latin typeface="Consolas" pitchFamily="34" charset="0"/>
                <a:ea typeface="Consolas" pitchFamily="34" charset="-122"/>
                <a:cs typeface="Consolas" pitchFamily="34" charset="-120"/>
              </a:rPr>
              <a:t>TIER 04 · SUPPRESS</a:t>
            </a:r>
            <a:endParaRPr lang="en-US" sz="1200" dirty="0"/>
          </a:p>
        </p:txBody>
      </p:sp>
      <p:pic>
        <p:nvPicPr>
          <p:cNvPr id="8" name="Image 0" descr="preencoded.png">    </p:cNvPr>
          <p:cNvPicPr>
            <a:picLocks noChangeAspect="1"/>
          </p:cNvPicPr>
          <p:nvPr/>
        </p:nvPicPr>
        <p:blipFill>
          <a:blip r:embed="rId1"/>
          <a:stretch>
            <a:fillRect/>
          </a:stretch>
        </p:blipFill>
        <p:spPr>
          <a:xfrm>
            <a:off x="10881360" y="1508760"/>
            <a:ext cx="731520" cy="731520"/>
          </a:xfrm>
          <a:prstGeom prst="rect">
            <a:avLst/>
          </a:prstGeom>
        </p:spPr>
      </p:pic>
      <p:sp>
        <p:nvSpPr>
          <p:cNvPr id="9" name="Text 6"/>
          <p:cNvSpPr/>
          <p:nvPr/>
        </p:nvSpPr>
        <p:spPr>
          <a:xfrm>
            <a:off x="640080" y="2194560"/>
            <a:ext cx="530352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SCORE PROFILE</a:t>
            </a:r>
            <a:endParaRPr lang="en-US" sz="900" dirty="0"/>
          </a:p>
        </p:txBody>
      </p:sp>
      <p:sp>
        <p:nvSpPr>
          <p:cNvPr id="10" name="Text 7"/>
          <p:cNvSpPr/>
          <p:nvPr/>
        </p:nvSpPr>
        <p:spPr>
          <a:xfrm>
            <a:off x="640080" y="2514600"/>
            <a:ext cx="640080" cy="274320"/>
          </a:xfrm>
          <a:prstGeom prst="rect">
            <a:avLst/>
          </a:prstGeom>
          <a:noFill/>
          <a:ln/>
        </p:spPr>
        <p:txBody>
          <a:bodyPr wrap="square" lIns="0" tIns="0" rIns="0" bIns="0" rtlCol="0" anchor="ctr"/>
          <a:lstStyle/>
          <a:p>
            <a:pPr indent="0" marL="0">
              <a:buNone/>
            </a:pPr>
            <a:r>
              <a:rPr lang="en-US" sz="1100" b="1" spc="200" kern="0" dirty="0">
                <a:solidFill>
                  <a:srgbClr val="4DD2FF"/>
                </a:solidFill>
                <a:latin typeface="Consolas" pitchFamily="34" charset="0"/>
                <a:ea typeface="Consolas" pitchFamily="34" charset="-122"/>
                <a:cs typeface="Consolas" pitchFamily="34" charset="-120"/>
              </a:rPr>
              <a:t>FCS</a:t>
            </a:r>
            <a:endParaRPr lang="en-US" sz="1100" dirty="0"/>
          </a:p>
        </p:txBody>
      </p:sp>
      <p:sp>
        <p:nvSpPr>
          <p:cNvPr id="11" name="Shape 8"/>
          <p:cNvSpPr/>
          <p:nvPr/>
        </p:nvSpPr>
        <p:spPr>
          <a:xfrm>
            <a:off x="1325880" y="2596896"/>
            <a:ext cx="3931920" cy="128016"/>
          </a:xfrm>
          <a:prstGeom prst="rect">
            <a:avLst/>
          </a:prstGeom>
          <a:solidFill>
            <a:srgbClr val="111827"/>
          </a:solidFill>
          <a:ln/>
        </p:spPr>
      </p:sp>
      <p:sp>
        <p:nvSpPr>
          <p:cNvPr id="12" name="Shape 9"/>
          <p:cNvSpPr/>
          <p:nvPr/>
        </p:nvSpPr>
        <p:spPr>
          <a:xfrm>
            <a:off x="1325880" y="2596896"/>
            <a:ext cx="3460090" cy="128016"/>
          </a:xfrm>
          <a:prstGeom prst="rect">
            <a:avLst/>
          </a:prstGeom>
          <a:solidFill>
            <a:srgbClr val="4DD2FF"/>
          </a:solidFill>
          <a:ln/>
        </p:spPr>
      </p:sp>
      <p:sp>
        <p:nvSpPr>
          <p:cNvPr id="13" name="Text 10"/>
          <p:cNvSpPr/>
          <p:nvPr/>
        </p:nvSpPr>
        <p:spPr>
          <a:xfrm>
            <a:off x="5303520" y="2514600"/>
            <a:ext cx="640080" cy="274320"/>
          </a:xfrm>
          <a:prstGeom prst="rect">
            <a:avLst/>
          </a:prstGeom>
          <a:noFill/>
          <a:ln/>
        </p:spPr>
        <p:txBody>
          <a:bodyPr wrap="square" lIns="0" tIns="0" rIns="0" bIns="0" rtlCol="0" anchor="ctr"/>
          <a:lstStyle/>
          <a:p>
            <a:pPr algn="r" indent="0" marL="0">
              <a:buNone/>
            </a:pPr>
            <a:r>
              <a:rPr lang="en-US" sz="1300" b="1" dirty="0">
                <a:solidFill>
                  <a:srgbClr val="E8ECF5"/>
                </a:solidFill>
                <a:latin typeface="Consolas" pitchFamily="34" charset="0"/>
                <a:ea typeface="Consolas" pitchFamily="34" charset="-122"/>
                <a:cs typeface="Consolas" pitchFamily="34" charset="-120"/>
              </a:rPr>
              <a:t>88</a:t>
            </a:r>
            <a:endParaRPr lang="en-US" sz="1300" dirty="0"/>
          </a:p>
        </p:txBody>
      </p:sp>
      <p:sp>
        <p:nvSpPr>
          <p:cNvPr id="14" name="Text 11"/>
          <p:cNvSpPr/>
          <p:nvPr/>
        </p:nvSpPr>
        <p:spPr>
          <a:xfrm>
            <a:off x="640080" y="2880360"/>
            <a:ext cx="640080" cy="274320"/>
          </a:xfrm>
          <a:prstGeom prst="rect">
            <a:avLst/>
          </a:prstGeom>
          <a:noFill/>
          <a:ln/>
        </p:spPr>
        <p:txBody>
          <a:bodyPr wrap="square" lIns="0" tIns="0" rIns="0" bIns="0" rtlCol="0" anchor="ctr"/>
          <a:lstStyle/>
          <a:p>
            <a:pPr indent="0" marL="0">
              <a:buNone/>
            </a:pPr>
            <a:r>
              <a:rPr lang="en-US" sz="1100" b="1" spc="200" kern="0" dirty="0">
                <a:solidFill>
                  <a:srgbClr val="FF8A65"/>
                </a:solidFill>
                <a:latin typeface="Consolas" pitchFamily="34" charset="0"/>
                <a:ea typeface="Consolas" pitchFamily="34" charset="-122"/>
                <a:cs typeface="Consolas" pitchFamily="34" charset="-120"/>
              </a:rPr>
              <a:t>EDRS</a:t>
            </a:r>
            <a:endParaRPr lang="en-US" sz="1100" dirty="0"/>
          </a:p>
        </p:txBody>
      </p:sp>
      <p:sp>
        <p:nvSpPr>
          <p:cNvPr id="15" name="Shape 12"/>
          <p:cNvSpPr/>
          <p:nvPr/>
        </p:nvSpPr>
        <p:spPr>
          <a:xfrm>
            <a:off x="1325880" y="2962656"/>
            <a:ext cx="3931920" cy="128016"/>
          </a:xfrm>
          <a:prstGeom prst="rect">
            <a:avLst/>
          </a:prstGeom>
          <a:solidFill>
            <a:srgbClr val="111827"/>
          </a:solidFill>
          <a:ln/>
        </p:spPr>
      </p:sp>
      <p:sp>
        <p:nvSpPr>
          <p:cNvPr id="16" name="Shape 13"/>
          <p:cNvSpPr/>
          <p:nvPr/>
        </p:nvSpPr>
        <p:spPr>
          <a:xfrm>
            <a:off x="1325880" y="2962656"/>
            <a:ext cx="3578047" cy="128016"/>
          </a:xfrm>
          <a:prstGeom prst="rect">
            <a:avLst/>
          </a:prstGeom>
          <a:solidFill>
            <a:srgbClr val="FF8A65"/>
          </a:solidFill>
          <a:ln/>
        </p:spPr>
      </p:sp>
      <p:sp>
        <p:nvSpPr>
          <p:cNvPr id="17" name="Text 14"/>
          <p:cNvSpPr/>
          <p:nvPr/>
        </p:nvSpPr>
        <p:spPr>
          <a:xfrm>
            <a:off x="5303520" y="2880360"/>
            <a:ext cx="640080" cy="274320"/>
          </a:xfrm>
          <a:prstGeom prst="rect">
            <a:avLst/>
          </a:prstGeom>
          <a:noFill/>
          <a:ln/>
        </p:spPr>
        <p:txBody>
          <a:bodyPr wrap="square" lIns="0" tIns="0" rIns="0" bIns="0" rtlCol="0" anchor="ctr"/>
          <a:lstStyle/>
          <a:p>
            <a:pPr algn="r" indent="0" marL="0">
              <a:buNone/>
            </a:pPr>
            <a:r>
              <a:rPr lang="en-US" sz="1300" b="1" dirty="0">
                <a:solidFill>
                  <a:srgbClr val="E8ECF5"/>
                </a:solidFill>
                <a:latin typeface="Consolas" pitchFamily="34" charset="0"/>
                <a:ea typeface="Consolas" pitchFamily="34" charset="-122"/>
                <a:cs typeface="Consolas" pitchFamily="34" charset="-120"/>
              </a:rPr>
              <a:t>91</a:t>
            </a:r>
            <a:endParaRPr lang="en-US" sz="1300" dirty="0"/>
          </a:p>
        </p:txBody>
      </p:sp>
      <p:sp>
        <p:nvSpPr>
          <p:cNvPr id="18" name="Text 15"/>
          <p:cNvSpPr/>
          <p:nvPr/>
        </p:nvSpPr>
        <p:spPr>
          <a:xfrm>
            <a:off x="640080" y="3246120"/>
            <a:ext cx="640080" cy="274320"/>
          </a:xfrm>
          <a:prstGeom prst="rect">
            <a:avLst/>
          </a:prstGeom>
          <a:noFill/>
          <a:ln/>
        </p:spPr>
        <p:txBody>
          <a:bodyPr wrap="square" lIns="0" tIns="0" rIns="0" bIns="0" rtlCol="0" anchor="ctr"/>
          <a:lstStyle/>
          <a:p>
            <a:pPr indent="0" marL="0">
              <a:buNone/>
            </a:pPr>
            <a:r>
              <a:rPr lang="en-US" sz="1100" b="1" spc="200" kern="0" dirty="0">
                <a:solidFill>
                  <a:srgbClr val="C4B5FD"/>
                </a:solidFill>
                <a:latin typeface="Consolas" pitchFamily="34" charset="0"/>
                <a:ea typeface="Consolas" pitchFamily="34" charset="-122"/>
                <a:cs typeface="Consolas" pitchFamily="34" charset="-120"/>
              </a:rPr>
              <a:t>NCRS</a:t>
            </a:r>
            <a:endParaRPr lang="en-US" sz="1100" dirty="0"/>
          </a:p>
        </p:txBody>
      </p:sp>
      <p:sp>
        <p:nvSpPr>
          <p:cNvPr id="19" name="Shape 16"/>
          <p:cNvSpPr/>
          <p:nvPr/>
        </p:nvSpPr>
        <p:spPr>
          <a:xfrm>
            <a:off x="1325880" y="3328416"/>
            <a:ext cx="3931920" cy="128016"/>
          </a:xfrm>
          <a:prstGeom prst="rect">
            <a:avLst/>
          </a:prstGeom>
          <a:solidFill>
            <a:srgbClr val="111827"/>
          </a:solidFill>
          <a:ln/>
        </p:spPr>
      </p:sp>
      <p:sp>
        <p:nvSpPr>
          <p:cNvPr id="20" name="Shape 17"/>
          <p:cNvSpPr/>
          <p:nvPr/>
        </p:nvSpPr>
        <p:spPr>
          <a:xfrm>
            <a:off x="1325880" y="3328416"/>
            <a:ext cx="3224174" cy="128016"/>
          </a:xfrm>
          <a:prstGeom prst="rect">
            <a:avLst/>
          </a:prstGeom>
          <a:solidFill>
            <a:srgbClr val="C4B5FD"/>
          </a:solidFill>
          <a:ln/>
        </p:spPr>
      </p:sp>
      <p:sp>
        <p:nvSpPr>
          <p:cNvPr id="21" name="Text 18"/>
          <p:cNvSpPr/>
          <p:nvPr/>
        </p:nvSpPr>
        <p:spPr>
          <a:xfrm>
            <a:off x="5303520" y="3246120"/>
            <a:ext cx="640080" cy="274320"/>
          </a:xfrm>
          <a:prstGeom prst="rect">
            <a:avLst/>
          </a:prstGeom>
          <a:noFill/>
          <a:ln/>
        </p:spPr>
        <p:txBody>
          <a:bodyPr wrap="square" lIns="0" tIns="0" rIns="0" bIns="0" rtlCol="0" anchor="ctr"/>
          <a:lstStyle/>
          <a:p>
            <a:pPr algn="r" indent="0" marL="0">
              <a:buNone/>
            </a:pPr>
            <a:r>
              <a:rPr lang="en-US" sz="1300" b="1" dirty="0">
                <a:solidFill>
                  <a:srgbClr val="E8ECF5"/>
                </a:solidFill>
                <a:latin typeface="Consolas" pitchFamily="34" charset="0"/>
                <a:ea typeface="Consolas" pitchFamily="34" charset="-122"/>
                <a:cs typeface="Consolas" pitchFamily="34" charset="-120"/>
              </a:rPr>
              <a:t>82</a:t>
            </a:r>
            <a:endParaRPr lang="en-US" sz="1300" dirty="0"/>
          </a:p>
        </p:txBody>
      </p:sp>
      <p:sp>
        <p:nvSpPr>
          <p:cNvPr id="22" name="Shape 19"/>
          <p:cNvSpPr/>
          <p:nvPr/>
        </p:nvSpPr>
        <p:spPr>
          <a:xfrm>
            <a:off x="640080" y="3794760"/>
            <a:ext cx="5303520" cy="914400"/>
          </a:xfrm>
          <a:prstGeom prst="rect">
            <a:avLst/>
          </a:prstGeom>
          <a:solidFill>
            <a:srgbClr val="111827"/>
          </a:solidFill>
          <a:ln w="9525">
            <a:solidFill>
              <a:srgbClr val="E06A78"/>
            </a:solidFill>
            <a:prstDash val="solid"/>
          </a:ln>
        </p:spPr>
      </p:sp>
      <p:sp>
        <p:nvSpPr>
          <p:cNvPr id="23" name="Text 20"/>
          <p:cNvSpPr/>
          <p:nvPr/>
        </p:nvSpPr>
        <p:spPr>
          <a:xfrm>
            <a:off x="868680" y="3904488"/>
            <a:ext cx="228600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OPPORTUNITY SCORE</a:t>
            </a:r>
            <a:endParaRPr lang="en-US" sz="900" dirty="0"/>
          </a:p>
        </p:txBody>
      </p:sp>
      <p:sp>
        <p:nvSpPr>
          <p:cNvPr id="24" name="Text 21"/>
          <p:cNvSpPr/>
          <p:nvPr/>
        </p:nvSpPr>
        <p:spPr>
          <a:xfrm>
            <a:off x="868680" y="4069080"/>
            <a:ext cx="4846320" cy="594360"/>
          </a:xfrm>
          <a:prstGeom prst="rect">
            <a:avLst/>
          </a:prstGeom>
          <a:noFill/>
          <a:ln/>
        </p:spPr>
        <p:txBody>
          <a:bodyPr wrap="square" lIns="0" tIns="0" rIns="0" bIns="0" rtlCol="0" anchor="ctr"/>
          <a:lstStyle/>
          <a:p>
            <a:pPr indent="0" marL="0">
              <a:buNone/>
            </a:pPr>
            <a:r>
              <a:rPr lang="en-US" sz="4400" dirty="0">
                <a:solidFill>
                  <a:srgbClr val="E06A78"/>
                </a:solidFill>
                <a:latin typeface="Georgia" pitchFamily="34" charset="0"/>
                <a:ea typeface="Georgia" pitchFamily="34" charset="-122"/>
                <a:cs typeface="Georgia" pitchFamily="34" charset="-120"/>
              </a:rPr>
              <a:t>1</a:t>
            </a:r>
            <a:pPr indent="0" marL="0">
              <a:buNone/>
            </a:pPr>
            <a:r>
              <a:rPr lang="en-US" sz="1600" dirty="0">
                <a:solidFill>
                  <a:srgbClr val="5B6AE5"/>
                </a:solidFill>
                <a:latin typeface="Georgia" pitchFamily="34" charset="0"/>
                <a:ea typeface="Georgia" pitchFamily="34" charset="-122"/>
                <a:cs typeface="Georgia" pitchFamily="34" charset="-120"/>
              </a:rPr>
              <a:t>/100</a:t>
            </a:r>
            <a:endParaRPr lang="en-US" sz="4400" dirty="0"/>
          </a:p>
        </p:txBody>
      </p:sp>
      <p:sp>
        <p:nvSpPr>
          <p:cNvPr id="25" name="Text 22"/>
          <p:cNvSpPr/>
          <p:nvPr/>
        </p:nvSpPr>
        <p:spPr>
          <a:xfrm>
            <a:off x="640080" y="4892040"/>
            <a:ext cx="530352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KEY SIGNALS</a:t>
            </a:r>
            <a:endParaRPr lang="en-US" sz="900" dirty="0"/>
          </a:p>
        </p:txBody>
      </p:sp>
      <p:sp>
        <p:nvSpPr>
          <p:cNvPr id="26" name="Shape 23"/>
          <p:cNvSpPr/>
          <p:nvPr/>
        </p:nvSpPr>
        <p:spPr>
          <a:xfrm>
            <a:off x="640080" y="5239512"/>
            <a:ext cx="73152" cy="73152"/>
          </a:xfrm>
          <a:prstGeom prst="ellipse">
            <a:avLst/>
          </a:prstGeom>
          <a:solidFill>
            <a:srgbClr val="4DD2FF"/>
          </a:solidFill>
          <a:ln/>
        </p:spPr>
      </p:sp>
      <p:sp>
        <p:nvSpPr>
          <p:cNvPr id="27" name="Text 24"/>
          <p:cNvSpPr/>
          <p:nvPr/>
        </p:nvSpPr>
        <p:spPr>
          <a:xfrm>
            <a:off x="822960" y="5166360"/>
            <a:ext cx="13716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SITE</a:t>
            </a:r>
            <a:endParaRPr lang="en-US" sz="900" dirty="0"/>
          </a:p>
        </p:txBody>
      </p:sp>
      <p:sp>
        <p:nvSpPr>
          <p:cNvPr id="28" name="Text 25"/>
          <p:cNvSpPr/>
          <p:nvPr/>
        </p:nvSpPr>
        <p:spPr>
          <a:xfrm>
            <a:off x="2194560" y="5166360"/>
            <a:ext cx="3657600" cy="228600"/>
          </a:xfrm>
          <a:prstGeom prst="rect">
            <a:avLst/>
          </a:prstGeom>
          <a:noFill/>
          <a:ln/>
        </p:spPr>
        <p:txBody>
          <a:bodyPr wrap="square" lIns="0" tIns="0" rIns="0" bIns="0" rtlCol="0" anchor="ctr"/>
          <a:lstStyle/>
          <a:p>
            <a:pPr indent="0" marL="0">
              <a:buNone/>
            </a:pPr>
            <a:r>
              <a:rPr lang="en-US" sz="1050" dirty="0">
                <a:solidFill>
                  <a:srgbClr val="E8ECF5"/>
                </a:solidFill>
                <a:latin typeface="Calibri" pitchFamily="34" charset="0"/>
                <a:ea typeface="Calibri" pitchFamily="34" charset="-122"/>
                <a:cs typeface="Calibri" pitchFamily="34" charset="-120"/>
              </a:rPr>
              <a:t>Femoral neck (hip)</a:t>
            </a:r>
            <a:endParaRPr lang="en-US" sz="1050" dirty="0"/>
          </a:p>
        </p:txBody>
      </p:sp>
      <p:sp>
        <p:nvSpPr>
          <p:cNvPr id="29" name="Shape 26"/>
          <p:cNvSpPr/>
          <p:nvPr/>
        </p:nvSpPr>
        <p:spPr>
          <a:xfrm>
            <a:off x="640080" y="5468112"/>
            <a:ext cx="73152" cy="73152"/>
          </a:xfrm>
          <a:prstGeom prst="ellipse">
            <a:avLst/>
          </a:prstGeom>
          <a:solidFill>
            <a:srgbClr val="4DD2FF"/>
          </a:solidFill>
          <a:ln/>
        </p:spPr>
      </p:sp>
      <p:sp>
        <p:nvSpPr>
          <p:cNvPr id="30" name="Text 27"/>
          <p:cNvSpPr/>
          <p:nvPr/>
        </p:nvSpPr>
        <p:spPr>
          <a:xfrm>
            <a:off x="822960" y="5394960"/>
            <a:ext cx="13716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SIGNAL</a:t>
            </a:r>
            <a:endParaRPr lang="en-US" sz="900" dirty="0"/>
          </a:p>
        </p:txBody>
      </p:sp>
      <p:sp>
        <p:nvSpPr>
          <p:cNvPr id="31" name="Text 28"/>
          <p:cNvSpPr/>
          <p:nvPr/>
        </p:nvSpPr>
        <p:spPr>
          <a:xfrm>
            <a:off x="2194560" y="5394960"/>
            <a:ext cx="3657600" cy="228600"/>
          </a:xfrm>
          <a:prstGeom prst="rect">
            <a:avLst/>
          </a:prstGeom>
          <a:noFill/>
          <a:ln/>
        </p:spPr>
        <p:txBody>
          <a:bodyPr wrap="square" lIns="0" tIns="0" rIns="0" bIns="0" rtlCol="0" anchor="ctr"/>
          <a:lstStyle/>
          <a:p>
            <a:pPr indent="0" marL="0">
              <a:buNone/>
            </a:pPr>
            <a:r>
              <a:rPr lang="en-US" sz="1050" dirty="0">
                <a:solidFill>
                  <a:srgbClr val="E8ECF5"/>
                </a:solidFill>
                <a:latin typeface="Calibri" pitchFamily="34" charset="0"/>
                <a:ea typeface="Calibri" pitchFamily="34" charset="-122"/>
                <a:cs typeface="Calibri" pitchFamily="34" charset="-120"/>
              </a:rPr>
              <a:t>Inpatient ADT + ortho</a:t>
            </a:r>
            <a:endParaRPr lang="en-US" sz="1050" dirty="0"/>
          </a:p>
        </p:txBody>
      </p:sp>
      <p:sp>
        <p:nvSpPr>
          <p:cNvPr id="32" name="Shape 29"/>
          <p:cNvSpPr/>
          <p:nvPr/>
        </p:nvSpPr>
        <p:spPr>
          <a:xfrm>
            <a:off x="640080" y="5696712"/>
            <a:ext cx="73152" cy="73152"/>
          </a:xfrm>
          <a:prstGeom prst="ellipse">
            <a:avLst/>
          </a:prstGeom>
          <a:solidFill>
            <a:srgbClr val="FF8A65"/>
          </a:solidFill>
          <a:ln/>
        </p:spPr>
      </p:sp>
      <p:sp>
        <p:nvSpPr>
          <p:cNvPr id="33" name="Text 30"/>
          <p:cNvSpPr/>
          <p:nvPr/>
        </p:nvSpPr>
        <p:spPr>
          <a:xfrm>
            <a:off x="822960" y="5623560"/>
            <a:ext cx="13716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HFRS</a:t>
            </a:r>
            <a:endParaRPr lang="en-US" sz="900" dirty="0"/>
          </a:p>
        </p:txBody>
      </p:sp>
      <p:sp>
        <p:nvSpPr>
          <p:cNvPr id="34" name="Text 31"/>
          <p:cNvSpPr/>
          <p:nvPr/>
        </p:nvSpPr>
        <p:spPr>
          <a:xfrm>
            <a:off x="2194560" y="5623560"/>
            <a:ext cx="3657600" cy="228600"/>
          </a:xfrm>
          <a:prstGeom prst="rect">
            <a:avLst/>
          </a:prstGeom>
          <a:noFill/>
          <a:ln/>
        </p:spPr>
        <p:txBody>
          <a:bodyPr wrap="square" lIns="0" tIns="0" rIns="0" bIns="0" rtlCol="0" anchor="ctr"/>
          <a:lstStyle/>
          <a:p>
            <a:pPr indent="0" marL="0">
              <a:buNone/>
            </a:pPr>
            <a:r>
              <a:rPr lang="en-US" sz="1050" dirty="0">
                <a:solidFill>
                  <a:srgbClr val="E8ECF5"/>
                </a:solidFill>
                <a:latin typeface="Calibri" pitchFamily="34" charset="0"/>
                <a:ea typeface="Calibri" pitchFamily="34" charset="-122"/>
                <a:cs typeface="Calibri" pitchFamily="34" charset="-120"/>
              </a:rPr>
              <a:t>24 (severe frailty)</a:t>
            </a:r>
            <a:endParaRPr lang="en-US" sz="1050" dirty="0"/>
          </a:p>
        </p:txBody>
      </p:sp>
      <p:sp>
        <p:nvSpPr>
          <p:cNvPr id="35" name="Shape 32"/>
          <p:cNvSpPr/>
          <p:nvPr/>
        </p:nvSpPr>
        <p:spPr>
          <a:xfrm>
            <a:off x="640080" y="5925312"/>
            <a:ext cx="73152" cy="73152"/>
          </a:xfrm>
          <a:prstGeom prst="ellipse">
            <a:avLst/>
          </a:prstGeom>
          <a:solidFill>
            <a:srgbClr val="FF8A65"/>
          </a:solidFill>
          <a:ln/>
        </p:spPr>
      </p:sp>
      <p:sp>
        <p:nvSpPr>
          <p:cNvPr id="36" name="Text 33"/>
          <p:cNvSpPr/>
          <p:nvPr/>
        </p:nvSpPr>
        <p:spPr>
          <a:xfrm>
            <a:off x="822960" y="5852160"/>
            <a:ext cx="13716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MEDICATIONS</a:t>
            </a:r>
            <a:endParaRPr lang="en-US" sz="900" dirty="0"/>
          </a:p>
        </p:txBody>
      </p:sp>
      <p:sp>
        <p:nvSpPr>
          <p:cNvPr id="37" name="Text 34"/>
          <p:cNvSpPr/>
          <p:nvPr/>
        </p:nvSpPr>
        <p:spPr>
          <a:xfrm>
            <a:off x="2194560" y="5852160"/>
            <a:ext cx="3657600" cy="228600"/>
          </a:xfrm>
          <a:prstGeom prst="rect">
            <a:avLst/>
          </a:prstGeom>
          <a:noFill/>
          <a:ln/>
        </p:spPr>
        <p:txBody>
          <a:bodyPr wrap="square" lIns="0" tIns="0" rIns="0" bIns="0" rtlCol="0" anchor="ctr"/>
          <a:lstStyle/>
          <a:p>
            <a:pPr indent="0" marL="0">
              <a:buNone/>
            </a:pPr>
            <a:r>
              <a:rPr lang="en-US" sz="1050" dirty="0">
                <a:solidFill>
                  <a:srgbClr val="E8ECF5"/>
                </a:solidFill>
                <a:latin typeface="Calibri" pitchFamily="34" charset="0"/>
                <a:ea typeface="Calibri" pitchFamily="34" charset="-122"/>
                <a:cs typeface="Calibri" pitchFamily="34" charset="-120"/>
              </a:rPr>
              <a:t>Donepezil filled 3wk ago</a:t>
            </a:r>
            <a:endParaRPr lang="en-US" sz="1050" dirty="0"/>
          </a:p>
        </p:txBody>
      </p:sp>
      <p:sp>
        <p:nvSpPr>
          <p:cNvPr id="38" name="Shape 35"/>
          <p:cNvSpPr/>
          <p:nvPr/>
        </p:nvSpPr>
        <p:spPr>
          <a:xfrm>
            <a:off x="640080" y="6153912"/>
            <a:ext cx="73152" cy="73152"/>
          </a:xfrm>
          <a:prstGeom prst="ellipse">
            <a:avLst/>
          </a:prstGeom>
          <a:solidFill>
            <a:srgbClr val="FF8A65"/>
          </a:solidFill>
          <a:ln/>
        </p:spPr>
      </p:sp>
      <p:sp>
        <p:nvSpPr>
          <p:cNvPr id="39" name="Text 36"/>
          <p:cNvSpPr/>
          <p:nvPr/>
        </p:nvSpPr>
        <p:spPr>
          <a:xfrm>
            <a:off x="822960" y="6080760"/>
            <a:ext cx="13716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CARE PATTERN</a:t>
            </a:r>
            <a:endParaRPr lang="en-US" sz="900" dirty="0"/>
          </a:p>
        </p:txBody>
      </p:sp>
      <p:sp>
        <p:nvSpPr>
          <p:cNvPr id="40" name="Text 37"/>
          <p:cNvSpPr/>
          <p:nvPr/>
        </p:nvSpPr>
        <p:spPr>
          <a:xfrm>
            <a:off x="2194560" y="6080760"/>
            <a:ext cx="3657600" cy="228600"/>
          </a:xfrm>
          <a:prstGeom prst="rect">
            <a:avLst/>
          </a:prstGeom>
          <a:noFill/>
          <a:ln/>
        </p:spPr>
        <p:txBody>
          <a:bodyPr wrap="square" lIns="0" tIns="0" rIns="0" bIns="0" rtlCol="0" anchor="ctr"/>
          <a:lstStyle/>
          <a:p>
            <a:pPr indent="0" marL="0">
              <a:buNone/>
            </a:pPr>
            <a:r>
              <a:rPr lang="en-US" sz="1050" dirty="0">
                <a:solidFill>
                  <a:srgbClr val="E8ECF5"/>
                </a:solidFill>
                <a:latin typeface="Calibri" pitchFamily="34" charset="0"/>
                <a:ea typeface="Calibri" pitchFamily="34" charset="-122"/>
                <a:cs typeface="Calibri" pitchFamily="34" charset="-120"/>
              </a:rPr>
              <a:t>Palliative consult last month</a:t>
            </a:r>
            <a:endParaRPr lang="en-US" sz="1050" dirty="0"/>
          </a:p>
        </p:txBody>
      </p:sp>
      <p:sp>
        <p:nvSpPr>
          <p:cNvPr id="41" name="Shape 38"/>
          <p:cNvSpPr/>
          <p:nvPr/>
        </p:nvSpPr>
        <p:spPr>
          <a:xfrm>
            <a:off x="640080" y="6382512"/>
            <a:ext cx="73152" cy="73152"/>
          </a:xfrm>
          <a:prstGeom prst="ellipse">
            <a:avLst/>
          </a:prstGeom>
          <a:solidFill>
            <a:srgbClr val="FF8A65"/>
          </a:solidFill>
          <a:ln/>
        </p:spPr>
      </p:sp>
      <p:sp>
        <p:nvSpPr>
          <p:cNvPr id="42" name="Text 39"/>
          <p:cNvSpPr/>
          <p:nvPr/>
        </p:nvSpPr>
        <p:spPr>
          <a:xfrm>
            <a:off x="822960" y="6309360"/>
            <a:ext cx="1371600" cy="228600"/>
          </a:xfrm>
          <a:prstGeom prst="rect">
            <a:avLst/>
          </a:prstGeom>
          <a:noFill/>
          <a:ln/>
        </p:spPr>
        <p:txBody>
          <a:bodyPr wrap="square" lIns="0" tIns="0" rIns="0" bIns="0" rtlCol="0" anchor="ctr"/>
          <a:lstStyle/>
          <a:p>
            <a:pPr indent="0" marL="0">
              <a:buNone/>
            </a:pPr>
            <a:r>
              <a:rPr lang="en-US" sz="900" spc="200" kern="0" dirty="0">
                <a:solidFill>
                  <a:srgbClr val="5B6AE5"/>
                </a:solidFill>
                <a:latin typeface="Consolas" pitchFamily="34" charset="0"/>
                <a:ea typeface="Consolas" pitchFamily="34" charset="-122"/>
                <a:cs typeface="Consolas" pitchFamily="34" charset="-120"/>
              </a:rPr>
              <a:t>RESIDENCE</a:t>
            </a:r>
            <a:endParaRPr lang="en-US" sz="900" dirty="0"/>
          </a:p>
        </p:txBody>
      </p:sp>
      <p:sp>
        <p:nvSpPr>
          <p:cNvPr id="43" name="Text 40"/>
          <p:cNvSpPr/>
          <p:nvPr/>
        </p:nvSpPr>
        <p:spPr>
          <a:xfrm>
            <a:off x="2194560" y="6309360"/>
            <a:ext cx="3657600" cy="228600"/>
          </a:xfrm>
          <a:prstGeom prst="rect">
            <a:avLst/>
          </a:prstGeom>
          <a:noFill/>
          <a:ln/>
        </p:spPr>
        <p:txBody>
          <a:bodyPr wrap="square" lIns="0" tIns="0" rIns="0" bIns="0" rtlCol="0" anchor="ctr"/>
          <a:lstStyle/>
          <a:p>
            <a:pPr indent="0" marL="0">
              <a:buNone/>
            </a:pPr>
            <a:r>
              <a:rPr lang="en-US" sz="1050" dirty="0">
                <a:solidFill>
                  <a:srgbClr val="E8ECF5"/>
                </a:solidFill>
                <a:latin typeface="Calibri" pitchFamily="34" charset="0"/>
                <a:ea typeface="Calibri" pitchFamily="34" charset="-122"/>
                <a:cs typeface="Calibri" pitchFamily="34" charset="-120"/>
              </a:rPr>
              <a:t>Skilled nursing facility</a:t>
            </a:r>
            <a:endParaRPr lang="en-US" sz="1050" dirty="0"/>
          </a:p>
        </p:txBody>
      </p:sp>
      <p:sp>
        <p:nvSpPr>
          <p:cNvPr id="44" name="Text 41"/>
          <p:cNvSpPr/>
          <p:nvPr/>
        </p:nvSpPr>
        <p:spPr>
          <a:xfrm>
            <a:off x="6492240" y="2194560"/>
            <a:ext cx="512064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CLINICAL REASONING</a:t>
            </a:r>
            <a:endParaRPr lang="en-US" sz="900" dirty="0"/>
          </a:p>
        </p:txBody>
      </p:sp>
      <p:sp>
        <p:nvSpPr>
          <p:cNvPr id="45" name="Shape 42"/>
          <p:cNvSpPr/>
          <p:nvPr/>
        </p:nvSpPr>
        <p:spPr>
          <a:xfrm>
            <a:off x="6492240" y="2514600"/>
            <a:ext cx="45720" cy="2103120"/>
          </a:xfrm>
          <a:prstGeom prst="rect">
            <a:avLst/>
          </a:prstGeom>
          <a:solidFill>
            <a:srgbClr val="E06A78"/>
          </a:solidFill>
          <a:ln/>
        </p:spPr>
      </p:sp>
      <p:sp>
        <p:nvSpPr>
          <p:cNvPr id="46" name="Text 43"/>
          <p:cNvSpPr/>
          <p:nvPr/>
        </p:nvSpPr>
        <p:spPr>
          <a:xfrm>
            <a:off x="6675120" y="2514600"/>
            <a:ext cx="4846320" cy="2103120"/>
          </a:xfrm>
          <a:prstGeom prst="rect">
            <a:avLst/>
          </a:prstGeom>
          <a:noFill/>
          <a:ln/>
        </p:spPr>
        <p:txBody>
          <a:bodyPr wrap="square" lIns="0" tIns="0" rIns="0" bIns="0" rtlCol="0" anchor="t"/>
          <a:lstStyle/>
          <a:p>
            <a:pPr indent="0" marL="0">
              <a:buNone/>
            </a:pPr>
            <a:r>
              <a:rPr lang="en-US" sz="1300" i="1" dirty="0">
                <a:solidFill>
                  <a:srgbClr val="8B9AB3"/>
                </a:solidFill>
                <a:latin typeface="Georgia" pitchFamily="34" charset="0"/>
                <a:ea typeface="Georgia" pitchFamily="34" charset="-122"/>
                <a:cs typeface="Georgia" pitchFamily="34" charset="-120"/>
              </a:rPr>
              <a:t>Strong fracture signal, but every downstream indicator says she will not remain. Donepezil fill three weeks ago. Palliative consult last month. At 86 with HFRS 24, frailty alone excludes her. This member needs comfort care, not a BMD order.</a:t>
            </a:r>
            <a:endParaRPr lang="en-US" sz="1300" dirty="0"/>
          </a:p>
        </p:txBody>
      </p:sp>
      <p:sp>
        <p:nvSpPr>
          <p:cNvPr id="47" name="Shape 44"/>
          <p:cNvSpPr/>
          <p:nvPr/>
        </p:nvSpPr>
        <p:spPr>
          <a:xfrm>
            <a:off x="6492240" y="4800600"/>
            <a:ext cx="5120640" cy="1554480"/>
          </a:xfrm>
          <a:prstGeom prst="rect">
            <a:avLst/>
          </a:prstGeom>
          <a:solidFill>
            <a:srgbClr val="151B2C"/>
          </a:solidFill>
          <a:ln w="9525">
            <a:solidFill>
              <a:srgbClr val="E06A78"/>
            </a:solidFill>
            <a:prstDash val="solid"/>
          </a:ln>
        </p:spPr>
      </p:sp>
      <p:sp>
        <p:nvSpPr>
          <p:cNvPr id="48" name="Shape 45"/>
          <p:cNvSpPr/>
          <p:nvPr/>
        </p:nvSpPr>
        <p:spPr>
          <a:xfrm>
            <a:off x="6492240" y="4800600"/>
            <a:ext cx="73152" cy="1554480"/>
          </a:xfrm>
          <a:prstGeom prst="rect">
            <a:avLst/>
          </a:prstGeom>
          <a:solidFill>
            <a:srgbClr val="E06A78"/>
          </a:solidFill>
          <a:ln/>
        </p:spPr>
      </p:sp>
      <p:sp>
        <p:nvSpPr>
          <p:cNvPr id="49" name="Text 46"/>
          <p:cNvSpPr/>
          <p:nvPr/>
        </p:nvSpPr>
        <p:spPr>
          <a:xfrm>
            <a:off x="6766560" y="4983480"/>
            <a:ext cx="4663440" cy="228600"/>
          </a:xfrm>
          <a:prstGeom prst="rect">
            <a:avLst/>
          </a:prstGeom>
          <a:noFill/>
          <a:ln/>
        </p:spPr>
        <p:txBody>
          <a:bodyPr wrap="square" lIns="0" tIns="0" rIns="0" bIns="0" rtlCol="0" anchor="ctr"/>
          <a:lstStyle/>
          <a:p>
            <a:pPr indent="0" marL="0">
              <a:buNone/>
            </a:pPr>
            <a:r>
              <a:rPr lang="en-US" sz="900" b="1" spc="300" kern="0" dirty="0">
                <a:solidFill>
                  <a:srgbClr val="E06A78"/>
                </a:solidFill>
                <a:latin typeface="Consolas" pitchFamily="34" charset="0"/>
                <a:ea typeface="Consolas" pitchFamily="34" charset="-122"/>
                <a:cs typeface="Consolas" pitchFamily="34" charset="-120"/>
              </a:rPr>
              <a:t>OPERATIONAL ACTION</a:t>
            </a:r>
            <a:endParaRPr lang="en-US" sz="900" dirty="0"/>
          </a:p>
        </p:txBody>
      </p:sp>
      <p:sp>
        <p:nvSpPr>
          <p:cNvPr id="50" name="Text 47"/>
          <p:cNvSpPr/>
          <p:nvPr/>
        </p:nvSpPr>
        <p:spPr>
          <a:xfrm>
            <a:off x="6766560" y="5257800"/>
            <a:ext cx="4663440" cy="411480"/>
          </a:xfrm>
          <a:prstGeom prst="rect">
            <a:avLst/>
          </a:prstGeom>
          <a:noFill/>
          <a:ln/>
        </p:spPr>
        <p:txBody>
          <a:bodyPr wrap="square" lIns="0" tIns="0" rIns="0" bIns="0" rtlCol="0" anchor="t"/>
          <a:lstStyle/>
          <a:p>
            <a:pPr indent="0" marL="0">
              <a:buNone/>
            </a:pPr>
            <a:r>
              <a:rPr lang="en-US" sz="1800" dirty="0">
                <a:solidFill>
                  <a:srgbClr val="E8ECF5"/>
                </a:solidFill>
                <a:latin typeface="Georgia" pitchFamily="34" charset="0"/>
                <a:ea typeface="Georgia" pitchFamily="34" charset="-122"/>
                <a:cs typeface="Georgia" pitchFamily="34" charset="-120"/>
              </a:rPr>
              <a:t>No provider outreach</a:t>
            </a:r>
            <a:endParaRPr lang="en-US" sz="1800" dirty="0"/>
          </a:p>
        </p:txBody>
      </p:sp>
      <p:sp>
        <p:nvSpPr>
          <p:cNvPr id="51" name="Text 48"/>
          <p:cNvSpPr/>
          <p:nvPr/>
        </p:nvSpPr>
        <p:spPr>
          <a:xfrm>
            <a:off x="6766560" y="5715000"/>
            <a:ext cx="4663440" cy="594360"/>
          </a:xfrm>
          <a:prstGeom prst="rect">
            <a:avLst/>
          </a:prstGeom>
          <a:noFill/>
          <a:ln/>
        </p:spPr>
        <p:txBody>
          <a:bodyPr wrap="square" lIns="0" tIns="0" rIns="0" bIns="0" rtlCol="0" anchor="t"/>
          <a:lstStyle/>
          <a:p>
            <a:pPr indent="0" marL="0">
              <a:buNone/>
            </a:pPr>
            <a:r>
              <a:rPr lang="en-US" sz="1100" dirty="0">
                <a:solidFill>
                  <a:srgbClr val="8B9AB3"/>
                </a:solidFill>
                <a:latin typeface="Calibri" pitchFamily="34" charset="0"/>
                <a:ea typeface="Calibri" pitchFamily="34" charset="-122"/>
                <a:cs typeface="Calibri" pitchFamily="34" charset="-120"/>
              </a:rPr>
              <a:t>Internal tracking only. Member will almost certainly be excluded via frailty-alone criteria and active dementia medication.</a:t>
            </a:r>
            <a:endParaRPr lang="en-US" sz="1100" dirty="0"/>
          </a:p>
        </p:txBody>
      </p:sp>
      <p:sp>
        <p:nvSpPr>
          <p:cNvPr id="52" name="Text 49"/>
          <p:cNvSpPr/>
          <p:nvPr/>
        </p:nvSpPr>
        <p:spPr>
          <a:xfrm>
            <a:off x="457200" y="6492240"/>
            <a:ext cx="3657600" cy="274320"/>
          </a:xfrm>
          <a:prstGeom prst="rect">
            <a:avLst/>
          </a:prstGeom>
          <a:noFill/>
          <a:ln/>
        </p:spPr>
        <p:txBody>
          <a:bodyPr wrap="square" lIns="0" tIns="0" rIns="0" bIns="0" rtlCol="0" anchor="ctr"/>
          <a:lstStyle/>
          <a:p>
            <a:pPr indent="0" marL="0">
              <a:buNone/>
            </a:pPr>
            <a:r>
              <a:rPr lang="en-US" sz="800" spc="300" kern="0" dirty="0">
                <a:solidFill>
                  <a:srgbClr val="5B6AE5"/>
                </a:solidFill>
                <a:latin typeface="Consolas" pitchFamily="34" charset="0"/>
                <a:ea typeface="Consolas" pitchFamily="34" charset="-122"/>
                <a:cs typeface="Consolas" pitchFamily="34" charset="-120"/>
              </a:rPr>
              <a:t>OMW PREDICTIVE TRIAGE</a:t>
            </a:r>
            <a:endParaRPr lang="en-US" sz="800" dirty="0"/>
          </a:p>
        </p:txBody>
      </p:sp>
      <p:sp>
        <p:nvSpPr>
          <p:cNvPr id="53" name="Text 50"/>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800" spc="200" kern="0" dirty="0">
                <a:solidFill>
                  <a:srgbClr val="5B6AE5"/>
                </a:solidFill>
                <a:latin typeface="Consolas" pitchFamily="34" charset="0"/>
                <a:ea typeface="Consolas" pitchFamily="34" charset="-122"/>
                <a:cs typeface="Consolas"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000" b="1" spc="400" kern="0" dirty="0">
                <a:solidFill>
                  <a:srgbClr val="22D3A5"/>
                </a:solidFill>
                <a:latin typeface="Consolas" pitchFamily="34" charset="0"/>
                <a:ea typeface="Consolas" pitchFamily="34" charset="-122"/>
                <a:cs typeface="Consolas" pitchFamily="34" charset="-120"/>
              </a:rPr>
              <a:t>05  ·  SIDE-BY-SIDE</a:t>
            </a:r>
            <a:endParaRPr lang="en-US" sz="1000" dirty="0"/>
          </a:p>
        </p:txBody>
      </p:sp>
      <p:sp>
        <p:nvSpPr>
          <p:cNvPr id="3" name="Shape 1"/>
          <p:cNvSpPr/>
          <p:nvPr/>
        </p:nvSpPr>
        <p:spPr>
          <a:xfrm>
            <a:off x="640080" y="822960"/>
            <a:ext cx="1828800" cy="0"/>
          </a:xfrm>
          <a:prstGeom prst="line">
            <a:avLst/>
          </a:prstGeom>
          <a:noFill/>
          <a:ln w="6350">
            <a:solidFill>
              <a:srgbClr val="2D3A54"/>
            </a:solidFill>
            <a:prstDash val="solid"/>
          </a:ln>
        </p:spPr>
      </p:sp>
      <p:sp>
        <p:nvSpPr>
          <p:cNvPr id="4" name="Text 2"/>
          <p:cNvSpPr/>
          <p:nvPr/>
        </p:nvSpPr>
        <p:spPr>
          <a:xfrm>
            <a:off x="640080" y="1097280"/>
            <a:ext cx="10972800" cy="2400300"/>
          </a:xfrm>
          <a:prstGeom prst="rect">
            <a:avLst/>
          </a:prstGeom>
          <a:noFill/>
          <a:ln/>
        </p:spPr>
        <p:txBody>
          <a:bodyPr wrap="square" lIns="0" tIns="0" rIns="0" bIns="0" rtlCol="0" anchor="t"/>
          <a:lstStyle/>
          <a:p>
            <a:pPr indent="0" marL="0">
              <a:buNone/>
            </a:pPr>
            <a:r>
              <a:rPr lang="en-US" sz="4200" dirty="0">
                <a:solidFill>
                  <a:srgbClr val="E8ECF5"/>
                </a:solidFill>
                <a:latin typeface="Georgia" pitchFamily="34" charset="0"/>
                <a:ea typeface="Georgia" pitchFamily="34" charset="-122"/>
                <a:cs typeface="Georgia" pitchFamily="34" charset="-120"/>
              </a:rPr>
              <a:t>Same trigger event.</a:t>
            </a:r>
            <a:endParaRPr lang="en-US" sz="4200" dirty="0"/>
          </a:p>
          <a:p>
            <a:pPr indent="0" marL="0">
              <a:buNone/>
            </a:pPr>
            <a:r>
              <a:rPr lang="en-US" sz="4200" dirty="0">
                <a:solidFill>
                  <a:srgbClr val="E8ECF5"/>
                </a:solidFill>
                <a:latin typeface="Georgia" pitchFamily="34" charset="0"/>
                <a:ea typeface="Georgia" pitchFamily="34" charset="-122"/>
                <a:cs typeface="Georgia" pitchFamily="34" charset="-120"/>
              </a:rPr>
              <a:t>Four </a:t>
            </a:r>
            <a:pPr indent="0" marL="0">
              <a:buNone/>
            </a:pPr>
            <a:r>
              <a:rPr lang="en-US" sz="4200" i="1" dirty="0">
                <a:solidFill>
                  <a:srgbClr val="22D3A5"/>
                </a:solidFill>
                <a:latin typeface="Georgia" pitchFamily="34" charset="0"/>
                <a:ea typeface="Georgia" pitchFamily="34" charset="-122"/>
                <a:cs typeface="Georgia" pitchFamily="34" charset="-120"/>
              </a:rPr>
              <a:t>different answers.</a:t>
            </a:r>
            <a:endParaRPr lang="en-US" sz="4200" dirty="0"/>
          </a:p>
        </p:txBody>
      </p:sp>
      <p:graphicFrame>
        <p:nvGraphicFramePr>
          <p:cNvPr id="5" name="Chart 0" descr=""/>
          <p:cNvGraphicFramePr/>
          <p:nvPr/>
        </p:nvGraphicFramePr>
        <p:xfrm>
          <a:off x="640080" y="3017520"/>
          <a:ext cx="7772400" cy="3291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8778240" y="2834640"/>
            <a:ext cx="283464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OPPORTUNITY SCORE</a:t>
            </a:r>
            <a:endParaRPr lang="en-US" sz="900" dirty="0"/>
          </a:p>
        </p:txBody>
      </p:sp>
      <p:sp>
        <p:nvSpPr>
          <p:cNvPr id="7" name="Shape 4"/>
          <p:cNvSpPr/>
          <p:nvPr/>
        </p:nvSpPr>
        <p:spPr>
          <a:xfrm>
            <a:off x="8778240" y="3108960"/>
            <a:ext cx="2834640" cy="731520"/>
          </a:xfrm>
          <a:prstGeom prst="rect">
            <a:avLst/>
          </a:prstGeom>
          <a:solidFill>
            <a:srgbClr val="151B2C"/>
          </a:solidFill>
          <a:ln w="6350">
            <a:solidFill>
              <a:srgbClr val="2D3A54"/>
            </a:solidFill>
            <a:prstDash val="solid"/>
          </a:ln>
        </p:spPr>
      </p:sp>
      <p:sp>
        <p:nvSpPr>
          <p:cNvPr id="8" name="Shape 5"/>
          <p:cNvSpPr/>
          <p:nvPr/>
        </p:nvSpPr>
        <p:spPr>
          <a:xfrm>
            <a:off x="8778240" y="3108960"/>
            <a:ext cx="54864" cy="731520"/>
          </a:xfrm>
          <a:prstGeom prst="rect">
            <a:avLst/>
          </a:prstGeom>
          <a:solidFill>
            <a:srgbClr val="22D3A5"/>
          </a:solidFill>
          <a:ln/>
        </p:spPr>
      </p:sp>
      <p:sp>
        <p:nvSpPr>
          <p:cNvPr id="9" name="Text 6"/>
          <p:cNvSpPr/>
          <p:nvPr/>
        </p:nvSpPr>
        <p:spPr>
          <a:xfrm>
            <a:off x="8961120" y="3182112"/>
            <a:ext cx="548640" cy="228600"/>
          </a:xfrm>
          <a:prstGeom prst="rect">
            <a:avLst/>
          </a:prstGeom>
          <a:noFill/>
          <a:ln/>
        </p:spPr>
        <p:txBody>
          <a:bodyPr wrap="square" lIns="0" tIns="0" rIns="0" bIns="0" rtlCol="0" anchor="ctr"/>
          <a:lstStyle/>
          <a:p>
            <a:pPr indent="0" marL="0">
              <a:buNone/>
            </a:pPr>
            <a:r>
              <a:rPr lang="en-US" sz="800" b="1" spc="200" kern="0" dirty="0">
                <a:solidFill>
                  <a:srgbClr val="22D3A5"/>
                </a:solidFill>
                <a:latin typeface="Consolas" pitchFamily="34" charset="0"/>
                <a:ea typeface="Consolas" pitchFamily="34" charset="-122"/>
                <a:cs typeface="Consolas" pitchFamily="34" charset="-120"/>
              </a:rPr>
              <a:t>T01</a:t>
            </a:r>
            <a:endParaRPr lang="en-US" sz="800" dirty="0"/>
          </a:p>
        </p:txBody>
      </p:sp>
      <p:sp>
        <p:nvSpPr>
          <p:cNvPr id="10" name="Text 7"/>
          <p:cNvSpPr/>
          <p:nvPr/>
        </p:nvSpPr>
        <p:spPr>
          <a:xfrm>
            <a:off x="8961120" y="3401568"/>
            <a:ext cx="1737360" cy="320040"/>
          </a:xfrm>
          <a:prstGeom prst="rect">
            <a:avLst/>
          </a:prstGeom>
          <a:noFill/>
          <a:ln/>
        </p:spPr>
        <p:txBody>
          <a:bodyPr wrap="square" lIns="0" tIns="0" rIns="0" bIns="0" rtlCol="0" anchor="ctr"/>
          <a:lstStyle/>
          <a:p>
            <a:pPr indent="0" marL="0">
              <a:buNone/>
            </a:pPr>
            <a:r>
              <a:rPr lang="en-US" sz="1300" dirty="0">
                <a:solidFill>
                  <a:srgbClr val="E8ECF5"/>
                </a:solidFill>
                <a:latin typeface="Georgia" pitchFamily="34" charset="0"/>
                <a:ea typeface="Georgia" pitchFamily="34" charset="-122"/>
                <a:cs typeface="Georgia" pitchFamily="34" charset="-120"/>
              </a:rPr>
              <a:t>Margaret</a:t>
            </a:r>
            <a:endParaRPr lang="en-US" sz="1300" dirty="0"/>
          </a:p>
        </p:txBody>
      </p:sp>
      <p:sp>
        <p:nvSpPr>
          <p:cNvPr id="11" name="Text 8"/>
          <p:cNvSpPr/>
          <p:nvPr/>
        </p:nvSpPr>
        <p:spPr>
          <a:xfrm>
            <a:off x="10698480" y="3246120"/>
            <a:ext cx="822960" cy="457200"/>
          </a:xfrm>
          <a:prstGeom prst="rect">
            <a:avLst/>
          </a:prstGeom>
          <a:noFill/>
          <a:ln/>
        </p:spPr>
        <p:txBody>
          <a:bodyPr wrap="square" lIns="0" tIns="0" rIns="0" bIns="0" rtlCol="0" anchor="ctr"/>
          <a:lstStyle/>
          <a:p>
            <a:pPr algn="r" indent="0" marL="0">
              <a:buNone/>
            </a:pPr>
            <a:r>
              <a:rPr lang="en-US" sz="2200" dirty="0">
                <a:solidFill>
                  <a:srgbClr val="22D3A5"/>
                </a:solidFill>
                <a:latin typeface="Georgia" pitchFamily="34" charset="0"/>
                <a:ea typeface="Georgia" pitchFamily="34" charset="-122"/>
                <a:cs typeface="Georgia" pitchFamily="34" charset="-120"/>
              </a:rPr>
              <a:t>57</a:t>
            </a:r>
            <a:pPr algn="r" indent="0" marL="0">
              <a:buNone/>
            </a:pPr>
            <a:r>
              <a:rPr lang="en-US" sz="1000" dirty="0">
                <a:solidFill>
                  <a:srgbClr val="5B6AE5"/>
                </a:solidFill>
                <a:latin typeface="Georgia" pitchFamily="34" charset="0"/>
                <a:ea typeface="Georgia" pitchFamily="34" charset="-122"/>
                <a:cs typeface="Georgia" pitchFamily="34" charset="-120"/>
              </a:rPr>
              <a:t>/100</a:t>
            </a:r>
            <a:endParaRPr lang="en-US" sz="2200" dirty="0"/>
          </a:p>
        </p:txBody>
      </p:sp>
      <p:sp>
        <p:nvSpPr>
          <p:cNvPr id="12" name="Shape 9"/>
          <p:cNvSpPr/>
          <p:nvPr/>
        </p:nvSpPr>
        <p:spPr>
          <a:xfrm>
            <a:off x="8778240" y="3950208"/>
            <a:ext cx="2834640" cy="731520"/>
          </a:xfrm>
          <a:prstGeom prst="rect">
            <a:avLst/>
          </a:prstGeom>
          <a:solidFill>
            <a:srgbClr val="151B2C"/>
          </a:solidFill>
          <a:ln w="6350">
            <a:solidFill>
              <a:srgbClr val="2D3A54"/>
            </a:solidFill>
            <a:prstDash val="solid"/>
          </a:ln>
        </p:spPr>
      </p:sp>
      <p:sp>
        <p:nvSpPr>
          <p:cNvPr id="13" name="Shape 10"/>
          <p:cNvSpPr/>
          <p:nvPr/>
        </p:nvSpPr>
        <p:spPr>
          <a:xfrm>
            <a:off x="8778240" y="3950208"/>
            <a:ext cx="54864" cy="731520"/>
          </a:xfrm>
          <a:prstGeom prst="rect">
            <a:avLst/>
          </a:prstGeom>
          <a:solidFill>
            <a:srgbClr val="F4C060"/>
          </a:solidFill>
          <a:ln/>
        </p:spPr>
      </p:sp>
      <p:sp>
        <p:nvSpPr>
          <p:cNvPr id="14" name="Text 11"/>
          <p:cNvSpPr/>
          <p:nvPr/>
        </p:nvSpPr>
        <p:spPr>
          <a:xfrm>
            <a:off x="8961120" y="4023360"/>
            <a:ext cx="548640" cy="228600"/>
          </a:xfrm>
          <a:prstGeom prst="rect">
            <a:avLst/>
          </a:prstGeom>
          <a:noFill/>
          <a:ln/>
        </p:spPr>
        <p:txBody>
          <a:bodyPr wrap="square" lIns="0" tIns="0" rIns="0" bIns="0" rtlCol="0" anchor="ctr"/>
          <a:lstStyle/>
          <a:p>
            <a:pPr indent="0" marL="0">
              <a:buNone/>
            </a:pPr>
            <a:r>
              <a:rPr lang="en-US" sz="800" b="1" spc="200" kern="0" dirty="0">
                <a:solidFill>
                  <a:srgbClr val="F4C060"/>
                </a:solidFill>
                <a:latin typeface="Consolas" pitchFamily="34" charset="0"/>
                <a:ea typeface="Consolas" pitchFamily="34" charset="-122"/>
                <a:cs typeface="Consolas" pitchFamily="34" charset="-120"/>
              </a:rPr>
              <a:t>T02</a:t>
            </a:r>
            <a:endParaRPr lang="en-US" sz="800" dirty="0"/>
          </a:p>
        </p:txBody>
      </p:sp>
      <p:sp>
        <p:nvSpPr>
          <p:cNvPr id="15" name="Text 12"/>
          <p:cNvSpPr/>
          <p:nvPr/>
        </p:nvSpPr>
        <p:spPr>
          <a:xfrm>
            <a:off x="8961120" y="4242816"/>
            <a:ext cx="1737360" cy="320040"/>
          </a:xfrm>
          <a:prstGeom prst="rect">
            <a:avLst/>
          </a:prstGeom>
          <a:noFill/>
          <a:ln/>
        </p:spPr>
        <p:txBody>
          <a:bodyPr wrap="square" lIns="0" tIns="0" rIns="0" bIns="0" rtlCol="0" anchor="ctr"/>
          <a:lstStyle/>
          <a:p>
            <a:pPr indent="0" marL="0">
              <a:buNone/>
            </a:pPr>
            <a:r>
              <a:rPr lang="en-US" sz="1300" dirty="0">
                <a:solidFill>
                  <a:srgbClr val="E8ECF5"/>
                </a:solidFill>
                <a:latin typeface="Georgia" pitchFamily="34" charset="0"/>
                <a:ea typeface="Georgia" pitchFamily="34" charset="-122"/>
                <a:cs typeface="Georgia" pitchFamily="34" charset="-120"/>
              </a:rPr>
              <a:t>Dorothy</a:t>
            </a:r>
            <a:endParaRPr lang="en-US" sz="1300" dirty="0"/>
          </a:p>
        </p:txBody>
      </p:sp>
      <p:sp>
        <p:nvSpPr>
          <p:cNvPr id="16" name="Text 13"/>
          <p:cNvSpPr/>
          <p:nvPr/>
        </p:nvSpPr>
        <p:spPr>
          <a:xfrm>
            <a:off x="10698480" y="4087368"/>
            <a:ext cx="822960" cy="457200"/>
          </a:xfrm>
          <a:prstGeom prst="rect">
            <a:avLst/>
          </a:prstGeom>
          <a:noFill/>
          <a:ln/>
        </p:spPr>
        <p:txBody>
          <a:bodyPr wrap="square" lIns="0" tIns="0" rIns="0" bIns="0" rtlCol="0" anchor="ctr"/>
          <a:lstStyle/>
          <a:p>
            <a:pPr algn="r" indent="0" marL="0">
              <a:buNone/>
            </a:pPr>
            <a:r>
              <a:rPr lang="en-US" sz="2200" dirty="0">
                <a:solidFill>
                  <a:srgbClr val="F4C060"/>
                </a:solidFill>
                <a:latin typeface="Georgia" pitchFamily="34" charset="0"/>
                <a:ea typeface="Georgia" pitchFamily="34" charset="-122"/>
                <a:cs typeface="Georgia" pitchFamily="34" charset="-120"/>
              </a:rPr>
              <a:t>14</a:t>
            </a:r>
            <a:pPr algn="r" indent="0" marL="0">
              <a:buNone/>
            </a:pPr>
            <a:r>
              <a:rPr lang="en-US" sz="1000" dirty="0">
                <a:solidFill>
                  <a:srgbClr val="5B6AE5"/>
                </a:solidFill>
                <a:latin typeface="Georgia" pitchFamily="34" charset="0"/>
                <a:ea typeface="Georgia" pitchFamily="34" charset="-122"/>
                <a:cs typeface="Georgia" pitchFamily="34" charset="-120"/>
              </a:rPr>
              <a:t>/100</a:t>
            </a:r>
            <a:endParaRPr lang="en-US" sz="2200" dirty="0"/>
          </a:p>
        </p:txBody>
      </p:sp>
      <p:sp>
        <p:nvSpPr>
          <p:cNvPr id="17" name="Shape 14"/>
          <p:cNvSpPr/>
          <p:nvPr/>
        </p:nvSpPr>
        <p:spPr>
          <a:xfrm>
            <a:off x="8778240" y="4791456"/>
            <a:ext cx="2834640" cy="731520"/>
          </a:xfrm>
          <a:prstGeom prst="rect">
            <a:avLst/>
          </a:prstGeom>
          <a:solidFill>
            <a:srgbClr val="151B2C"/>
          </a:solidFill>
          <a:ln w="6350">
            <a:solidFill>
              <a:srgbClr val="2D3A54"/>
            </a:solidFill>
            <a:prstDash val="solid"/>
          </a:ln>
        </p:spPr>
      </p:sp>
      <p:sp>
        <p:nvSpPr>
          <p:cNvPr id="18" name="Shape 15"/>
          <p:cNvSpPr/>
          <p:nvPr/>
        </p:nvSpPr>
        <p:spPr>
          <a:xfrm>
            <a:off x="8778240" y="4791456"/>
            <a:ext cx="54864" cy="731520"/>
          </a:xfrm>
          <a:prstGeom prst="rect">
            <a:avLst/>
          </a:prstGeom>
          <a:solidFill>
            <a:srgbClr val="A58EF7"/>
          </a:solidFill>
          <a:ln/>
        </p:spPr>
      </p:sp>
      <p:sp>
        <p:nvSpPr>
          <p:cNvPr id="19" name="Text 16"/>
          <p:cNvSpPr/>
          <p:nvPr/>
        </p:nvSpPr>
        <p:spPr>
          <a:xfrm>
            <a:off x="8961120" y="4864608"/>
            <a:ext cx="548640" cy="228600"/>
          </a:xfrm>
          <a:prstGeom prst="rect">
            <a:avLst/>
          </a:prstGeom>
          <a:noFill/>
          <a:ln/>
        </p:spPr>
        <p:txBody>
          <a:bodyPr wrap="square" lIns="0" tIns="0" rIns="0" bIns="0" rtlCol="0" anchor="ctr"/>
          <a:lstStyle/>
          <a:p>
            <a:pPr indent="0" marL="0">
              <a:buNone/>
            </a:pPr>
            <a:r>
              <a:rPr lang="en-US" sz="800" b="1" spc="200" kern="0" dirty="0">
                <a:solidFill>
                  <a:srgbClr val="A58EF7"/>
                </a:solidFill>
                <a:latin typeface="Consolas" pitchFamily="34" charset="0"/>
                <a:ea typeface="Consolas" pitchFamily="34" charset="-122"/>
                <a:cs typeface="Consolas" pitchFamily="34" charset="-120"/>
              </a:rPr>
              <a:t>T03</a:t>
            </a:r>
            <a:endParaRPr lang="en-US" sz="800" dirty="0"/>
          </a:p>
        </p:txBody>
      </p:sp>
      <p:sp>
        <p:nvSpPr>
          <p:cNvPr id="20" name="Text 17"/>
          <p:cNvSpPr/>
          <p:nvPr/>
        </p:nvSpPr>
        <p:spPr>
          <a:xfrm>
            <a:off x="8961120" y="5084064"/>
            <a:ext cx="1737360" cy="320040"/>
          </a:xfrm>
          <a:prstGeom prst="rect">
            <a:avLst/>
          </a:prstGeom>
          <a:noFill/>
          <a:ln/>
        </p:spPr>
        <p:txBody>
          <a:bodyPr wrap="square" lIns="0" tIns="0" rIns="0" bIns="0" rtlCol="0" anchor="ctr"/>
          <a:lstStyle/>
          <a:p>
            <a:pPr indent="0" marL="0">
              <a:buNone/>
            </a:pPr>
            <a:r>
              <a:rPr lang="en-US" sz="1300" dirty="0">
                <a:solidFill>
                  <a:srgbClr val="E8ECF5"/>
                </a:solidFill>
                <a:latin typeface="Georgia" pitchFamily="34" charset="0"/>
                <a:ea typeface="Georgia" pitchFamily="34" charset="-122"/>
                <a:cs typeface="Georgia" pitchFamily="34" charset="-120"/>
              </a:rPr>
              <a:t>Helen</a:t>
            </a:r>
            <a:endParaRPr lang="en-US" sz="1300" dirty="0"/>
          </a:p>
        </p:txBody>
      </p:sp>
      <p:sp>
        <p:nvSpPr>
          <p:cNvPr id="21" name="Text 18"/>
          <p:cNvSpPr/>
          <p:nvPr/>
        </p:nvSpPr>
        <p:spPr>
          <a:xfrm>
            <a:off x="10698480" y="4928616"/>
            <a:ext cx="822960" cy="457200"/>
          </a:xfrm>
          <a:prstGeom prst="rect">
            <a:avLst/>
          </a:prstGeom>
          <a:noFill/>
          <a:ln/>
        </p:spPr>
        <p:txBody>
          <a:bodyPr wrap="square" lIns="0" tIns="0" rIns="0" bIns="0" rtlCol="0" anchor="ctr"/>
          <a:lstStyle/>
          <a:p>
            <a:pPr algn="r" indent="0" marL="0">
              <a:buNone/>
            </a:pPr>
            <a:r>
              <a:rPr lang="en-US" sz="2200" dirty="0">
                <a:solidFill>
                  <a:srgbClr val="A58EF7"/>
                </a:solidFill>
                <a:latin typeface="Georgia" pitchFamily="34" charset="0"/>
                <a:ea typeface="Georgia" pitchFamily="34" charset="-122"/>
                <a:cs typeface="Georgia" pitchFamily="34" charset="-120"/>
              </a:rPr>
              <a:t>15</a:t>
            </a:r>
            <a:pPr algn="r" indent="0" marL="0">
              <a:buNone/>
            </a:pPr>
            <a:r>
              <a:rPr lang="en-US" sz="1000" dirty="0">
                <a:solidFill>
                  <a:srgbClr val="5B6AE5"/>
                </a:solidFill>
                <a:latin typeface="Georgia" pitchFamily="34" charset="0"/>
                <a:ea typeface="Georgia" pitchFamily="34" charset="-122"/>
                <a:cs typeface="Georgia" pitchFamily="34" charset="-120"/>
              </a:rPr>
              <a:t>/100</a:t>
            </a:r>
            <a:endParaRPr lang="en-US" sz="2200" dirty="0"/>
          </a:p>
        </p:txBody>
      </p:sp>
      <p:sp>
        <p:nvSpPr>
          <p:cNvPr id="22" name="Shape 19"/>
          <p:cNvSpPr/>
          <p:nvPr/>
        </p:nvSpPr>
        <p:spPr>
          <a:xfrm>
            <a:off x="8778240" y="5632704"/>
            <a:ext cx="2834640" cy="731520"/>
          </a:xfrm>
          <a:prstGeom prst="rect">
            <a:avLst/>
          </a:prstGeom>
          <a:solidFill>
            <a:srgbClr val="151B2C"/>
          </a:solidFill>
          <a:ln w="6350">
            <a:solidFill>
              <a:srgbClr val="2D3A54"/>
            </a:solidFill>
            <a:prstDash val="solid"/>
          </a:ln>
        </p:spPr>
      </p:sp>
      <p:sp>
        <p:nvSpPr>
          <p:cNvPr id="23" name="Shape 20"/>
          <p:cNvSpPr/>
          <p:nvPr/>
        </p:nvSpPr>
        <p:spPr>
          <a:xfrm>
            <a:off x="8778240" y="5632704"/>
            <a:ext cx="54864" cy="731520"/>
          </a:xfrm>
          <a:prstGeom prst="rect">
            <a:avLst/>
          </a:prstGeom>
          <a:solidFill>
            <a:srgbClr val="E06A78"/>
          </a:solidFill>
          <a:ln/>
        </p:spPr>
      </p:sp>
      <p:sp>
        <p:nvSpPr>
          <p:cNvPr id="24" name="Text 21"/>
          <p:cNvSpPr/>
          <p:nvPr/>
        </p:nvSpPr>
        <p:spPr>
          <a:xfrm>
            <a:off x="8961120" y="5705856"/>
            <a:ext cx="548640" cy="228600"/>
          </a:xfrm>
          <a:prstGeom prst="rect">
            <a:avLst/>
          </a:prstGeom>
          <a:noFill/>
          <a:ln/>
        </p:spPr>
        <p:txBody>
          <a:bodyPr wrap="square" lIns="0" tIns="0" rIns="0" bIns="0" rtlCol="0" anchor="ctr"/>
          <a:lstStyle/>
          <a:p>
            <a:pPr indent="0" marL="0">
              <a:buNone/>
            </a:pPr>
            <a:r>
              <a:rPr lang="en-US" sz="800" b="1" spc="200" kern="0" dirty="0">
                <a:solidFill>
                  <a:srgbClr val="E06A78"/>
                </a:solidFill>
                <a:latin typeface="Consolas" pitchFamily="34" charset="0"/>
                <a:ea typeface="Consolas" pitchFamily="34" charset="-122"/>
                <a:cs typeface="Consolas" pitchFamily="34" charset="-120"/>
              </a:rPr>
              <a:t>T04</a:t>
            </a:r>
            <a:endParaRPr lang="en-US" sz="800" dirty="0"/>
          </a:p>
        </p:txBody>
      </p:sp>
      <p:sp>
        <p:nvSpPr>
          <p:cNvPr id="25" name="Text 22"/>
          <p:cNvSpPr/>
          <p:nvPr/>
        </p:nvSpPr>
        <p:spPr>
          <a:xfrm>
            <a:off x="8961120" y="5925312"/>
            <a:ext cx="1737360" cy="320040"/>
          </a:xfrm>
          <a:prstGeom prst="rect">
            <a:avLst/>
          </a:prstGeom>
          <a:noFill/>
          <a:ln/>
        </p:spPr>
        <p:txBody>
          <a:bodyPr wrap="square" lIns="0" tIns="0" rIns="0" bIns="0" rtlCol="0" anchor="ctr"/>
          <a:lstStyle/>
          <a:p>
            <a:pPr indent="0" marL="0">
              <a:buNone/>
            </a:pPr>
            <a:r>
              <a:rPr lang="en-US" sz="1300" dirty="0">
                <a:solidFill>
                  <a:srgbClr val="E8ECF5"/>
                </a:solidFill>
                <a:latin typeface="Georgia" pitchFamily="34" charset="0"/>
                <a:ea typeface="Georgia" pitchFamily="34" charset="-122"/>
                <a:cs typeface="Georgia" pitchFamily="34" charset="-120"/>
              </a:rPr>
              <a:t>Ruth</a:t>
            </a:r>
            <a:endParaRPr lang="en-US" sz="1300" dirty="0"/>
          </a:p>
        </p:txBody>
      </p:sp>
      <p:sp>
        <p:nvSpPr>
          <p:cNvPr id="26" name="Text 23"/>
          <p:cNvSpPr/>
          <p:nvPr/>
        </p:nvSpPr>
        <p:spPr>
          <a:xfrm>
            <a:off x="10698480" y="5769864"/>
            <a:ext cx="822960" cy="457200"/>
          </a:xfrm>
          <a:prstGeom prst="rect">
            <a:avLst/>
          </a:prstGeom>
          <a:noFill/>
          <a:ln/>
        </p:spPr>
        <p:txBody>
          <a:bodyPr wrap="square" lIns="0" tIns="0" rIns="0" bIns="0" rtlCol="0" anchor="ctr"/>
          <a:lstStyle/>
          <a:p>
            <a:pPr algn="r" indent="0" marL="0">
              <a:buNone/>
            </a:pPr>
            <a:r>
              <a:rPr lang="en-US" sz="2200" dirty="0">
                <a:solidFill>
                  <a:srgbClr val="E06A78"/>
                </a:solidFill>
                <a:latin typeface="Georgia" pitchFamily="34" charset="0"/>
                <a:ea typeface="Georgia" pitchFamily="34" charset="-122"/>
                <a:cs typeface="Georgia" pitchFamily="34" charset="-120"/>
              </a:rPr>
              <a:t>1</a:t>
            </a:r>
            <a:pPr algn="r" indent="0" marL="0">
              <a:buNone/>
            </a:pPr>
            <a:r>
              <a:rPr lang="en-US" sz="1000" dirty="0">
                <a:solidFill>
                  <a:srgbClr val="5B6AE5"/>
                </a:solidFill>
                <a:latin typeface="Georgia" pitchFamily="34" charset="0"/>
                <a:ea typeface="Georgia" pitchFamily="34" charset="-122"/>
                <a:cs typeface="Georgia" pitchFamily="34" charset="-120"/>
              </a:rPr>
              <a:t>/100</a:t>
            </a:r>
            <a:endParaRPr lang="en-US" sz="2200" dirty="0"/>
          </a:p>
        </p:txBody>
      </p:sp>
      <p:sp>
        <p:nvSpPr>
          <p:cNvPr id="27" name="Text 24"/>
          <p:cNvSpPr/>
          <p:nvPr/>
        </p:nvSpPr>
        <p:spPr>
          <a:xfrm>
            <a:off x="457200" y="6492240"/>
            <a:ext cx="3657600" cy="274320"/>
          </a:xfrm>
          <a:prstGeom prst="rect">
            <a:avLst/>
          </a:prstGeom>
          <a:noFill/>
          <a:ln/>
        </p:spPr>
        <p:txBody>
          <a:bodyPr wrap="square" lIns="0" tIns="0" rIns="0" bIns="0" rtlCol="0" anchor="ctr"/>
          <a:lstStyle/>
          <a:p>
            <a:pPr indent="0" marL="0">
              <a:buNone/>
            </a:pPr>
            <a:r>
              <a:rPr lang="en-US" sz="800" spc="300" kern="0" dirty="0">
                <a:solidFill>
                  <a:srgbClr val="5B6AE5"/>
                </a:solidFill>
                <a:latin typeface="Consolas" pitchFamily="34" charset="0"/>
                <a:ea typeface="Consolas" pitchFamily="34" charset="-122"/>
                <a:cs typeface="Consolas" pitchFamily="34" charset="-120"/>
              </a:rPr>
              <a:t>OMW PREDICTIVE TRIAGE</a:t>
            </a:r>
            <a:endParaRPr lang="en-US" sz="800" dirty="0"/>
          </a:p>
        </p:txBody>
      </p:sp>
      <p:sp>
        <p:nvSpPr>
          <p:cNvPr id="28" name="Text 25"/>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800" spc="200" kern="0" dirty="0">
                <a:solidFill>
                  <a:srgbClr val="5B6AE5"/>
                </a:solidFill>
                <a:latin typeface="Consolas" pitchFamily="34" charset="0"/>
                <a:ea typeface="Consolas" pitchFamily="34" charset="-122"/>
                <a:cs typeface="Consolas"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000" b="1" spc="400" kern="0" dirty="0">
                <a:solidFill>
                  <a:srgbClr val="22D3A5"/>
                </a:solidFill>
                <a:latin typeface="Consolas" pitchFamily="34" charset="0"/>
                <a:ea typeface="Consolas" pitchFamily="34" charset="-122"/>
                <a:cs typeface="Consolas" pitchFamily="34" charset="-120"/>
              </a:rPr>
              <a:t>06  ·  THE PATH FORWARD</a:t>
            </a:r>
            <a:endParaRPr lang="en-US" sz="1000" dirty="0"/>
          </a:p>
        </p:txBody>
      </p:sp>
      <p:sp>
        <p:nvSpPr>
          <p:cNvPr id="3" name="Shape 1"/>
          <p:cNvSpPr/>
          <p:nvPr/>
        </p:nvSpPr>
        <p:spPr>
          <a:xfrm>
            <a:off x="640080" y="822960"/>
            <a:ext cx="1828800" cy="0"/>
          </a:xfrm>
          <a:prstGeom prst="line">
            <a:avLst/>
          </a:prstGeom>
          <a:noFill/>
          <a:ln w="6350">
            <a:solidFill>
              <a:srgbClr val="2D3A54"/>
            </a:solidFill>
            <a:prstDash val="solid"/>
          </a:ln>
        </p:spPr>
      </p:sp>
      <p:sp>
        <p:nvSpPr>
          <p:cNvPr id="4" name="Text 2"/>
          <p:cNvSpPr/>
          <p:nvPr/>
        </p:nvSpPr>
        <p:spPr>
          <a:xfrm>
            <a:off x="640080" y="1097280"/>
            <a:ext cx="10972800" cy="2400300"/>
          </a:xfrm>
          <a:prstGeom prst="rect">
            <a:avLst/>
          </a:prstGeom>
          <a:noFill/>
          <a:ln/>
        </p:spPr>
        <p:txBody>
          <a:bodyPr wrap="square" lIns="0" tIns="0" rIns="0" bIns="0" rtlCol="0" anchor="t"/>
          <a:lstStyle/>
          <a:p>
            <a:pPr indent="0" marL="0">
              <a:buNone/>
            </a:pPr>
            <a:r>
              <a:rPr lang="en-US" sz="4200" dirty="0">
                <a:solidFill>
                  <a:srgbClr val="E8ECF5"/>
                </a:solidFill>
                <a:latin typeface="Georgia" pitchFamily="34" charset="0"/>
                <a:ea typeface="Georgia" pitchFamily="34" charset="-122"/>
                <a:cs typeface="Georgia" pitchFamily="34" charset="-120"/>
              </a:rPr>
              <a:t>Four phases,</a:t>
            </a:r>
            <a:endParaRPr lang="en-US" sz="4200" dirty="0"/>
          </a:p>
          <a:p>
            <a:pPr indent="0" marL="0">
              <a:buNone/>
            </a:pPr>
            <a:r>
              <a:rPr lang="en-US" sz="4200" dirty="0">
                <a:solidFill>
                  <a:srgbClr val="E8ECF5"/>
                </a:solidFill>
                <a:latin typeface="Georgia" pitchFamily="34" charset="0"/>
                <a:ea typeface="Georgia" pitchFamily="34" charset="-122"/>
                <a:cs typeface="Georgia" pitchFamily="34" charset="-120"/>
              </a:rPr>
              <a:t>twelve </a:t>
            </a:r>
            <a:pPr indent="0" marL="0">
              <a:buNone/>
            </a:pPr>
            <a:r>
              <a:rPr lang="en-US" sz="4200" i="1" dirty="0">
                <a:solidFill>
                  <a:srgbClr val="22D3A5"/>
                </a:solidFill>
                <a:latin typeface="Georgia" pitchFamily="34" charset="0"/>
                <a:ea typeface="Georgia" pitchFamily="34" charset="-122"/>
                <a:cs typeface="Georgia" pitchFamily="34" charset="-120"/>
              </a:rPr>
              <a:t>months.</a:t>
            </a:r>
            <a:endParaRPr lang="en-US" sz="4200" dirty="0"/>
          </a:p>
        </p:txBody>
      </p:sp>
      <p:sp>
        <p:nvSpPr>
          <p:cNvPr id="5" name="Shape 3"/>
          <p:cNvSpPr/>
          <p:nvPr/>
        </p:nvSpPr>
        <p:spPr>
          <a:xfrm>
            <a:off x="484632" y="3017520"/>
            <a:ext cx="2743200" cy="3017520"/>
          </a:xfrm>
          <a:prstGeom prst="rect">
            <a:avLst/>
          </a:prstGeom>
          <a:solidFill>
            <a:srgbClr val="151B2C"/>
          </a:solidFill>
          <a:ln w="9525">
            <a:solidFill>
              <a:srgbClr val="2D3A54"/>
            </a:solidFill>
            <a:prstDash val="solid"/>
          </a:ln>
        </p:spPr>
      </p:sp>
      <p:sp>
        <p:nvSpPr>
          <p:cNvPr id="6" name="Text 4"/>
          <p:cNvSpPr/>
          <p:nvPr/>
        </p:nvSpPr>
        <p:spPr>
          <a:xfrm>
            <a:off x="758952" y="3246120"/>
            <a:ext cx="2194560" cy="914400"/>
          </a:xfrm>
          <a:prstGeom prst="rect">
            <a:avLst/>
          </a:prstGeom>
          <a:noFill/>
          <a:ln/>
        </p:spPr>
        <p:txBody>
          <a:bodyPr wrap="square" lIns="0" tIns="0" rIns="0" bIns="0" rtlCol="0" anchor="t"/>
          <a:lstStyle/>
          <a:p>
            <a:pPr indent="0" marL="0">
              <a:buNone/>
            </a:pPr>
            <a:r>
              <a:rPr lang="en-US" sz="6000" dirty="0">
                <a:solidFill>
                  <a:srgbClr val="22D3A5"/>
                </a:solidFill>
                <a:latin typeface="Georgia" pitchFamily="34" charset="0"/>
                <a:ea typeface="Georgia" pitchFamily="34" charset="-122"/>
                <a:cs typeface="Georgia" pitchFamily="34" charset="-120"/>
              </a:rPr>
              <a:t>01</a:t>
            </a:r>
            <a:endParaRPr lang="en-US" sz="6000" dirty="0"/>
          </a:p>
        </p:txBody>
      </p:sp>
      <p:sp>
        <p:nvSpPr>
          <p:cNvPr id="7" name="Text 5"/>
          <p:cNvSpPr/>
          <p:nvPr/>
        </p:nvSpPr>
        <p:spPr>
          <a:xfrm>
            <a:off x="758952" y="4251960"/>
            <a:ext cx="219456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MONTHS 1–3</a:t>
            </a:r>
            <a:endParaRPr lang="en-US" sz="900" dirty="0"/>
          </a:p>
        </p:txBody>
      </p:sp>
      <p:sp>
        <p:nvSpPr>
          <p:cNvPr id="8" name="Shape 6"/>
          <p:cNvSpPr/>
          <p:nvPr/>
        </p:nvSpPr>
        <p:spPr>
          <a:xfrm>
            <a:off x="758952" y="4526280"/>
            <a:ext cx="365760" cy="0"/>
          </a:xfrm>
          <a:prstGeom prst="line">
            <a:avLst/>
          </a:prstGeom>
          <a:noFill/>
          <a:ln w="12700">
            <a:solidFill>
              <a:srgbClr val="22D3A5"/>
            </a:solidFill>
            <a:prstDash val="solid"/>
          </a:ln>
        </p:spPr>
      </p:sp>
      <p:sp>
        <p:nvSpPr>
          <p:cNvPr id="9" name="Text 7"/>
          <p:cNvSpPr/>
          <p:nvPr/>
        </p:nvSpPr>
        <p:spPr>
          <a:xfrm>
            <a:off x="758952" y="4617720"/>
            <a:ext cx="2194560" cy="777240"/>
          </a:xfrm>
          <a:prstGeom prst="rect">
            <a:avLst/>
          </a:prstGeom>
          <a:noFill/>
          <a:ln/>
        </p:spPr>
        <p:txBody>
          <a:bodyPr wrap="square" lIns="0" tIns="0" rIns="0" bIns="0" rtlCol="0" anchor="t"/>
          <a:lstStyle/>
          <a:p>
            <a:pPr indent="0" marL="0">
              <a:buNone/>
            </a:pPr>
            <a:r>
              <a:rPr lang="en-US" sz="1800" dirty="0">
                <a:solidFill>
                  <a:srgbClr val="E8ECF5"/>
                </a:solidFill>
                <a:latin typeface="Georgia" pitchFamily="34" charset="0"/>
                <a:ea typeface="Georgia" pitchFamily="34" charset="-122"/>
                <a:cs typeface="Georgia" pitchFamily="34" charset="-120"/>
              </a:rPr>
              <a:t>Directional Model</a:t>
            </a:r>
            <a:endParaRPr lang="en-US" sz="1800" dirty="0"/>
          </a:p>
        </p:txBody>
      </p:sp>
      <p:sp>
        <p:nvSpPr>
          <p:cNvPr id="10" name="Text 8"/>
          <p:cNvSpPr/>
          <p:nvPr/>
        </p:nvSpPr>
        <p:spPr>
          <a:xfrm>
            <a:off x="758952" y="5349240"/>
            <a:ext cx="2194560" cy="640080"/>
          </a:xfrm>
          <a:prstGeom prst="rect">
            <a:avLst/>
          </a:prstGeom>
          <a:noFill/>
          <a:ln/>
        </p:spPr>
        <p:txBody>
          <a:bodyPr wrap="square" lIns="0" tIns="0" rIns="0" bIns="0" rtlCol="0" anchor="t"/>
          <a:lstStyle/>
          <a:p>
            <a:pPr indent="0" marL="0">
              <a:buNone/>
            </a:pPr>
            <a:r>
              <a:rPr lang="en-US" sz="1050" dirty="0">
                <a:solidFill>
                  <a:srgbClr val="8B9AB3"/>
                </a:solidFill>
                <a:latin typeface="Calibri" pitchFamily="34" charset="0"/>
                <a:ea typeface="Calibri" pitchFamily="34" charset="-122"/>
                <a:cs typeface="Calibri" pitchFamily="34" charset="-120"/>
              </a:rPr>
              <a:t>Implement three-component scoring with literature-based weights. Operationalize HFRS or Kim CFI from ICD-10 claims. Build four-tier outreach into existing workflow.</a:t>
            </a:r>
            <a:endParaRPr lang="en-US" sz="1050" dirty="0"/>
          </a:p>
        </p:txBody>
      </p:sp>
      <p:sp>
        <p:nvSpPr>
          <p:cNvPr id="11" name="Shape 9"/>
          <p:cNvSpPr/>
          <p:nvPr/>
        </p:nvSpPr>
        <p:spPr>
          <a:xfrm>
            <a:off x="3246120" y="4526280"/>
            <a:ext cx="45720" cy="0"/>
          </a:xfrm>
          <a:prstGeom prst="line">
            <a:avLst/>
          </a:prstGeom>
          <a:noFill/>
          <a:ln w="12700">
            <a:solidFill>
              <a:srgbClr val="2D3A54"/>
            </a:solidFill>
            <a:prstDash val="solid"/>
          </a:ln>
        </p:spPr>
      </p:sp>
      <p:sp>
        <p:nvSpPr>
          <p:cNvPr id="12" name="Shape 10"/>
          <p:cNvSpPr/>
          <p:nvPr/>
        </p:nvSpPr>
        <p:spPr>
          <a:xfrm>
            <a:off x="3300984" y="3017520"/>
            <a:ext cx="2743200" cy="3017520"/>
          </a:xfrm>
          <a:prstGeom prst="rect">
            <a:avLst/>
          </a:prstGeom>
          <a:solidFill>
            <a:srgbClr val="151B2C"/>
          </a:solidFill>
          <a:ln w="9525">
            <a:solidFill>
              <a:srgbClr val="2D3A54"/>
            </a:solidFill>
            <a:prstDash val="solid"/>
          </a:ln>
        </p:spPr>
      </p:sp>
      <p:sp>
        <p:nvSpPr>
          <p:cNvPr id="13" name="Text 11"/>
          <p:cNvSpPr/>
          <p:nvPr/>
        </p:nvSpPr>
        <p:spPr>
          <a:xfrm>
            <a:off x="3575304" y="3246120"/>
            <a:ext cx="2194560" cy="914400"/>
          </a:xfrm>
          <a:prstGeom prst="rect">
            <a:avLst/>
          </a:prstGeom>
          <a:noFill/>
          <a:ln/>
        </p:spPr>
        <p:txBody>
          <a:bodyPr wrap="square" lIns="0" tIns="0" rIns="0" bIns="0" rtlCol="0" anchor="t"/>
          <a:lstStyle/>
          <a:p>
            <a:pPr indent="0" marL="0">
              <a:buNone/>
            </a:pPr>
            <a:r>
              <a:rPr lang="en-US" sz="6000" dirty="0">
                <a:solidFill>
                  <a:srgbClr val="22D3A5"/>
                </a:solidFill>
                <a:latin typeface="Georgia" pitchFamily="34" charset="0"/>
                <a:ea typeface="Georgia" pitchFamily="34" charset="-122"/>
                <a:cs typeface="Georgia" pitchFamily="34" charset="-120"/>
              </a:rPr>
              <a:t>02</a:t>
            </a:r>
            <a:endParaRPr lang="en-US" sz="6000" dirty="0"/>
          </a:p>
        </p:txBody>
      </p:sp>
      <p:sp>
        <p:nvSpPr>
          <p:cNvPr id="14" name="Text 12"/>
          <p:cNvSpPr/>
          <p:nvPr/>
        </p:nvSpPr>
        <p:spPr>
          <a:xfrm>
            <a:off x="3575304" y="4251960"/>
            <a:ext cx="219456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MONTHS 3–6</a:t>
            </a:r>
            <a:endParaRPr lang="en-US" sz="900" dirty="0"/>
          </a:p>
        </p:txBody>
      </p:sp>
      <p:sp>
        <p:nvSpPr>
          <p:cNvPr id="15" name="Shape 13"/>
          <p:cNvSpPr/>
          <p:nvPr/>
        </p:nvSpPr>
        <p:spPr>
          <a:xfrm>
            <a:off x="3575304" y="4526280"/>
            <a:ext cx="365760" cy="0"/>
          </a:xfrm>
          <a:prstGeom prst="line">
            <a:avLst/>
          </a:prstGeom>
          <a:noFill/>
          <a:ln w="12700">
            <a:solidFill>
              <a:srgbClr val="22D3A5"/>
            </a:solidFill>
            <a:prstDash val="solid"/>
          </a:ln>
        </p:spPr>
      </p:sp>
      <p:sp>
        <p:nvSpPr>
          <p:cNvPr id="16" name="Text 14"/>
          <p:cNvSpPr/>
          <p:nvPr/>
        </p:nvSpPr>
        <p:spPr>
          <a:xfrm>
            <a:off x="3575304" y="4617720"/>
            <a:ext cx="2194560" cy="777240"/>
          </a:xfrm>
          <a:prstGeom prst="rect">
            <a:avLst/>
          </a:prstGeom>
          <a:noFill/>
          <a:ln/>
        </p:spPr>
        <p:txBody>
          <a:bodyPr wrap="square" lIns="0" tIns="0" rIns="0" bIns="0" rtlCol="0" anchor="t"/>
          <a:lstStyle/>
          <a:p>
            <a:pPr indent="0" marL="0">
              <a:buNone/>
            </a:pPr>
            <a:r>
              <a:rPr lang="en-US" sz="1800" dirty="0">
                <a:solidFill>
                  <a:srgbClr val="E8ECF5"/>
                </a:solidFill>
                <a:latin typeface="Georgia" pitchFamily="34" charset="0"/>
                <a:ea typeface="Georgia" pitchFamily="34" charset="-122"/>
                <a:cs typeface="Georgia" pitchFamily="34" charset="-120"/>
              </a:rPr>
              <a:t>Back-Test</a:t>
            </a:r>
            <a:endParaRPr lang="en-US" sz="1800" dirty="0"/>
          </a:p>
        </p:txBody>
      </p:sp>
      <p:sp>
        <p:nvSpPr>
          <p:cNvPr id="17" name="Text 15"/>
          <p:cNvSpPr/>
          <p:nvPr/>
        </p:nvSpPr>
        <p:spPr>
          <a:xfrm>
            <a:off x="3575304" y="5349240"/>
            <a:ext cx="2194560" cy="640080"/>
          </a:xfrm>
          <a:prstGeom prst="rect">
            <a:avLst/>
          </a:prstGeom>
          <a:noFill/>
          <a:ln/>
        </p:spPr>
        <p:txBody>
          <a:bodyPr wrap="square" lIns="0" tIns="0" rIns="0" bIns="0" rtlCol="0" anchor="t"/>
          <a:lstStyle/>
          <a:p>
            <a:pPr indent="0" marL="0">
              <a:buNone/>
            </a:pPr>
            <a:r>
              <a:rPr lang="en-US" sz="1050" dirty="0">
                <a:solidFill>
                  <a:srgbClr val="8B9AB3"/>
                </a:solidFill>
                <a:latin typeface="Calibri" pitchFamily="34" charset="0"/>
                <a:ea typeface="Calibri" pitchFamily="34" charset="-122"/>
                <a:cs typeface="Calibri" pitchFamily="34" charset="-120"/>
              </a:rPr>
              <a:t>Apply retrospectively to 2 prior HEDIS years. Record final denominator and numerator outcomes for each triggered member. Compute confusion matrices per tier.</a:t>
            </a:r>
            <a:endParaRPr lang="en-US" sz="1050" dirty="0"/>
          </a:p>
        </p:txBody>
      </p:sp>
      <p:sp>
        <p:nvSpPr>
          <p:cNvPr id="18" name="Shape 16"/>
          <p:cNvSpPr/>
          <p:nvPr/>
        </p:nvSpPr>
        <p:spPr>
          <a:xfrm>
            <a:off x="6062472" y="4526280"/>
            <a:ext cx="45720" cy="0"/>
          </a:xfrm>
          <a:prstGeom prst="line">
            <a:avLst/>
          </a:prstGeom>
          <a:noFill/>
          <a:ln w="12700">
            <a:solidFill>
              <a:srgbClr val="2D3A54"/>
            </a:solidFill>
            <a:prstDash val="solid"/>
          </a:ln>
        </p:spPr>
      </p:sp>
      <p:sp>
        <p:nvSpPr>
          <p:cNvPr id="19" name="Shape 17"/>
          <p:cNvSpPr/>
          <p:nvPr/>
        </p:nvSpPr>
        <p:spPr>
          <a:xfrm>
            <a:off x="6117336" y="3017520"/>
            <a:ext cx="2743200" cy="3017520"/>
          </a:xfrm>
          <a:prstGeom prst="rect">
            <a:avLst/>
          </a:prstGeom>
          <a:solidFill>
            <a:srgbClr val="151B2C"/>
          </a:solidFill>
          <a:ln w="9525">
            <a:solidFill>
              <a:srgbClr val="2D3A54"/>
            </a:solidFill>
            <a:prstDash val="solid"/>
          </a:ln>
        </p:spPr>
      </p:sp>
      <p:sp>
        <p:nvSpPr>
          <p:cNvPr id="20" name="Text 18"/>
          <p:cNvSpPr/>
          <p:nvPr/>
        </p:nvSpPr>
        <p:spPr>
          <a:xfrm>
            <a:off x="6391656" y="3246120"/>
            <a:ext cx="2194560" cy="914400"/>
          </a:xfrm>
          <a:prstGeom prst="rect">
            <a:avLst/>
          </a:prstGeom>
          <a:noFill/>
          <a:ln/>
        </p:spPr>
        <p:txBody>
          <a:bodyPr wrap="square" lIns="0" tIns="0" rIns="0" bIns="0" rtlCol="0" anchor="t"/>
          <a:lstStyle/>
          <a:p>
            <a:pPr indent="0" marL="0">
              <a:buNone/>
            </a:pPr>
            <a:r>
              <a:rPr lang="en-US" sz="6000" dirty="0">
                <a:solidFill>
                  <a:srgbClr val="22D3A5"/>
                </a:solidFill>
                <a:latin typeface="Georgia" pitchFamily="34" charset="0"/>
                <a:ea typeface="Georgia" pitchFamily="34" charset="-122"/>
                <a:cs typeface="Georgia" pitchFamily="34" charset="-120"/>
              </a:rPr>
              <a:t>03</a:t>
            </a:r>
            <a:endParaRPr lang="en-US" sz="6000" dirty="0"/>
          </a:p>
        </p:txBody>
      </p:sp>
      <p:sp>
        <p:nvSpPr>
          <p:cNvPr id="21" name="Text 19"/>
          <p:cNvSpPr/>
          <p:nvPr/>
        </p:nvSpPr>
        <p:spPr>
          <a:xfrm>
            <a:off x="6391656" y="4251960"/>
            <a:ext cx="219456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MONTHS 6–12</a:t>
            </a:r>
            <a:endParaRPr lang="en-US" sz="900" dirty="0"/>
          </a:p>
        </p:txBody>
      </p:sp>
      <p:sp>
        <p:nvSpPr>
          <p:cNvPr id="22" name="Shape 20"/>
          <p:cNvSpPr/>
          <p:nvPr/>
        </p:nvSpPr>
        <p:spPr>
          <a:xfrm>
            <a:off x="6391656" y="4526280"/>
            <a:ext cx="365760" cy="0"/>
          </a:xfrm>
          <a:prstGeom prst="line">
            <a:avLst/>
          </a:prstGeom>
          <a:noFill/>
          <a:ln w="12700">
            <a:solidFill>
              <a:srgbClr val="22D3A5"/>
            </a:solidFill>
            <a:prstDash val="solid"/>
          </a:ln>
        </p:spPr>
      </p:sp>
      <p:sp>
        <p:nvSpPr>
          <p:cNvPr id="23" name="Text 21"/>
          <p:cNvSpPr/>
          <p:nvPr/>
        </p:nvSpPr>
        <p:spPr>
          <a:xfrm>
            <a:off x="6391656" y="4617720"/>
            <a:ext cx="2194560" cy="777240"/>
          </a:xfrm>
          <a:prstGeom prst="rect">
            <a:avLst/>
          </a:prstGeom>
          <a:noFill/>
          <a:ln/>
        </p:spPr>
        <p:txBody>
          <a:bodyPr wrap="square" lIns="0" tIns="0" rIns="0" bIns="0" rtlCol="0" anchor="t"/>
          <a:lstStyle/>
          <a:p>
            <a:pPr indent="0" marL="0">
              <a:buNone/>
            </a:pPr>
            <a:r>
              <a:rPr lang="en-US" sz="1800" dirty="0">
                <a:solidFill>
                  <a:srgbClr val="E8ECF5"/>
                </a:solidFill>
                <a:latin typeface="Georgia" pitchFamily="34" charset="0"/>
                <a:ea typeface="Georgia" pitchFamily="34" charset="-122"/>
                <a:cs typeface="Georgia" pitchFamily="34" charset="-120"/>
              </a:rPr>
              <a:t>Calibrate</a:t>
            </a:r>
            <a:endParaRPr lang="en-US" sz="1800" dirty="0"/>
          </a:p>
        </p:txBody>
      </p:sp>
      <p:sp>
        <p:nvSpPr>
          <p:cNvPr id="24" name="Text 22"/>
          <p:cNvSpPr/>
          <p:nvPr/>
        </p:nvSpPr>
        <p:spPr>
          <a:xfrm>
            <a:off x="6391656" y="5349240"/>
            <a:ext cx="2194560" cy="640080"/>
          </a:xfrm>
          <a:prstGeom prst="rect">
            <a:avLst/>
          </a:prstGeom>
          <a:noFill/>
          <a:ln/>
        </p:spPr>
        <p:txBody>
          <a:bodyPr wrap="square" lIns="0" tIns="0" rIns="0" bIns="0" rtlCol="0" anchor="t"/>
          <a:lstStyle/>
          <a:p>
            <a:pPr indent="0" marL="0">
              <a:buNone/>
            </a:pPr>
            <a:r>
              <a:rPr lang="en-US" sz="1050" dirty="0">
                <a:solidFill>
                  <a:srgbClr val="8B9AB3"/>
                </a:solidFill>
                <a:latin typeface="Calibri" pitchFamily="34" charset="0"/>
                <a:ea typeface="Calibri" pitchFamily="34" charset="-122"/>
                <a:cs typeface="Calibri" pitchFamily="34" charset="-120"/>
              </a:rPr>
              <a:t>Replace directional point weights with logistic regression coefficients fitted to historical data. Keep three-component architecture for explainability.</a:t>
            </a:r>
            <a:endParaRPr lang="en-US" sz="1050" dirty="0"/>
          </a:p>
        </p:txBody>
      </p:sp>
      <p:sp>
        <p:nvSpPr>
          <p:cNvPr id="25" name="Shape 23"/>
          <p:cNvSpPr/>
          <p:nvPr/>
        </p:nvSpPr>
        <p:spPr>
          <a:xfrm>
            <a:off x="8878824" y="4526280"/>
            <a:ext cx="45720" cy="0"/>
          </a:xfrm>
          <a:prstGeom prst="line">
            <a:avLst/>
          </a:prstGeom>
          <a:noFill/>
          <a:ln w="12700">
            <a:solidFill>
              <a:srgbClr val="2D3A54"/>
            </a:solidFill>
            <a:prstDash val="solid"/>
          </a:ln>
        </p:spPr>
      </p:sp>
      <p:sp>
        <p:nvSpPr>
          <p:cNvPr id="26" name="Shape 24"/>
          <p:cNvSpPr/>
          <p:nvPr/>
        </p:nvSpPr>
        <p:spPr>
          <a:xfrm>
            <a:off x="8933688" y="3017520"/>
            <a:ext cx="2743200" cy="3017520"/>
          </a:xfrm>
          <a:prstGeom prst="rect">
            <a:avLst/>
          </a:prstGeom>
          <a:solidFill>
            <a:srgbClr val="151B2C"/>
          </a:solidFill>
          <a:ln w="9525">
            <a:solidFill>
              <a:srgbClr val="2D3A54"/>
            </a:solidFill>
            <a:prstDash val="solid"/>
          </a:ln>
        </p:spPr>
      </p:sp>
      <p:sp>
        <p:nvSpPr>
          <p:cNvPr id="27" name="Text 25"/>
          <p:cNvSpPr/>
          <p:nvPr/>
        </p:nvSpPr>
        <p:spPr>
          <a:xfrm>
            <a:off x="9208008" y="3246120"/>
            <a:ext cx="2194560" cy="914400"/>
          </a:xfrm>
          <a:prstGeom prst="rect">
            <a:avLst/>
          </a:prstGeom>
          <a:noFill/>
          <a:ln/>
        </p:spPr>
        <p:txBody>
          <a:bodyPr wrap="square" lIns="0" tIns="0" rIns="0" bIns="0" rtlCol="0" anchor="t"/>
          <a:lstStyle/>
          <a:p>
            <a:pPr indent="0" marL="0">
              <a:buNone/>
            </a:pPr>
            <a:r>
              <a:rPr lang="en-US" sz="6000" dirty="0">
                <a:solidFill>
                  <a:srgbClr val="22D3A5"/>
                </a:solidFill>
                <a:latin typeface="Georgia" pitchFamily="34" charset="0"/>
                <a:ea typeface="Georgia" pitchFamily="34" charset="-122"/>
                <a:cs typeface="Georgia" pitchFamily="34" charset="-120"/>
              </a:rPr>
              <a:t>04</a:t>
            </a:r>
            <a:endParaRPr lang="en-US" sz="6000" dirty="0"/>
          </a:p>
        </p:txBody>
      </p:sp>
      <p:sp>
        <p:nvSpPr>
          <p:cNvPr id="28" name="Text 26"/>
          <p:cNvSpPr/>
          <p:nvPr/>
        </p:nvSpPr>
        <p:spPr>
          <a:xfrm>
            <a:off x="9208008" y="4251960"/>
            <a:ext cx="219456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MONTH 12+</a:t>
            </a:r>
            <a:endParaRPr lang="en-US" sz="900" dirty="0"/>
          </a:p>
        </p:txBody>
      </p:sp>
      <p:sp>
        <p:nvSpPr>
          <p:cNvPr id="29" name="Shape 27"/>
          <p:cNvSpPr/>
          <p:nvPr/>
        </p:nvSpPr>
        <p:spPr>
          <a:xfrm>
            <a:off x="9208008" y="4526280"/>
            <a:ext cx="365760" cy="0"/>
          </a:xfrm>
          <a:prstGeom prst="line">
            <a:avLst/>
          </a:prstGeom>
          <a:noFill/>
          <a:ln w="12700">
            <a:solidFill>
              <a:srgbClr val="22D3A5"/>
            </a:solidFill>
            <a:prstDash val="solid"/>
          </a:ln>
        </p:spPr>
      </p:sp>
      <p:sp>
        <p:nvSpPr>
          <p:cNvPr id="30" name="Text 28"/>
          <p:cNvSpPr/>
          <p:nvPr/>
        </p:nvSpPr>
        <p:spPr>
          <a:xfrm>
            <a:off x="9208008" y="4617720"/>
            <a:ext cx="2194560" cy="777240"/>
          </a:xfrm>
          <a:prstGeom prst="rect">
            <a:avLst/>
          </a:prstGeom>
          <a:noFill/>
          <a:ln/>
        </p:spPr>
        <p:txBody>
          <a:bodyPr wrap="square" lIns="0" tIns="0" rIns="0" bIns="0" rtlCol="0" anchor="t"/>
          <a:lstStyle/>
          <a:p>
            <a:pPr indent="0" marL="0">
              <a:buNone/>
            </a:pPr>
            <a:r>
              <a:rPr lang="en-US" sz="1800" dirty="0">
                <a:solidFill>
                  <a:srgbClr val="E8ECF5"/>
                </a:solidFill>
                <a:latin typeface="Georgia" pitchFamily="34" charset="0"/>
                <a:ea typeface="Georgia" pitchFamily="34" charset="-122"/>
                <a:cs typeface="Georgia" pitchFamily="34" charset="-120"/>
              </a:rPr>
              <a:t>Production</a:t>
            </a:r>
            <a:endParaRPr lang="en-US" sz="1800" dirty="0"/>
          </a:p>
        </p:txBody>
      </p:sp>
      <p:sp>
        <p:nvSpPr>
          <p:cNvPr id="31" name="Text 29"/>
          <p:cNvSpPr/>
          <p:nvPr/>
        </p:nvSpPr>
        <p:spPr>
          <a:xfrm>
            <a:off x="9208008" y="5349240"/>
            <a:ext cx="2194560" cy="640080"/>
          </a:xfrm>
          <a:prstGeom prst="rect">
            <a:avLst/>
          </a:prstGeom>
          <a:noFill/>
          <a:ln/>
        </p:spPr>
        <p:txBody>
          <a:bodyPr wrap="square" lIns="0" tIns="0" rIns="0" bIns="0" rtlCol="0" anchor="t"/>
          <a:lstStyle/>
          <a:p>
            <a:pPr indent="0" marL="0">
              <a:buNone/>
            </a:pPr>
            <a:r>
              <a:rPr lang="en-US" sz="1050" dirty="0">
                <a:solidFill>
                  <a:srgbClr val="8B9AB3"/>
                </a:solidFill>
                <a:latin typeface="Calibri" pitchFamily="34" charset="0"/>
                <a:ea typeface="Calibri" pitchFamily="34" charset="-122"/>
                <a:cs typeface="Calibri" pitchFamily="34" charset="-120"/>
              </a:rPr>
              <a:t>Monitor messaging volume, provider response, final OMW rate. Recalibrate annually. Consider gradient-boosted models for each component with SHAP explainability.</a:t>
            </a:r>
            <a:endParaRPr lang="en-US" sz="1050" dirty="0"/>
          </a:p>
        </p:txBody>
      </p:sp>
      <p:sp>
        <p:nvSpPr>
          <p:cNvPr id="32" name="Shape 30"/>
          <p:cNvSpPr/>
          <p:nvPr/>
        </p:nvSpPr>
        <p:spPr>
          <a:xfrm>
            <a:off x="640080" y="6172200"/>
            <a:ext cx="73152" cy="274320"/>
          </a:xfrm>
          <a:prstGeom prst="rect">
            <a:avLst/>
          </a:prstGeom>
          <a:solidFill>
            <a:srgbClr val="22D3A5"/>
          </a:solidFill>
          <a:ln/>
        </p:spPr>
      </p:sp>
      <p:sp>
        <p:nvSpPr>
          <p:cNvPr id="33" name="Text 31"/>
          <p:cNvSpPr/>
          <p:nvPr/>
        </p:nvSpPr>
        <p:spPr>
          <a:xfrm>
            <a:off x="868680" y="6126480"/>
            <a:ext cx="10515600" cy="365760"/>
          </a:xfrm>
          <a:prstGeom prst="rect">
            <a:avLst/>
          </a:prstGeom>
          <a:noFill/>
          <a:ln/>
        </p:spPr>
        <p:txBody>
          <a:bodyPr wrap="square" lIns="0" tIns="0" rIns="0" bIns="0" rtlCol="0" anchor="ctr"/>
          <a:lstStyle/>
          <a:p>
            <a:pPr indent="0" marL="0">
              <a:buNone/>
            </a:pPr>
            <a:r>
              <a:rPr lang="en-US" sz="1300" b="1" i="1" dirty="0">
                <a:solidFill>
                  <a:srgbClr val="22D3A5"/>
                </a:solidFill>
                <a:latin typeface="Georgia" pitchFamily="34" charset="0"/>
                <a:ea typeface="Georgia" pitchFamily="34" charset="-122"/>
                <a:cs typeface="Georgia" pitchFamily="34" charset="-120"/>
              </a:rPr>
              <a:t>Single highest-ROI first move: </a:t>
            </a:r>
            <a:pPr indent="0" marL="0">
              <a:buNone/>
            </a:pPr>
            <a:r>
              <a:rPr lang="en-US" sz="1300" i="1" dirty="0">
                <a:solidFill>
                  <a:srgbClr val="E8ECF5"/>
                </a:solidFill>
                <a:latin typeface="Georgia" pitchFamily="34" charset="0"/>
                <a:ea typeface="Georgia" pitchFamily="34" charset="-122"/>
                <a:cs typeface="Georgia" pitchFamily="34" charset="-120"/>
              </a:rPr>
              <a:t>implement HFRS from your ICD-10 claims and back-test against 2 prior HEDIS years.</a:t>
            </a:r>
            <a:endParaRPr lang="en-US" sz="1300" dirty="0"/>
          </a:p>
        </p:txBody>
      </p:sp>
      <p:sp>
        <p:nvSpPr>
          <p:cNvPr id="34" name="Text 32"/>
          <p:cNvSpPr/>
          <p:nvPr/>
        </p:nvSpPr>
        <p:spPr>
          <a:xfrm>
            <a:off x="457200" y="6492240"/>
            <a:ext cx="3657600" cy="274320"/>
          </a:xfrm>
          <a:prstGeom prst="rect">
            <a:avLst/>
          </a:prstGeom>
          <a:noFill/>
          <a:ln/>
        </p:spPr>
        <p:txBody>
          <a:bodyPr wrap="square" lIns="0" tIns="0" rIns="0" bIns="0" rtlCol="0" anchor="ctr"/>
          <a:lstStyle/>
          <a:p>
            <a:pPr indent="0" marL="0">
              <a:buNone/>
            </a:pPr>
            <a:r>
              <a:rPr lang="en-US" sz="800" spc="300" kern="0" dirty="0">
                <a:solidFill>
                  <a:srgbClr val="5B6AE5"/>
                </a:solidFill>
                <a:latin typeface="Consolas" pitchFamily="34" charset="0"/>
                <a:ea typeface="Consolas" pitchFamily="34" charset="-122"/>
                <a:cs typeface="Consolas" pitchFamily="34" charset="-120"/>
              </a:rPr>
              <a:t>OMW PREDICTIVE TRIAGE</a:t>
            </a:r>
            <a:endParaRPr lang="en-US" sz="800" dirty="0"/>
          </a:p>
        </p:txBody>
      </p:sp>
      <p:sp>
        <p:nvSpPr>
          <p:cNvPr id="35" name="Text 33"/>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800" spc="200" kern="0" dirty="0">
                <a:solidFill>
                  <a:srgbClr val="5B6AE5"/>
                </a:solidFill>
                <a:latin typeface="Consolas" pitchFamily="34" charset="0"/>
                <a:ea typeface="Consolas" pitchFamily="34" charset="-122"/>
                <a:cs typeface="Consolas"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8229600" y="-1828800"/>
            <a:ext cx="7315200" cy="7315200"/>
          </a:xfrm>
          <a:prstGeom prst="ellipse">
            <a:avLst/>
          </a:prstGeom>
          <a:solidFill>
            <a:srgbClr val="22D3A5">
              <a:alpha val="8000"/>
            </a:srgbClr>
          </a:solidFill>
          <a:ln/>
        </p:spPr>
      </p:sp>
      <p:sp>
        <p:nvSpPr>
          <p:cNvPr id="3" name="Text 1"/>
          <p:cNvSpPr/>
          <p:nvPr/>
        </p:nvSpPr>
        <p:spPr>
          <a:xfrm>
            <a:off x="640080" y="914400"/>
            <a:ext cx="9144000" cy="274320"/>
          </a:xfrm>
          <a:prstGeom prst="rect">
            <a:avLst/>
          </a:prstGeom>
          <a:noFill/>
          <a:ln/>
        </p:spPr>
        <p:txBody>
          <a:bodyPr wrap="square" lIns="0" tIns="0" rIns="0" bIns="0" rtlCol="0" anchor="ctr"/>
          <a:lstStyle/>
          <a:p>
            <a:pPr indent="0" marL="0">
              <a:buNone/>
            </a:pPr>
            <a:r>
              <a:rPr lang="en-US" sz="1100" b="1" spc="600" kern="0" dirty="0">
                <a:solidFill>
                  <a:srgbClr val="22D3A5"/>
                </a:solidFill>
                <a:latin typeface="Consolas" pitchFamily="34" charset="0"/>
                <a:ea typeface="Consolas" pitchFamily="34" charset="-122"/>
                <a:cs typeface="Consolas" pitchFamily="34" charset="-120"/>
              </a:rPr>
              <a:t>THE BOTTOM LINE</a:t>
            </a:r>
            <a:endParaRPr lang="en-US" sz="1100" dirty="0"/>
          </a:p>
        </p:txBody>
      </p:sp>
      <p:sp>
        <p:nvSpPr>
          <p:cNvPr id="4" name="Shape 2"/>
          <p:cNvSpPr/>
          <p:nvPr/>
        </p:nvSpPr>
        <p:spPr>
          <a:xfrm>
            <a:off x="640080" y="1261872"/>
            <a:ext cx="457200" cy="0"/>
          </a:xfrm>
          <a:prstGeom prst="line">
            <a:avLst/>
          </a:prstGeom>
          <a:noFill/>
          <a:ln w="19050">
            <a:solidFill>
              <a:srgbClr val="22D3A5"/>
            </a:solidFill>
            <a:prstDash val="solid"/>
          </a:ln>
        </p:spPr>
      </p:sp>
      <p:sp>
        <p:nvSpPr>
          <p:cNvPr id="5" name="Text 3"/>
          <p:cNvSpPr/>
          <p:nvPr/>
        </p:nvSpPr>
        <p:spPr>
          <a:xfrm>
            <a:off x="640080" y="1645920"/>
            <a:ext cx="10972800" cy="2560320"/>
          </a:xfrm>
          <a:prstGeom prst="rect">
            <a:avLst/>
          </a:prstGeom>
          <a:noFill/>
          <a:ln/>
        </p:spPr>
        <p:txBody>
          <a:bodyPr wrap="square" lIns="0" tIns="0" rIns="0" bIns="0" rtlCol="0" anchor="t"/>
          <a:lstStyle/>
          <a:p>
            <a:pPr indent="0" marL="0">
              <a:buNone/>
            </a:pPr>
            <a:r>
              <a:rPr lang="en-US" sz="6000" dirty="0">
                <a:solidFill>
                  <a:srgbClr val="E8ECF5"/>
                </a:solidFill>
                <a:latin typeface="Georgia" pitchFamily="34" charset="0"/>
                <a:ea typeface="Georgia" pitchFamily="34" charset="-122"/>
                <a:cs typeface="Georgia" pitchFamily="34" charset="-120"/>
              </a:rPr>
              <a:t>From </a:t>
            </a:r>
            <a:pPr indent="0" marL="0">
              <a:buNone/>
            </a:pPr>
            <a:r>
              <a:rPr lang="en-US" sz="6000" i="1" dirty="0">
                <a:solidFill>
                  <a:srgbClr val="22D3A5"/>
                </a:solidFill>
                <a:latin typeface="Georgia" pitchFamily="34" charset="0"/>
                <a:ea typeface="Georgia" pitchFamily="34" charset="-122"/>
                <a:cs typeface="Georgia" pitchFamily="34" charset="-120"/>
              </a:rPr>
              <a:t>blast-every-trigger</a:t>
            </a:r>
            <a:endParaRPr lang="en-US" sz="6000" dirty="0"/>
          </a:p>
          <a:p>
            <a:pPr indent="0" marL="0">
              <a:buNone/>
            </a:pPr>
            <a:r>
              <a:rPr lang="en-US" sz="6000" dirty="0">
                <a:solidFill>
                  <a:srgbClr val="E8ECF5"/>
                </a:solidFill>
                <a:latin typeface="Georgia" pitchFamily="34" charset="0"/>
                <a:ea typeface="Georgia" pitchFamily="34" charset="-122"/>
                <a:cs typeface="Georgia" pitchFamily="34" charset="-120"/>
              </a:rPr>
              <a:t>to targeted </a:t>
            </a:r>
            <a:pPr indent="0" marL="0">
              <a:buNone/>
            </a:pPr>
            <a:r>
              <a:rPr lang="en-US" sz="6000" i="1" dirty="0">
                <a:solidFill>
                  <a:srgbClr val="22D3A5"/>
                </a:solidFill>
                <a:latin typeface="Georgia" pitchFamily="34" charset="0"/>
                <a:ea typeface="Georgia" pitchFamily="34" charset="-122"/>
                <a:cs typeface="Georgia" pitchFamily="34" charset="-120"/>
              </a:rPr>
              <a:t>intervention.</a:t>
            </a:r>
            <a:endParaRPr lang="en-US" sz="6000" dirty="0"/>
          </a:p>
        </p:txBody>
      </p:sp>
      <p:sp>
        <p:nvSpPr>
          <p:cNvPr id="6" name="Text 4"/>
          <p:cNvSpPr/>
          <p:nvPr/>
        </p:nvSpPr>
        <p:spPr>
          <a:xfrm>
            <a:off x="640080" y="4572000"/>
            <a:ext cx="8686800" cy="1371600"/>
          </a:xfrm>
          <a:prstGeom prst="rect">
            <a:avLst/>
          </a:prstGeom>
          <a:noFill/>
          <a:ln/>
        </p:spPr>
        <p:txBody>
          <a:bodyPr wrap="square" lIns="0" tIns="0" rIns="0" bIns="0" rtlCol="0" anchor="t"/>
          <a:lstStyle/>
          <a:p>
            <a:pPr indent="0" marL="0">
              <a:buNone/>
            </a:pPr>
            <a:r>
              <a:rPr lang="en-US" sz="1600" dirty="0">
                <a:solidFill>
                  <a:srgbClr val="8B9AB3"/>
                </a:solidFill>
                <a:latin typeface="Calibri" pitchFamily="34" charset="0"/>
                <a:ea typeface="Calibri" pitchFamily="34" charset="-122"/>
                <a:cs typeface="Calibri" pitchFamily="34" charset="-120"/>
              </a:rPr>
              <a:t>The three-component model doesn't eliminate the tradeoff between catching fractures early and avoiding provider abrasion. It assigns the tradeoff intelligently — so high-confidence cases get full intervention, ambiguous cases mature, and low-confidence cases get monitored without noise.</a:t>
            </a:r>
            <a:endParaRPr lang="en-US" sz="1600" dirty="0"/>
          </a:p>
        </p:txBody>
      </p:sp>
      <p:sp>
        <p:nvSpPr>
          <p:cNvPr id="7" name="Text 5"/>
          <p:cNvSpPr/>
          <p:nvPr/>
        </p:nvSpPr>
        <p:spPr>
          <a:xfrm>
            <a:off x="640080" y="6035040"/>
            <a:ext cx="2286000" cy="365760"/>
          </a:xfrm>
          <a:prstGeom prst="rect">
            <a:avLst/>
          </a:prstGeom>
          <a:noFill/>
          <a:ln/>
        </p:spPr>
        <p:txBody>
          <a:bodyPr wrap="square" lIns="0" tIns="0" rIns="0" bIns="0" rtlCol="0" anchor="ctr"/>
          <a:lstStyle/>
          <a:p>
            <a:pPr indent="0" marL="0">
              <a:buNone/>
            </a:pPr>
            <a:r>
              <a:rPr lang="en-US" sz="2200" dirty="0">
                <a:solidFill>
                  <a:srgbClr val="22D3A5"/>
                </a:solidFill>
                <a:latin typeface="Georgia" pitchFamily="34" charset="0"/>
                <a:ea typeface="Georgia" pitchFamily="34" charset="-122"/>
                <a:cs typeface="Georgia" pitchFamily="34" charset="-120"/>
              </a:rPr>
              <a:t>0.82</a:t>
            </a:r>
            <a:endParaRPr lang="en-US" sz="2200" dirty="0"/>
          </a:p>
        </p:txBody>
      </p:sp>
      <p:sp>
        <p:nvSpPr>
          <p:cNvPr id="8" name="Text 6"/>
          <p:cNvSpPr/>
          <p:nvPr/>
        </p:nvSpPr>
        <p:spPr>
          <a:xfrm>
            <a:off x="640080" y="6419088"/>
            <a:ext cx="228600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FCS C-STAT</a:t>
            </a:r>
            <a:endParaRPr lang="en-US" sz="900" dirty="0"/>
          </a:p>
        </p:txBody>
      </p:sp>
      <p:sp>
        <p:nvSpPr>
          <p:cNvPr id="9" name="Text 7"/>
          <p:cNvSpPr/>
          <p:nvPr/>
        </p:nvSpPr>
        <p:spPr>
          <a:xfrm>
            <a:off x="3474720" y="6035040"/>
            <a:ext cx="2286000" cy="365760"/>
          </a:xfrm>
          <a:prstGeom prst="rect">
            <a:avLst/>
          </a:prstGeom>
          <a:noFill/>
          <a:ln/>
        </p:spPr>
        <p:txBody>
          <a:bodyPr wrap="square" lIns="0" tIns="0" rIns="0" bIns="0" rtlCol="0" anchor="ctr"/>
          <a:lstStyle/>
          <a:p>
            <a:pPr indent="0" marL="0">
              <a:buNone/>
            </a:pPr>
            <a:r>
              <a:rPr lang="en-US" sz="2200" dirty="0">
                <a:solidFill>
                  <a:srgbClr val="22D3A5"/>
                </a:solidFill>
                <a:latin typeface="Georgia" pitchFamily="34" charset="0"/>
                <a:ea typeface="Georgia" pitchFamily="34" charset="-122"/>
                <a:cs typeface="Georgia" pitchFamily="34" charset="-120"/>
              </a:rPr>
              <a:t>0.78</a:t>
            </a:r>
            <a:endParaRPr lang="en-US" sz="2200" dirty="0"/>
          </a:p>
        </p:txBody>
      </p:sp>
      <p:sp>
        <p:nvSpPr>
          <p:cNvPr id="10" name="Text 8"/>
          <p:cNvSpPr/>
          <p:nvPr/>
        </p:nvSpPr>
        <p:spPr>
          <a:xfrm>
            <a:off x="3474720" y="6419088"/>
            <a:ext cx="228600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EDRS C-STAT</a:t>
            </a:r>
            <a:endParaRPr lang="en-US" sz="900" dirty="0"/>
          </a:p>
        </p:txBody>
      </p:sp>
      <p:sp>
        <p:nvSpPr>
          <p:cNvPr id="11" name="Text 9"/>
          <p:cNvSpPr/>
          <p:nvPr/>
        </p:nvSpPr>
        <p:spPr>
          <a:xfrm>
            <a:off x="6309360" y="6035040"/>
            <a:ext cx="2286000" cy="365760"/>
          </a:xfrm>
          <a:prstGeom prst="rect">
            <a:avLst/>
          </a:prstGeom>
          <a:noFill/>
          <a:ln/>
        </p:spPr>
        <p:txBody>
          <a:bodyPr wrap="square" lIns="0" tIns="0" rIns="0" bIns="0" rtlCol="0" anchor="ctr"/>
          <a:lstStyle/>
          <a:p>
            <a:pPr indent="0" marL="0">
              <a:buNone/>
            </a:pPr>
            <a:r>
              <a:rPr lang="en-US" sz="2200" dirty="0">
                <a:solidFill>
                  <a:srgbClr val="22D3A5"/>
                </a:solidFill>
                <a:latin typeface="Georgia" pitchFamily="34" charset="0"/>
                <a:ea typeface="Georgia" pitchFamily="34" charset="-122"/>
                <a:cs typeface="Georgia" pitchFamily="34" charset="-120"/>
              </a:rPr>
              <a:t>0.70</a:t>
            </a:r>
            <a:endParaRPr lang="en-US" sz="2200" dirty="0"/>
          </a:p>
        </p:txBody>
      </p:sp>
      <p:sp>
        <p:nvSpPr>
          <p:cNvPr id="12" name="Text 10"/>
          <p:cNvSpPr/>
          <p:nvPr/>
        </p:nvSpPr>
        <p:spPr>
          <a:xfrm>
            <a:off x="6309360" y="6419088"/>
            <a:ext cx="228600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NCRS AUC</a:t>
            </a:r>
            <a:endParaRPr lang="en-US" sz="900" dirty="0"/>
          </a:p>
        </p:txBody>
      </p:sp>
      <p:sp>
        <p:nvSpPr>
          <p:cNvPr id="13" name="Text 11"/>
          <p:cNvSpPr/>
          <p:nvPr/>
        </p:nvSpPr>
        <p:spPr>
          <a:xfrm>
            <a:off x="9144000" y="6035040"/>
            <a:ext cx="2286000" cy="365760"/>
          </a:xfrm>
          <a:prstGeom prst="rect">
            <a:avLst/>
          </a:prstGeom>
          <a:noFill/>
          <a:ln/>
        </p:spPr>
        <p:txBody>
          <a:bodyPr wrap="square" lIns="0" tIns="0" rIns="0" bIns="0" rtlCol="0" anchor="ctr"/>
          <a:lstStyle/>
          <a:p>
            <a:pPr indent="0" marL="0">
              <a:buNone/>
            </a:pPr>
            <a:r>
              <a:rPr lang="en-US" sz="2200" dirty="0">
                <a:solidFill>
                  <a:srgbClr val="22D3A5"/>
                </a:solidFill>
                <a:latin typeface="Georgia" pitchFamily="34" charset="0"/>
                <a:ea typeface="Georgia" pitchFamily="34" charset="-122"/>
                <a:cs typeface="Georgia" pitchFamily="34" charset="-120"/>
              </a:rPr>
              <a:t>30–50%</a:t>
            </a:r>
            <a:endParaRPr lang="en-US" sz="2200" dirty="0"/>
          </a:p>
        </p:txBody>
      </p:sp>
      <p:sp>
        <p:nvSpPr>
          <p:cNvPr id="14" name="Text 12"/>
          <p:cNvSpPr/>
          <p:nvPr/>
        </p:nvSpPr>
        <p:spPr>
          <a:xfrm>
            <a:off x="9144000" y="6419088"/>
            <a:ext cx="2286000" cy="228600"/>
          </a:xfrm>
          <a:prstGeom prst="rect">
            <a:avLst/>
          </a:prstGeom>
          <a:noFill/>
          <a:ln/>
        </p:spPr>
        <p:txBody>
          <a:bodyPr wrap="square" lIns="0" tIns="0" rIns="0" bIns="0" rtlCol="0" anchor="ctr"/>
          <a:lstStyle/>
          <a:p>
            <a:pPr indent="0" marL="0">
              <a:buNone/>
            </a:pPr>
            <a:r>
              <a:rPr lang="en-US" sz="900" spc="300" kern="0" dirty="0">
                <a:solidFill>
                  <a:srgbClr val="5B6AE5"/>
                </a:solidFill>
                <a:latin typeface="Consolas" pitchFamily="34" charset="0"/>
                <a:ea typeface="Consolas" pitchFamily="34" charset="-122"/>
                <a:cs typeface="Consolas" pitchFamily="34" charset="-120"/>
              </a:rPr>
              <a:t>MESSAGE CUT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HEDIS OMW Predictive Triage</dc:title>
  <dc:subject>PptxGenJS Presentation</dc:subject>
  <dc:creator>OMW Analytics</dc:creator>
  <cp:lastModifiedBy>OMW Analytics</cp:lastModifiedBy>
  <cp:revision>1</cp:revision>
  <dcterms:created xsi:type="dcterms:W3CDTF">2026-04-19T21:17:16Z</dcterms:created>
  <dcterms:modified xsi:type="dcterms:W3CDTF">2026-04-19T21:17:16Z</dcterms:modified>
</cp:coreProperties>
</file>